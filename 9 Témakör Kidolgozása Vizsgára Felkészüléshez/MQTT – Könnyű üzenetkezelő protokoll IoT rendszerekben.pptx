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22" y="1213545"/>
            <a:ext cx="571500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18386" y="2267248"/>
            <a:ext cx="470720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MQTT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2218386" y="3033415"/>
            <a:ext cx="470720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3B82F6"/>
                </a:solidFill>
              </a:rPr>
              <a:t>Könnyű üzenetkezelő protokoll IoT rendszerekben</a:t>
            </a:r>
            <a:endParaRPr lang="en-US" sz="1486" dirty="0"/>
          </a:p>
        </p:txBody>
      </p:sp>
      <p:sp>
        <p:nvSpPr>
          <p:cNvPr id="6" name="Text 2"/>
          <p:cNvSpPr/>
          <p:nvPr/>
        </p:nvSpPr>
        <p:spPr>
          <a:xfrm>
            <a:off x="2218386" y="3735288"/>
            <a:ext cx="4707201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5" kern="0" dirty="0">
                <a:solidFill>
                  <a:srgbClr val="64748B"/>
                </a:solidFill>
              </a:rPr>
              <a:t>Vizsgafelkészítő // Témakör 06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41051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 az az MQTT?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02</a:t>
            </a:r>
            <a:endParaRPr lang="en-US" sz="1269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230511"/>
            <a:ext cx="39433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B82F6"/>
                </a:solidFill>
              </a:rPr>
              <a:t>Könnyűsúlyú Protokoll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85838" y="1535906"/>
            <a:ext cx="39433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Minimális hálózati sávszélességet és erőforrást igényel, ideális mikrokontrollerekhez.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81690"/>
            <a:ext cx="225028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0841" y="2145971"/>
            <a:ext cx="39183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B82F6"/>
                </a:solidFill>
              </a:rPr>
              <a:t>Pub/Sub Modell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1010841" y="2451367"/>
            <a:ext cx="39183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üzenetküldő és a fogadó fél nincs közvetlen kapcsolatban, egy közvetítő (Broker) kezeli az adatokat.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97150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5844" y="3061432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B82F6"/>
                </a:solidFill>
              </a:rPr>
              <a:t>Megbízhatatlan Hálózatok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035844" y="3366827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Kifejezetten olyan környezetekre tervezték, ahol a kapcsolat szakadozhat vagy lassú.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06B6D4">
              <a:alpha val="5000"/>
            </a:srgbClr>
          </a:solidFill>
          <a:ln w="9144">
            <a:solidFill>
              <a:srgbClr val="06B6D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005608"/>
            <a:ext cx="714375" cy="571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89244" y="2719983"/>
            <a:ext cx="9661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</a:rPr>
              <a:t>MQTT PACKET</a:t>
            </a:r>
            <a:endParaRPr lang="en-US" sz="727" dirty="0"/>
          </a:p>
        </p:txBody>
      </p:sp>
      <p:sp>
        <p:nvSpPr>
          <p:cNvPr id="19" name="Text 12"/>
          <p:cNvSpPr/>
          <p:nvPr/>
        </p:nvSpPr>
        <p:spPr>
          <a:xfrm>
            <a:off x="6589244" y="2927152"/>
            <a:ext cx="96613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6B6D4"/>
                </a:solidFill>
              </a:rPr>
              <a:t>2 BYTES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6589244" y="3196828"/>
            <a:ext cx="9661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MINIMUM HEADER SIZE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38537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Publish/Subscribe Modell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03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670745"/>
            <a:ext cx="2000250" cy="1199759"/>
          </a:xfrm>
          <a:prstGeom prst="rect">
            <a:avLst/>
          </a:prstGeom>
          <a:solidFill>
            <a:srgbClr val="000000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5813" y="207615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Publisher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785813" y="2361902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Érzékelő, amely adatot küld egy témára (Topic).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2643188" y="2263480"/>
            <a:ext cx="928688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2719815" y="2013449"/>
            <a:ext cx="775432" cy="158948"/>
          </a:xfrm>
          <a:prstGeom prst="rect">
            <a:avLst/>
          </a:prstGeom>
          <a:solidFill>
            <a:srgbClr val="000000"/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19815" y="2013449"/>
            <a:ext cx="775432" cy="158948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PUBLISH (Data)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3496419" y="2192043"/>
            <a:ext cx="1111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6B6D4"/>
                </a:solidFill>
              </a:rPr>
              <a:t>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3571875" y="1516261"/>
            <a:ext cx="2000250" cy="1508727"/>
          </a:xfrm>
          <a:prstGeom prst="rect">
            <a:avLst/>
          </a:prstGeom>
          <a:solidFill>
            <a:srgbClr val="000000"/>
          </a:solidFill>
          <a:ln w="18288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744861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14750" y="223063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MQTT Broker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3714750" y="2516386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Központi elosztó, amely szűri és továbbítja az üzeneteket.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5572125" y="2263480"/>
            <a:ext cx="928688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5"/>
          <p:cNvSpPr/>
          <p:nvPr/>
        </p:nvSpPr>
        <p:spPr>
          <a:xfrm>
            <a:off x="5590040" y="2013449"/>
            <a:ext cx="892857" cy="158948"/>
          </a:xfrm>
          <a:prstGeom prst="rect">
            <a:avLst/>
          </a:prstGeom>
          <a:solidFill>
            <a:srgbClr val="000000"/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90040" y="2013449"/>
            <a:ext cx="892857" cy="158948"/>
          </a:xfrm>
          <a:prstGeom prst="rect">
            <a:avLst/>
          </a:prstGeom>
          <a:noFill/>
          <a:ln/>
        </p:spPr>
        <p:txBody>
          <a:bodyPr wrap="square" lIns="85090" tIns="17018" rIns="85090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SUBSCRIBE (Topic)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6425357" y="2192043"/>
            <a:ext cx="111147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6B6D4"/>
                </a:solidFill>
              </a:rPr>
              <a:t></a:t>
            </a:r>
            <a:endParaRPr lang="en-US" sz="987" dirty="0"/>
          </a:p>
        </p:txBody>
      </p:sp>
      <p:sp>
        <p:nvSpPr>
          <p:cNvPr id="22" name="Shape 18"/>
          <p:cNvSpPr/>
          <p:nvPr/>
        </p:nvSpPr>
        <p:spPr>
          <a:xfrm>
            <a:off x="6500813" y="1516261"/>
            <a:ext cx="2000250" cy="1508727"/>
          </a:xfrm>
          <a:prstGeom prst="rect">
            <a:avLst/>
          </a:prstGeom>
          <a:solidFill>
            <a:srgbClr val="000000"/>
          </a:solidFill>
          <a:ln w="18288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056" y="1730573"/>
            <a:ext cx="385763" cy="3429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43688" y="221634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Subscriber</a:t>
            </a:r>
            <a:endParaRPr lang="en-US" sz="1090" dirty="0"/>
          </a:p>
        </p:txBody>
      </p:sp>
      <p:sp>
        <p:nvSpPr>
          <p:cNvPr id="25" name="Text 20"/>
          <p:cNvSpPr/>
          <p:nvPr/>
        </p:nvSpPr>
        <p:spPr>
          <a:xfrm>
            <a:off x="6643688" y="2502098"/>
            <a:ext cx="17145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Kliens, amely feliratkozik és fogadja az adatokat.</a:t>
            </a:r>
            <a:endParaRPr lang="en-US" sz="727" dirty="0"/>
          </a:p>
        </p:txBody>
      </p:sp>
      <p:sp>
        <p:nvSpPr>
          <p:cNvPr id="26" name="Text 21"/>
          <p:cNvSpPr/>
          <p:nvPr/>
        </p:nvSpPr>
        <p:spPr>
          <a:xfrm>
            <a:off x="642938" y="3567912"/>
            <a:ext cx="7858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B6D4"/>
                </a:solidFill>
              </a:rPr>
              <a:t>szétválasztás (decoupling)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 lényege, hogy a küldőnek nem kell ismernie a fogadót, és fordítva. Ez teszi a rendszert rendkívül 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rugalmassá és skálázhatóvá.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29357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Topic Struktúra és Wildcardok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04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3499321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7288" y="1444823"/>
            <a:ext cx="177262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Hierarchikus Felépítés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857250" y="1935956"/>
            <a:ext cx="3350419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otthon/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857250" y="2167403"/>
            <a:ext cx="3350419" cy="23144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nappali/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857250" y="2398849"/>
            <a:ext cx="3350419" cy="23144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homerseklet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857250" y="2630295"/>
            <a:ext cx="3350419" cy="23144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fenyero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857250" y="2861742"/>
            <a:ext cx="3350419" cy="23144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konyha/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857250" y="3093188"/>
            <a:ext cx="3350419" cy="23144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homerseklet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857250" y="3324634"/>
            <a:ext cx="3350419" cy="231446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dugalj/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857250" y="3556081"/>
            <a:ext cx="3350419" cy="231446"/>
          </a:xfrm>
          <a:prstGeom prst="rect">
            <a:avLst/>
          </a:prstGeom>
          <a:noFill/>
          <a:ln/>
        </p:spPr>
        <p:txBody>
          <a:bodyPr wrap="none" lIns="510286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B82F6"/>
                </a:solidFill>
              </a:rPr>
              <a:t>allapot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857250" y="4001839"/>
            <a:ext cx="33504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* A témák kis- és nagybetű érzékenyek, és a "/" karakterrel tagolódnak.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4707731" y="1230511"/>
            <a:ext cx="3793331" cy="3499321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7794" y="1444823"/>
            <a:ext cx="18808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Helyettesítő Karakterek</a:t>
            </a:r>
            <a:endParaRPr lang="en-US" sz="1269" dirty="0"/>
          </a:p>
        </p:txBody>
      </p:sp>
      <p:sp>
        <p:nvSpPr>
          <p:cNvPr id="22" name="Shape 17"/>
          <p:cNvSpPr/>
          <p:nvPr/>
        </p:nvSpPr>
        <p:spPr>
          <a:xfrm>
            <a:off x="4929188" y="1935956"/>
            <a:ext cx="3357563" cy="1139763"/>
          </a:xfrm>
          <a:prstGeom prst="rect">
            <a:avLst/>
          </a:prstGeom>
          <a:solidFill>
            <a:srgbClr val="000000"/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36344" y="2043113"/>
            <a:ext cx="3143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6B6D4"/>
                </a:solidFill>
              </a:rPr>
              <a:t>+</a:t>
            </a:r>
            <a:endParaRPr lang="en-US" sz="1602" dirty="0"/>
          </a:p>
        </p:txBody>
      </p:sp>
      <p:sp>
        <p:nvSpPr>
          <p:cNvPr id="24" name="Text 19"/>
          <p:cNvSpPr/>
          <p:nvPr/>
        </p:nvSpPr>
        <p:spPr>
          <a:xfrm>
            <a:off x="5036344" y="2427089"/>
            <a:ext cx="3143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Single-level: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 Pontosan egy szintet helyettesít a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hierarchiában.</a:t>
            </a:r>
            <a:endParaRPr lang="en-US" sz="784" dirty="0"/>
          </a:p>
        </p:txBody>
      </p:sp>
      <p:sp>
        <p:nvSpPr>
          <p:cNvPr id="25" name="Text 20"/>
          <p:cNvSpPr/>
          <p:nvPr/>
        </p:nvSpPr>
        <p:spPr>
          <a:xfrm>
            <a:off x="5036344" y="2818544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otthon/+/homerseklet</a:t>
            </a:r>
            <a:endParaRPr lang="en-US" sz="727" dirty="0"/>
          </a:p>
        </p:txBody>
      </p:sp>
      <p:sp>
        <p:nvSpPr>
          <p:cNvPr id="26" name="Shape 21"/>
          <p:cNvSpPr/>
          <p:nvPr/>
        </p:nvSpPr>
        <p:spPr>
          <a:xfrm>
            <a:off x="4929188" y="3204307"/>
            <a:ext cx="3357563" cy="1139763"/>
          </a:xfrm>
          <a:prstGeom prst="rect">
            <a:avLst/>
          </a:prstGeom>
          <a:solidFill>
            <a:srgbClr val="000000"/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36344" y="3311463"/>
            <a:ext cx="3143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6B6D4"/>
                </a:solidFill>
              </a:rPr>
              <a:t>#</a:t>
            </a:r>
            <a:endParaRPr lang="en-US" sz="1602" dirty="0"/>
          </a:p>
        </p:txBody>
      </p:sp>
      <p:sp>
        <p:nvSpPr>
          <p:cNvPr id="28" name="Text 23"/>
          <p:cNvSpPr/>
          <p:nvPr/>
        </p:nvSpPr>
        <p:spPr>
          <a:xfrm>
            <a:off x="5036344" y="3695440"/>
            <a:ext cx="3143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Multi-level: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 Minden további szintet helyettesít. Csak a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téma végén állhat.</a:t>
            </a:r>
            <a:endParaRPr lang="en-US" sz="784" dirty="0"/>
          </a:p>
        </p:txBody>
      </p:sp>
      <p:sp>
        <p:nvSpPr>
          <p:cNvPr id="29" name="Text 24"/>
          <p:cNvSpPr/>
          <p:nvPr/>
        </p:nvSpPr>
        <p:spPr>
          <a:xfrm>
            <a:off x="5036344" y="4086895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otthon/nappali/#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00312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Quality of Service (QoS)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05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301948"/>
            <a:ext cx="2500313" cy="29896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301948"/>
            <a:ext cx="2486025" cy="285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1790263" y="1516261"/>
            <a:ext cx="19614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06B6D4"/>
                </a:solidFill>
              </a:rPr>
              <a:t>0</a:t>
            </a:r>
            <a:endParaRPr lang="en-US" sz="2592" dirty="0"/>
          </a:p>
        </p:txBody>
      </p:sp>
      <p:sp>
        <p:nvSpPr>
          <p:cNvPr id="10" name="Text 7"/>
          <p:cNvSpPr/>
          <p:nvPr/>
        </p:nvSpPr>
        <p:spPr>
          <a:xfrm>
            <a:off x="1282275" y="2089547"/>
            <a:ext cx="12121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spc="1" kern="0" dirty="0">
                <a:solidFill>
                  <a:srgbClr val="FFFFFF"/>
                </a:solidFill>
              </a:rPr>
              <a:t>At most once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785813" y="2446734"/>
            <a:ext cx="22050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"Tűz és felejt" (Fire and forget). Az üzenet egyszer kerül elküldésre, nincs nyugtázás. Legkisebb terhelés, de elveszhet az adat.</a:t>
            </a:r>
            <a:endParaRPr lang="en-US" sz="83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47" y="3496866"/>
            <a:ext cx="285750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47264" y="3889772"/>
            <a:ext cx="682144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BEST EFFORT</a:t>
            </a:r>
            <a:endParaRPr lang="en-US" sz="621" dirty="0"/>
          </a:p>
        </p:txBody>
      </p:sp>
      <p:sp>
        <p:nvSpPr>
          <p:cNvPr id="14" name="Shape 10"/>
          <p:cNvSpPr/>
          <p:nvPr/>
        </p:nvSpPr>
        <p:spPr>
          <a:xfrm>
            <a:off x="3312328" y="1301948"/>
            <a:ext cx="2505084" cy="29896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17072" y="1301948"/>
            <a:ext cx="2486025" cy="285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2"/>
          <p:cNvSpPr/>
          <p:nvPr/>
        </p:nvSpPr>
        <p:spPr>
          <a:xfrm>
            <a:off x="4466769" y="1516261"/>
            <a:ext cx="19614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06B6D4"/>
                </a:solidFill>
              </a:rPr>
              <a:t>1</a:t>
            </a:r>
            <a:endParaRPr lang="en-US" sz="2592" dirty="0"/>
          </a:p>
        </p:txBody>
      </p:sp>
      <p:sp>
        <p:nvSpPr>
          <p:cNvPr id="17" name="Text 13"/>
          <p:cNvSpPr/>
          <p:nvPr/>
        </p:nvSpPr>
        <p:spPr>
          <a:xfrm>
            <a:off x="3952754" y="2089547"/>
            <a:ext cx="12241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spc="1" kern="0" dirty="0">
                <a:solidFill>
                  <a:srgbClr val="FFFFFF"/>
                </a:solidFill>
              </a:rPr>
              <a:t>At least once</a:t>
            </a:r>
            <a:endParaRPr lang="en-US" sz="1159" dirty="0"/>
          </a:p>
        </p:txBody>
      </p:sp>
      <p:sp>
        <p:nvSpPr>
          <p:cNvPr id="18" name="Text 14"/>
          <p:cNvSpPr/>
          <p:nvPr/>
        </p:nvSpPr>
        <p:spPr>
          <a:xfrm>
            <a:off x="3459947" y="2446734"/>
            <a:ext cx="22097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Legalább egyszeri kézbesítés. A küldő addig ismétel, amíg nyugtát (PUBACK) nem kap. Garantált megérkezés, de duplikáció előfordulhat.</a:t>
            </a:r>
            <a:endParaRPr lang="en-US" sz="834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53" y="3496866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07334" y="3889772"/>
            <a:ext cx="714989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GUARANTEED</a:t>
            </a:r>
            <a:endParaRPr lang="en-US" sz="621" dirty="0"/>
          </a:p>
        </p:txBody>
      </p:sp>
      <p:sp>
        <p:nvSpPr>
          <p:cNvPr id="21" name="Shape 16"/>
          <p:cNvSpPr/>
          <p:nvPr/>
        </p:nvSpPr>
        <p:spPr>
          <a:xfrm>
            <a:off x="5991206" y="1301948"/>
            <a:ext cx="2509828" cy="29896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00750" y="1301948"/>
            <a:ext cx="2486025" cy="285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18"/>
          <p:cNvSpPr/>
          <p:nvPr/>
        </p:nvSpPr>
        <p:spPr>
          <a:xfrm>
            <a:off x="7152819" y="1516261"/>
            <a:ext cx="19614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92" dirty="0">
                <a:solidFill>
                  <a:srgbClr val="06B6D4"/>
                </a:solidFill>
              </a:rPr>
              <a:t>2</a:t>
            </a:r>
            <a:endParaRPr lang="en-US" sz="2592" dirty="0"/>
          </a:p>
        </p:txBody>
      </p:sp>
      <p:sp>
        <p:nvSpPr>
          <p:cNvPr id="24" name="Text 19"/>
          <p:cNvSpPr/>
          <p:nvPr/>
        </p:nvSpPr>
        <p:spPr>
          <a:xfrm>
            <a:off x="6658115" y="2089547"/>
            <a:ext cx="11855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spc="1" kern="0" dirty="0">
                <a:solidFill>
                  <a:srgbClr val="FFFFFF"/>
                </a:solidFill>
              </a:rPr>
              <a:t>Exactly once</a:t>
            </a:r>
            <a:endParaRPr lang="en-US" sz="1159" dirty="0"/>
          </a:p>
        </p:txBody>
      </p:sp>
      <p:sp>
        <p:nvSpPr>
          <p:cNvPr id="25" name="Text 20"/>
          <p:cNvSpPr/>
          <p:nvPr/>
        </p:nvSpPr>
        <p:spPr>
          <a:xfrm>
            <a:off x="6143625" y="2446734"/>
            <a:ext cx="22145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Pontosan egyszeri kézbesítés. Négylépcsős kézfogás biztosítja, hogy az üzenet se ne vesszen el, se ne duplikálódjon. Legnagyobb biztonság, de lassabb.</a:t>
            </a:r>
            <a:endParaRPr lang="en-US" sz="834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031" y="3482578"/>
            <a:ext cx="285750" cy="2857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50143" y="3875484"/>
            <a:ext cx="601498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PRECISION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48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9143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Az MQTT Broker szerepe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06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527618"/>
            <a:ext cx="2857500" cy="2857500"/>
          </a:xfrm>
          <a:prstGeom prst="rect">
            <a:avLst/>
          </a:prstGeom>
          <a:solidFill>
            <a:srgbClr val="06B6D4">
              <a:alpha val="5000"/>
            </a:srgbClr>
          </a:solidFill>
          <a:ln w="18288">
            <a:solidFill>
              <a:srgbClr val="06B6D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2245565"/>
            <a:ext cx="857250" cy="857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1598" y="3245690"/>
            <a:ext cx="13401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FFFFFF"/>
                </a:solidFill>
              </a:rPr>
              <a:t>MQTT BROKER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1785742" y="3551086"/>
            <a:ext cx="571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CENTRAL HUB</a:t>
            </a:r>
            <a:endParaRPr lang="en-US" sz="621" dirty="0"/>
          </a:p>
        </p:txBody>
      </p:sp>
      <p:sp>
        <p:nvSpPr>
          <p:cNvPr id="11" name="Shape 7"/>
          <p:cNvSpPr/>
          <p:nvPr/>
        </p:nvSpPr>
        <p:spPr>
          <a:xfrm>
            <a:off x="3786188" y="1230511"/>
            <a:ext cx="4714875" cy="79078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86188" y="1230511"/>
            <a:ext cx="28575" cy="7764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534" y="1533925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52330" y="1373386"/>
            <a:ext cx="40058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Üzenetszűrés és Útválasztás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4352330" y="1584127"/>
            <a:ext cx="400585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beérkező üzenetek továbbítása a megfelelő feliratkozóknak a Topic struktúra alapján.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3786188" y="2149878"/>
            <a:ext cx="4714875" cy="79078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786188" y="2149878"/>
            <a:ext cx="28575" cy="7764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470" y="2453292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55064" y="2292753"/>
            <a:ext cx="40031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Hitelesítés és Jogosultság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355064" y="2503494"/>
            <a:ext cx="400312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Kliensek azonosítása és annak ellenőrzése, hogy ki melyik témához férhet hozzá (ACL).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3786188" y="3069245"/>
            <a:ext cx="4714875" cy="650779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86188" y="3069245"/>
            <a:ext cx="28575" cy="636491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781" y="3302645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357688" y="3212120"/>
            <a:ext cx="38767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Kapcsolatkezelés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4357688" y="3422861"/>
            <a:ext cx="387679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Kliensek online állapotának figyelése, "Keep Alive" üzenetek és "Last Will" kezelése.</a:t>
            </a:r>
            <a:endParaRPr lang="en-US" sz="727" dirty="0"/>
          </a:p>
        </p:txBody>
      </p:sp>
      <p:sp>
        <p:nvSpPr>
          <p:cNvPr id="26" name="Shape 19"/>
          <p:cNvSpPr/>
          <p:nvPr/>
        </p:nvSpPr>
        <p:spPr>
          <a:xfrm>
            <a:off x="3786188" y="3848612"/>
            <a:ext cx="4714875" cy="79078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786188" y="3848612"/>
            <a:ext cx="28575" cy="7764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7357" y="4152026"/>
            <a:ext cx="150019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338572" y="3991487"/>
            <a:ext cx="4019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Üzenetmegőrzés</a:t>
            </a:r>
            <a:endParaRPr lang="en-US" sz="885" dirty="0"/>
          </a:p>
        </p:txBody>
      </p:sp>
      <p:sp>
        <p:nvSpPr>
          <p:cNvPr id="30" name="Text 22"/>
          <p:cNvSpPr/>
          <p:nvPr/>
        </p:nvSpPr>
        <p:spPr>
          <a:xfrm>
            <a:off x="4338572" y="4202227"/>
            <a:ext cx="401961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Retained üzenetek tárolása és a QoS szinteknek megfelelő kézbesítési garanciák biztosítása.</a:t>
            </a:r>
            <a:endParaRPr lang="en-US" sz="727" dirty="0"/>
          </a:p>
        </p:txBody>
      </p:sp>
      <p:sp>
        <p:nvSpPr>
          <p:cNvPr id="31" name="Shape 23"/>
          <p:cNvSpPr/>
          <p:nvPr/>
        </p:nvSpPr>
        <p:spPr>
          <a:xfrm>
            <a:off x="642938" y="4839416"/>
            <a:ext cx="7858125" cy="383977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6B6D4"/>
            </a:solidFill>
            <a:prstDash val="dash"/>
          </a:ln>
        </p:spPr>
      </p:sp>
      <p:sp>
        <p:nvSpPr>
          <p:cNvPr id="32" name="Text 24"/>
          <p:cNvSpPr/>
          <p:nvPr/>
        </p:nvSpPr>
        <p:spPr>
          <a:xfrm>
            <a:off x="642938" y="4839416"/>
            <a:ext cx="7858125" cy="3839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6B6D4"/>
                </a:solidFill>
              </a:rPr>
              <a:t>Népszerű megoldások: Eclipse Mosquitto, EMQX, HiveMQ, VerneMQ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95212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Payload és Retained Messages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07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737842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2994" y="1444823"/>
            <a:ext cx="11598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MQTT Payload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857250" y="1935956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Az MQTT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B6D4"/>
                </a:solidFill>
              </a:rPr>
              <a:t>adat-agnosztikus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, bármilyen bináris adatot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továbbíthat. A leggyakoribb formátum a JSON.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857250" y="2386013"/>
            <a:ext cx="3350419" cy="1076920"/>
          </a:xfrm>
          <a:prstGeom prst="rect">
            <a:avLst/>
          </a:prstGeom>
          <a:solidFill>
            <a:srgbClr val="0A0A0A"/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7250" y="2386013"/>
            <a:ext cx="3350419" cy="107692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{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 "temp": 22.5,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 "hum": 45.2,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 "status": "OK"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 }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857250" y="3555802"/>
            <a:ext cx="33504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94A3B8"/>
                </a:solidFill>
              </a:rPr>
              <a:t>* Maximális méret: 256 MB (bár IoT-ben jellemzően pár bájt).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4707731" y="1230511"/>
            <a:ext cx="3793331" cy="2737842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7794" y="1444823"/>
            <a:ext cx="155524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Retained Messages</a:t>
            </a:r>
            <a:endParaRPr lang="en-US" sz="1269" dirty="0"/>
          </a:p>
        </p:txBody>
      </p:sp>
      <p:sp>
        <p:nvSpPr>
          <p:cNvPr id="17" name="Text 12"/>
          <p:cNvSpPr/>
          <p:nvPr/>
        </p:nvSpPr>
        <p:spPr>
          <a:xfrm>
            <a:off x="4929188" y="1935956"/>
            <a:ext cx="3357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Broker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B6D4"/>
                </a:solidFill>
              </a:rPr>
              <a:t>eltárolja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 az utolsó üzenetet egy adott témán.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4929188" y="2250281"/>
            <a:ext cx="3357563" cy="1039416"/>
          </a:xfrm>
          <a:prstGeom prst="rect">
            <a:avLst/>
          </a:prstGeom>
          <a:solidFill>
            <a:srgbClr val="06B6D4">
              <a:alpha val="5000"/>
            </a:srgbClr>
          </a:solidFill>
          <a:ln w="9144">
            <a:solidFill>
              <a:srgbClr val="06B6D4"/>
            </a:solidFill>
            <a:prstDash val="dash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234" y="2393156"/>
            <a:ext cx="321469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2063" y="2786063"/>
            <a:ext cx="30718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Broker Memória</a:t>
            </a:r>
            <a:endParaRPr lang="en-US" sz="885" dirty="0"/>
          </a:p>
        </p:txBody>
      </p:sp>
      <p:sp>
        <p:nvSpPr>
          <p:cNvPr id="21" name="Text 15"/>
          <p:cNvSpPr/>
          <p:nvPr/>
        </p:nvSpPr>
        <p:spPr>
          <a:xfrm>
            <a:off x="5072063" y="2996803"/>
            <a:ext cx="30718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6B6D4"/>
                </a:solidFill>
              </a:rPr>
              <a:t>LAST_KNOWN_STATE</a:t>
            </a:r>
            <a:endParaRPr lang="en-US" sz="727" dirty="0"/>
          </a:p>
        </p:txBody>
      </p:sp>
      <p:sp>
        <p:nvSpPr>
          <p:cNvPr id="22" name="Text 16"/>
          <p:cNvSpPr/>
          <p:nvPr/>
        </p:nvSpPr>
        <p:spPr>
          <a:xfrm>
            <a:off x="4929188" y="3382566"/>
            <a:ext cx="3357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Amikor egy új kliens feliratkozik,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6B6D4"/>
                </a:solidFill>
              </a:rPr>
              <a:t>azonnal megkapja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 az utolsó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állapotot, nem kell várnia a következő frissítésre.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267033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MQTT Biztonság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08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2476481" cy="2259211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2938" y="1230511"/>
            <a:ext cx="2462166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66" y="1444823"/>
            <a:ext cx="428625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3755" y="1966317"/>
            <a:ext cx="9148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Hitelesítés</a:t>
            </a:r>
            <a:endParaRPr lang="en-US" sz="1159" dirty="0"/>
          </a:p>
        </p:txBody>
      </p:sp>
      <p:sp>
        <p:nvSpPr>
          <p:cNvPr id="11" name="Text 7"/>
          <p:cNvSpPr/>
          <p:nvPr/>
        </p:nvSpPr>
        <p:spPr>
          <a:xfrm>
            <a:off x="857250" y="2287786"/>
            <a:ext cx="204785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Kliens azonosítás felhasználónévvel és jelszóval, vagy biztonságosabb kliens-oldali tanúsítványokkal (X.509).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1363368" y="2912864"/>
            <a:ext cx="1035593" cy="187523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63368" y="2912864"/>
            <a:ext cx="1035593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AUTH_REQUIRED: YES</a:t>
            </a:r>
            <a:endParaRPr lang="en-US" sz="621" dirty="0"/>
          </a:p>
        </p:txBody>
      </p:sp>
      <p:sp>
        <p:nvSpPr>
          <p:cNvPr id="14" name="Shape 10"/>
          <p:cNvSpPr/>
          <p:nvPr/>
        </p:nvSpPr>
        <p:spPr>
          <a:xfrm>
            <a:off x="3333731" y="1230511"/>
            <a:ext cx="2476509" cy="2259211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33731" y="1230511"/>
            <a:ext cx="2462222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22" y="1444823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48175" y="1966317"/>
            <a:ext cx="8475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Titkosítás</a:t>
            </a:r>
            <a:endParaRPr lang="en-US" sz="1159" dirty="0"/>
          </a:p>
        </p:txBody>
      </p:sp>
      <p:sp>
        <p:nvSpPr>
          <p:cNvPr id="18" name="Text 13"/>
          <p:cNvSpPr/>
          <p:nvPr/>
        </p:nvSpPr>
        <p:spPr>
          <a:xfrm>
            <a:off x="3548044" y="2287786"/>
            <a:ext cx="204788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TLS/SSL használata az adatátvitel során, megakadályozva az üzenetek lehallgatását (Man-in-the-Middle támadás).</a:t>
            </a:r>
            <a:endParaRPr lang="en-US" sz="780" dirty="0"/>
          </a:p>
        </p:txBody>
      </p:sp>
      <p:sp>
        <p:nvSpPr>
          <p:cNvPr id="19" name="Shape 14"/>
          <p:cNvSpPr/>
          <p:nvPr/>
        </p:nvSpPr>
        <p:spPr>
          <a:xfrm>
            <a:off x="4082821" y="3073598"/>
            <a:ext cx="978331" cy="187523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082821" y="3073598"/>
            <a:ext cx="978331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PORT: 8883 (MQTTS)</a:t>
            </a:r>
            <a:endParaRPr lang="en-US" sz="621" dirty="0"/>
          </a:p>
        </p:txBody>
      </p:sp>
      <p:sp>
        <p:nvSpPr>
          <p:cNvPr id="21" name="Shape 16"/>
          <p:cNvSpPr/>
          <p:nvPr/>
        </p:nvSpPr>
        <p:spPr>
          <a:xfrm>
            <a:off x="6024553" y="1230511"/>
            <a:ext cx="2476481" cy="2230636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24553" y="1230511"/>
            <a:ext cx="2462166" cy="28575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44" y="1444823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98633" y="1966317"/>
            <a:ext cx="11282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FFFFFF"/>
                </a:solidFill>
              </a:rPr>
              <a:t>Engedélyezés</a:t>
            </a:r>
            <a:endParaRPr lang="en-US" sz="1159" dirty="0"/>
          </a:p>
        </p:txBody>
      </p:sp>
      <p:sp>
        <p:nvSpPr>
          <p:cNvPr id="25" name="Text 19"/>
          <p:cNvSpPr/>
          <p:nvPr/>
        </p:nvSpPr>
        <p:spPr>
          <a:xfrm>
            <a:off x="6238866" y="2287786"/>
            <a:ext cx="2047856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ACL (Access Control List) szabályok alkalmazása: melyik kliens melyik témát (Topic) olvashatja vagy írhatja.</a:t>
            </a:r>
            <a:endParaRPr lang="en-US" sz="780" dirty="0"/>
          </a:p>
        </p:txBody>
      </p:sp>
      <p:sp>
        <p:nvSpPr>
          <p:cNvPr id="26" name="Shape 20"/>
          <p:cNvSpPr/>
          <p:nvPr/>
        </p:nvSpPr>
        <p:spPr>
          <a:xfrm>
            <a:off x="6777186" y="2912864"/>
            <a:ext cx="971215" cy="187523"/>
          </a:xfrm>
          <a:prstGeom prst="rect">
            <a:avLst/>
          </a:prstGeom>
          <a:solidFill>
            <a:srgbClr val="06B6D4">
              <a:alpha val="10000"/>
            </a:srgbClr>
          </a:solidFill>
          <a:ln w="9144">
            <a:solidFill>
              <a:srgbClr val="06B6D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77186" y="2912864"/>
            <a:ext cx="971215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06B6D4"/>
                </a:solidFill>
              </a:rPr>
              <a:t>ACL_POLICY: ACTIVE</a:t>
            </a:r>
            <a:endParaRPr lang="en-US" sz="621" dirty="0"/>
          </a:p>
        </p:txBody>
      </p:sp>
      <p:sp>
        <p:nvSpPr>
          <p:cNvPr id="28" name="Shape 22"/>
          <p:cNvSpPr/>
          <p:nvPr/>
        </p:nvSpPr>
        <p:spPr>
          <a:xfrm>
            <a:off x="642938" y="3818334"/>
            <a:ext cx="7858125" cy="842963"/>
          </a:xfrm>
          <a:prstGeom prst="rect">
            <a:avLst/>
          </a:prstGeom>
          <a:solidFill>
            <a:srgbClr val="0A0A0A"/>
          </a:solidFill>
          <a:ln w="9144">
            <a:solidFill>
              <a:srgbClr val="333333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642938" y="3818334"/>
            <a:ext cx="7858125" cy="84296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# ACL Példa: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 user sensor_01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 topic write tele/sensor_01/#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 topic read cmnd/sensor_01/#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21047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Összefoglalás és Felhasználás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6B6D4"/>
                </a:solidFill>
              </a:rPr>
              <a:t>09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382316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0138" y="1380530"/>
            <a:ext cx="23266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Rendkívül alacsony sávszélesség-igény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61297" y="1230511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172" y="1375172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18497" y="1373386"/>
            <a:ext cx="24389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Rugalmas és skálázható Pub/Sub modell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42938" y="1869877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021681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00138" y="2019895"/>
            <a:ext cx="24527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Garantált üzenetkézbesítés (QoS szintek)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661297" y="1869877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2014538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18497" y="2012752"/>
            <a:ext cx="2780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Univerzális támogatás minden IoT platformon</a:t>
            </a:r>
            <a:endParaRPr lang="en-US" sz="942" dirty="0"/>
          </a:p>
        </p:txBody>
      </p:sp>
      <p:sp>
        <p:nvSpPr>
          <p:cNvPr id="19" name="Shape 12"/>
          <p:cNvSpPr/>
          <p:nvPr/>
        </p:nvSpPr>
        <p:spPr>
          <a:xfrm>
            <a:off x="642938" y="2509242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661047"/>
            <a:ext cx="171450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00138" y="2659261"/>
            <a:ext cx="22834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Hatékony állapotkezelés (Retain, LWT)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661297" y="2509242"/>
            <a:ext cx="3839766" cy="475059"/>
          </a:xfrm>
          <a:prstGeom prst="rect">
            <a:avLst/>
          </a:prstGeom>
          <a:solidFill>
            <a:srgbClr val="06B6D4">
              <a:alpha val="2000"/>
            </a:srgbClr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172" y="2653903"/>
            <a:ext cx="171450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18497" y="2652117"/>
            <a:ext cx="19819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0E0E0"/>
                </a:solidFill>
              </a:rPr>
              <a:t>Biztonságos adatátvitel (TLS/SSL)</a:t>
            </a:r>
            <a:endParaRPr lang="en-US" sz="942" dirty="0"/>
          </a:p>
        </p:txBody>
      </p:sp>
      <p:sp>
        <p:nvSpPr>
          <p:cNvPr id="25" name="Shape 16"/>
          <p:cNvSpPr/>
          <p:nvPr/>
        </p:nvSpPr>
        <p:spPr>
          <a:xfrm>
            <a:off x="642938" y="3255764"/>
            <a:ext cx="7858125" cy="1415467"/>
          </a:xfrm>
          <a:prstGeom prst="rect">
            <a:avLst/>
          </a:prstGeom>
          <a:solidFill>
            <a:srgbClr val="06B6D4">
              <a:alpha val="5000"/>
            </a:srgbClr>
          </a:solidFill>
          <a:ln w="18288">
            <a:solidFill>
              <a:srgbClr val="06B6D4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795" y="3501330"/>
            <a:ext cx="185738" cy="1714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275688" y="3470077"/>
            <a:ext cx="288551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2" kern="0" dirty="0">
                <a:solidFill>
                  <a:srgbClr val="06B6D4"/>
                </a:solidFill>
              </a:rPr>
              <a:t>Az IoT "De Facto" Szabványa</a:t>
            </a:r>
            <a:endParaRPr lang="en-US" sz="1269" dirty="0"/>
          </a:p>
        </p:txBody>
      </p:sp>
      <p:sp>
        <p:nvSpPr>
          <p:cNvPr id="28" name="Text 18"/>
          <p:cNvSpPr/>
          <p:nvPr/>
        </p:nvSpPr>
        <p:spPr>
          <a:xfrm>
            <a:off x="1357313" y="3811191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Az MQTT egyszerűsége, hatékonysága és megbízhatósága miatt vált az ipari és otthoni IoT rendszerek alapvető kommunikációs protokolljává. Rendszerüzemeltetőként az MQTT ismerete elengedhetetlen a modern, elosztott hálózatok tervezéséhez és karbantartásához.</a:t>
            </a:r>
            <a:endParaRPr lang="en-US" sz="942" dirty="0"/>
          </a:p>
        </p:txBody>
      </p:sp>
      <p:sp>
        <p:nvSpPr>
          <p:cNvPr id="29" name="Text 19"/>
          <p:cNvSpPr/>
          <p:nvPr/>
        </p:nvSpPr>
        <p:spPr>
          <a:xfrm>
            <a:off x="3000682" y="4856969"/>
            <a:ext cx="31426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[ PROTOCOL_CHECK: OK ] -- [ MQTT_CONNECTIVITY: ESTABLISHED ]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2026-01-09T18:12:43Z</dcterms:created>
  <dcterms:modified xsi:type="dcterms:W3CDTF">2026-01-09T18:12:43Z</dcterms:modified>
</cp:coreProperties>
</file>