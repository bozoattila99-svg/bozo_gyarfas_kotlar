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79002" y="888504"/>
            <a:ext cx="5385969" cy="3366492"/>
          </a:xfrm>
          <a:prstGeom prst="rect">
            <a:avLst/>
          </a:prstGeom>
          <a:solidFill>
            <a:srgbClr val="111827">
              <a:alpha val="90000"/>
            </a:srgbClr>
          </a:solidFill>
          <a:ln w="18288">
            <a:solidFill>
              <a:srgbClr val="F97316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785" y="1442145"/>
            <a:ext cx="71437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07639" y="2410123"/>
            <a:ext cx="4328694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IoT Biztonság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2407639" y="3176290"/>
            <a:ext cx="43286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spc="2" kern="0" dirty="0">
                <a:solidFill>
                  <a:srgbClr val="9CA3AF"/>
                </a:solidFill>
              </a:rPr>
              <a:t>Hitelesítés és adatvédelem a hálózatban</a:t>
            </a:r>
            <a:endParaRPr lang="en-US" sz="1486" dirty="0"/>
          </a:p>
        </p:txBody>
      </p:sp>
      <p:sp>
        <p:nvSpPr>
          <p:cNvPr id="7" name="Text 3"/>
          <p:cNvSpPr/>
          <p:nvPr/>
        </p:nvSpPr>
        <p:spPr>
          <a:xfrm>
            <a:off x="2407639" y="3735288"/>
            <a:ext cx="4328694" cy="291108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6" kern="0" dirty="0">
                <a:solidFill>
                  <a:srgbClr val="F97316"/>
                </a:solidFill>
              </a:rPr>
              <a:t>Vizsgafelkészítő // Témakör 09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4129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IoT fenyegetettségek és kockázatok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02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834897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856" y="1444823"/>
            <a:ext cx="1400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Külső Támadások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64531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1935956"/>
            <a:ext cx="30646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DDoS (Botnetek)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43000" y="2146697"/>
            <a:ext cx="30646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Eszközök ezreinek átvétele (pl. Mirai), hogy túlterheléses támadást indítsanak.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98148"/>
            <a:ext cx="16073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5141" y="2569573"/>
            <a:ext cx="27880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MITM Támadás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25141" y="2780314"/>
            <a:ext cx="278807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Az adatforgalom lehallgatása vagy módosítása a hálózaton.</a:t>
            </a:r>
            <a:endParaRPr lang="en-US" sz="72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91765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07281" y="3063190"/>
            <a:ext cx="26574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Brute Force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107281" y="3273930"/>
            <a:ext cx="265744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Automatizált próbálkozás a gyenge jelszavak feltörésére.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4707731" y="1230511"/>
            <a:ext cx="3793331" cy="2834897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07794" y="1444823"/>
            <a:ext cx="11883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Rendszerhibák</a:t>
            </a:r>
            <a:endParaRPr lang="en-US" sz="1269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964531"/>
            <a:ext cx="160734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97078" y="1935956"/>
            <a:ext cx="30896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Gyenge Hitelesítés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5197078" y="2146697"/>
            <a:ext cx="308967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Alapértelmezett jelszavak (admin/admin) és titkosítatlan protokollok (Telnet, HTTP).</a:t>
            </a:r>
            <a:endParaRPr lang="en-US" sz="727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598148"/>
            <a:ext cx="142875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79219" y="2569573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Frissítések Hiánya</a:t>
            </a:r>
            <a:endParaRPr lang="en-US" sz="885" dirty="0"/>
          </a:p>
        </p:txBody>
      </p:sp>
      <p:sp>
        <p:nvSpPr>
          <p:cNvPr id="27" name="Text 17"/>
          <p:cNvSpPr/>
          <p:nvPr/>
        </p:nvSpPr>
        <p:spPr>
          <a:xfrm>
            <a:off x="5179219" y="2780314"/>
            <a:ext cx="31075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Elavult firmware-ek, amelyek ismert sebezhetőségeket tartalmaznak.</a:t>
            </a:r>
            <a:endParaRPr lang="en-US" sz="727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31766"/>
            <a:ext cx="125016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61359" y="3203191"/>
            <a:ext cx="3125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Adatszivárgás</a:t>
            </a:r>
            <a:endParaRPr lang="en-US" sz="885" dirty="0"/>
          </a:p>
        </p:txBody>
      </p:sp>
      <p:sp>
        <p:nvSpPr>
          <p:cNvPr id="30" name="Text 19"/>
          <p:cNvSpPr/>
          <p:nvPr/>
        </p:nvSpPr>
        <p:spPr>
          <a:xfrm>
            <a:off x="5161359" y="3413931"/>
            <a:ext cx="31253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Személyes adatok titkosítatlan tárolása az eszközön vagy a felhőben.</a:t>
            </a:r>
            <a:endParaRPr lang="en-US" sz="727" dirty="0"/>
          </a:p>
        </p:txBody>
      </p:sp>
      <p:sp>
        <p:nvSpPr>
          <p:cNvPr id="31" name="Shape 20"/>
          <p:cNvSpPr/>
          <p:nvPr/>
        </p:nvSpPr>
        <p:spPr>
          <a:xfrm>
            <a:off x="642938" y="4265433"/>
            <a:ext cx="7858125" cy="383977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dash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076" y="4394020"/>
            <a:ext cx="114300" cy="1143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909376" y="4372589"/>
            <a:ext cx="34395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97316"/>
                </a:solidFill>
              </a:rPr>
              <a:t>Az IoT eszközök gyakran a hálózat leggyengébb láncszemei!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2164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Hitelesítési mechanizmusok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03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01948"/>
            <a:ext cx="2500313" cy="2344936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41" y="1516261"/>
            <a:ext cx="385763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25150" y="2037755"/>
            <a:ext cx="9263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Jelszó alapú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85813" y="2359223"/>
            <a:ext cx="2205047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Hagyományos felhasználónév és jelszó páros. Kritikus az alapértelmezett jelszavak megváltoztatása és a komplexitás.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785813" y="3159323"/>
            <a:ext cx="2205047" cy="273248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5813" y="3159323"/>
            <a:ext cx="2205047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2" kern="0" dirty="0">
                <a:solidFill>
                  <a:srgbClr val="EF4444"/>
                </a:solidFill>
              </a:rPr>
              <a:t>Alapszintű védelem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3312328" y="1301948"/>
            <a:ext cx="2505084" cy="2344936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378" y="1516261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10381" y="2037755"/>
            <a:ext cx="15089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Tokenek és OAuth2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3459947" y="2359223"/>
            <a:ext cx="220979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API kulcsok vagy időszakos tokenek használata. Biztonságosabb, mert nem kell a jelszót minden kérésnél elküldeni.</a:t>
            </a:r>
            <a:endParaRPr lang="en-US" sz="780" dirty="0"/>
          </a:p>
        </p:txBody>
      </p:sp>
      <p:sp>
        <p:nvSpPr>
          <p:cNvPr id="17" name="Shape 12"/>
          <p:cNvSpPr/>
          <p:nvPr/>
        </p:nvSpPr>
        <p:spPr>
          <a:xfrm>
            <a:off x="3459947" y="3159323"/>
            <a:ext cx="2209791" cy="273248"/>
          </a:xfrm>
          <a:prstGeom prst="rect">
            <a:avLst/>
          </a:prstGeom>
          <a:solidFill>
            <a:srgbClr val="F97316">
              <a:alpha val="10000"/>
            </a:srgbClr>
          </a:solidFill>
          <a:ln w="9144">
            <a:solidFill>
              <a:srgbClr val="F9731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59947" y="3159323"/>
            <a:ext cx="220979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2" kern="0" dirty="0">
                <a:solidFill>
                  <a:srgbClr val="F97316"/>
                </a:solidFill>
              </a:rPr>
              <a:t>Közepes védelem</a:t>
            </a:r>
            <a:endParaRPr lang="en-US" sz="584" dirty="0"/>
          </a:p>
        </p:txBody>
      </p:sp>
      <p:sp>
        <p:nvSpPr>
          <p:cNvPr id="19" name="Shape 14"/>
          <p:cNvSpPr/>
          <p:nvPr/>
        </p:nvSpPr>
        <p:spPr>
          <a:xfrm>
            <a:off x="5991206" y="1301948"/>
            <a:ext cx="2509828" cy="2344936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456" y="1516261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7876" y="2037755"/>
            <a:ext cx="16060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X.509 Tanúsítványok</a:t>
            </a:r>
            <a:endParaRPr lang="en-US" sz="1090" dirty="0"/>
          </a:p>
        </p:txBody>
      </p:sp>
      <p:sp>
        <p:nvSpPr>
          <p:cNvPr id="22" name="Text 16"/>
          <p:cNvSpPr/>
          <p:nvPr/>
        </p:nvSpPr>
        <p:spPr>
          <a:xfrm>
            <a:off x="6143625" y="2359223"/>
            <a:ext cx="22145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Kliens-oldali tanúsítványok használata (mTLS). A legmagasabb szintű védelem, ahol az eszköz és a szerver is azonosítja egymást.</a:t>
            </a:r>
            <a:endParaRPr lang="en-US" sz="780" dirty="0"/>
          </a:p>
        </p:txBody>
      </p:sp>
      <p:sp>
        <p:nvSpPr>
          <p:cNvPr id="23" name="Shape 17"/>
          <p:cNvSpPr/>
          <p:nvPr/>
        </p:nvSpPr>
        <p:spPr>
          <a:xfrm>
            <a:off x="6143625" y="3145036"/>
            <a:ext cx="2214563" cy="27324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43625" y="3145036"/>
            <a:ext cx="2214563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2" kern="0" dirty="0">
                <a:solidFill>
                  <a:srgbClr val="10B981"/>
                </a:solidFill>
              </a:rPr>
              <a:t>Magas szintű védelem</a:t>
            </a:r>
            <a:endParaRPr lang="en-US" sz="5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4885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Adattitkosítás (Transit &amp; Rest)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425610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8719" y="1444823"/>
            <a:ext cx="15572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Adatátvitel (Transit)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64531"/>
            <a:ext cx="12501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9422" y="1935956"/>
            <a:ext cx="2321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TLS 1.2 / 1.3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089422" y="2146697"/>
            <a:ext cx="23213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hálózati forgalom titkosítása a lehallgatás ellen.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58148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7281" y="2429573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MQTTS és HTTPS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07281" y="2640313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Biztonságos protokollok használata (pl. 8883-as port az MQTT-hez).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857250" y="3063190"/>
            <a:ext cx="3350419" cy="364331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dash"/>
          </a:ln>
        </p:spPr>
      </p:sp>
      <p:sp>
        <p:nvSpPr>
          <p:cNvPr id="17" name="Text 11"/>
          <p:cNvSpPr/>
          <p:nvPr/>
        </p:nvSpPr>
        <p:spPr>
          <a:xfrm>
            <a:off x="857250" y="3063190"/>
            <a:ext cx="3350419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97316"/>
                </a:solidFill>
              </a:rPr>
              <a:t>[ CLIENT ] &lt;---&gt; (TLS) &lt;---&gt; [ BROKER ]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4707731" y="1230511"/>
            <a:ext cx="3793331" cy="2397035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07794" y="1444823"/>
            <a:ext cx="15494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Tárolt adatok (Rest)</a:t>
            </a:r>
            <a:endParaRPr lang="en-US" sz="1269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964531"/>
            <a:ext cx="142875" cy="1428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79219" y="1935956"/>
            <a:ext cx="26682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Flash Titkosítás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5179219" y="2146697"/>
            <a:ext cx="26682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firmware és az adatok titkosítása a fizikai memóriában.</a:t>
            </a:r>
            <a:endParaRPr lang="en-US" sz="727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458148"/>
            <a:ext cx="142875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79219" y="2429573"/>
            <a:ext cx="26963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Secure NVS</a:t>
            </a:r>
            <a:endParaRPr lang="en-US" sz="885" dirty="0"/>
          </a:p>
        </p:txBody>
      </p:sp>
      <p:sp>
        <p:nvSpPr>
          <p:cNvPr id="26" name="Text 17"/>
          <p:cNvSpPr/>
          <p:nvPr/>
        </p:nvSpPr>
        <p:spPr>
          <a:xfrm>
            <a:off x="5179219" y="2640313"/>
            <a:ext cx="269634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Érzékeny adatok (pl. Wi-Fi jelszavak) biztonságos tárolása.</a:t>
            </a:r>
            <a:endParaRPr lang="en-US" sz="727" dirty="0"/>
          </a:p>
        </p:txBody>
      </p:sp>
      <p:sp>
        <p:nvSpPr>
          <p:cNvPr id="27" name="Shape 18"/>
          <p:cNvSpPr/>
          <p:nvPr/>
        </p:nvSpPr>
        <p:spPr>
          <a:xfrm>
            <a:off x="4929188" y="2923189"/>
            <a:ext cx="3357563" cy="364331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dash"/>
          </a:ln>
        </p:spPr>
      </p:sp>
      <p:sp>
        <p:nvSpPr>
          <p:cNvPr id="28" name="Text 19"/>
          <p:cNvSpPr/>
          <p:nvPr/>
        </p:nvSpPr>
        <p:spPr>
          <a:xfrm>
            <a:off x="4929188" y="2923189"/>
            <a:ext cx="3357563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97316"/>
                </a:solidFill>
              </a:rPr>
              <a:t>AES-256 ENCRYPTED STORAGE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33738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Hálózati biztonság és Szegmentálás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05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73386"/>
            <a:ext cx="3214688" cy="1301948"/>
          </a:xfrm>
          <a:prstGeom prst="rect">
            <a:avLst/>
          </a:prstGeom>
          <a:solidFill>
            <a:srgbClr val="111827">
              <a:alpha val="80000"/>
            </a:srgbClr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250" y="1601986"/>
            <a:ext cx="2786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10B981"/>
                </a:solidFill>
              </a:rPr>
              <a:t>Megbízható Hálózat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506" y="1939528"/>
            <a:ext cx="285750" cy="2286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131" y="1939528"/>
            <a:ext cx="228600" cy="2286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606" y="1939528"/>
            <a:ext cx="1714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2311003"/>
            <a:ext cx="2786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Személyes adatok, bankolás, munka.</a:t>
            </a:r>
            <a:endParaRPr lang="en-US" sz="72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60" y="1706463"/>
            <a:ext cx="428625" cy="428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44128" y="2206526"/>
            <a:ext cx="8557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97316"/>
                </a:solidFill>
              </a:rPr>
              <a:t>FIREWALL / VLAN</a:t>
            </a:r>
            <a:endParaRPr lang="en-US" sz="683" dirty="0"/>
          </a:p>
        </p:txBody>
      </p:sp>
      <p:sp>
        <p:nvSpPr>
          <p:cNvPr id="15" name="Shape 8"/>
          <p:cNvSpPr/>
          <p:nvPr/>
        </p:nvSpPr>
        <p:spPr>
          <a:xfrm>
            <a:off x="5286347" y="1373386"/>
            <a:ext cx="3214688" cy="1301948"/>
          </a:xfrm>
          <a:prstGeom prst="rect">
            <a:avLst/>
          </a:prstGeom>
          <a:solidFill>
            <a:srgbClr val="111827">
              <a:alpha val="80000"/>
            </a:srgbClr>
          </a:solidFill>
          <a:ln w="18288">
            <a:solidFill>
              <a:srgbClr val="F97316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500660" y="1587698"/>
            <a:ext cx="2786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97316"/>
                </a:solidFill>
              </a:rPr>
              <a:t>IoT Szegmens (VLAN)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066" y="1925241"/>
            <a:ext cx="171450" cy="2286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9391" y="1925241"/>
            <a:ext cx="257175" cy="22860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9441" y="1925241"/>
            <a:ext cx="142875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500660" y="2296716"/>
            <a:ext cx="2786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Okoseszközök, szenzorok, kamerák.</a:t>
            </a:r>
            <a:endParaRPr lang="en-US" sz="727" dirty="0"/>
          </a:p>
        </p:txBody>
      </p:sp>
      <p:sp>
        <p:nvSpPr>
          <p:cNvPr id="21" name="Shape 11"/>
          <p:cNvSpPr/>
          <p:nvPr/>
        </p:nvSpPr>
        <p:spPr>
          <a:xfrm>
            <a:off x="642938" y="3075384"/>
            <a:ext cx="2524116" cy="966499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785813" y="3218259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97316"/>
                </a:solidFill>
              </a:rPr>
              <a:t>VLAN Elszigetelés</a:t>
            </a:r>
            <a:endParaRPr lang="en-US" sz="885" dirty="0"/>
          </a:p>
        </p:txBody>
      </p:sp>
      <p:sp>
        <p:nvSpPr>
          <p:cNvPr id="23" name="Text 13"/>
          <p:cNvSpPr/>
          <p:nvPr/>
        </p:nvSpPr>
        <p:spPr>
          <a:xfrm>
            <a:off x="785813" y="3464719"/>
            <a:ext cx="22383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Az IoT eszközök külön alhálózatba helyezése megakadályozza, hogy egy feltört eszköz elérje a PC-ket.</a:t>
            </a:r>
            <a:endParaRPr lang="en-US" sz="727" dirty="0"/>
          </a:p>
        </p:txBody>
      </p:sp>
      <p:sp>
        <p:nvSpPr>
          <p:cNvPr id="24" name="Shape 14"/>
          <p:cNvSpPr/>
          <p:nvPr/>
        </p:nvSpPr>
        <p:spPr>
          <a:xfrm>
            <a:off x="3309928" y="3075384"/>
            <a:ext cx="2524116" cy="966499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3452803" y="3218259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97316"/>
                </a:solidFill>
              </a:rPr>
              <a:t>Tűzfal Szabályok</a:t>
            </a:r>
            <a:endParaRPr lang="en-US" sz="885" dirty="0"/>
          </a:p>
        </p:txBody>
      </p:sp>
      <p:sp>
        <p:nvSpPr>
          <p:cNvPr id="26" name="Text 16"/>
          <p:cNvSpPr/>
          <p:nvPr/>
        </p:nvSpPr>
        <p:spPr>
          <a:xfrm>
            <a:off x="3452803" y="3464719"/>
            <a:ext cx="223836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Csak a szükséges portok (pl. 1883 MQTT) engedélyezése. Minden egyéb forgalom tiltása.</a:t>
            </a:r>
            <a:endParaRPr lang="en-US" sz="727" dirty="0"/>
          </a:p>
        </p:txBody>
      </p:sp>
      <p:sp>
        <p:nvSpPr>
          <p:cNvPr id="27" name="Shape 17"/>
          <p:cNvSpPr/>
          <p:nvPr/>
        </p:nvSpPr>
        <p:spPr>
          <a:xfrm>
            <a:off x="5976919" y="3075384"/>
            <a:ext cx="2524144" cy="966499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6119794" y="3218259"/>
            <a:ext cx="2238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97316"/>
                </a:solidFill>
              </a:rPr>
              <a:t>VPN Használata</a:t>
            </a:r>
            <a:endParaRPr lang="en-US" sz="885" dirty="0"/>
          </a:p>
        </p:txBody>
      </p:sp>
      <p:sp>
        <p:nvSpPr>
          <p:cNvPr id="29" name="Text 19"/>
          <p:cNvSpPr/>
          <p:nvPr/>
        </p:nvSpPr>
        <p:spPr>
          <a:xfrm>
            <a:off x="6119794" y="3464719"/>
            <a:ext cx="2238394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Távoli eléréshez ne használjunk port-forwardingot! Használjunk WireGuard vagy OpenVPN kapcsolatot.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77242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Fizikai biztonság és Tamper-protection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06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834897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4425" y="1444823"/>
            <a:ext cx="1570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Hardveres Védelem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64531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7281" y="1935956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Zárt burkolatok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07281" y="2146697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Speciális csavarok és ragasztott házak használata a felnyitás megnehezítésére.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98148"/>
            <a:ext cx="12501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9422" y="2569573"/>
            <a:ext cx="31182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Tamper szenzorok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089422" y="2780314"/>
            <a:ext cx="311824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Fény- vagy mikrokapcsolók, amelyek érzékelik a ház felnyitását és törlik a titkos kulcsokat.</a:t>
            </a:r>
            <a:endParaRPr lang="en-US" sz="72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31766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07281" y="3203191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Biztonsági matricák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107281" y="3413931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Tamper-evident matricák, amelyek roncsolódnak illetéktelen beavatkozás esetén.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4707731" y="1230511"/>
            <a:ext cx="3793331" cy="2820609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07794" y="1444823"/>
            <a:ext cx="15480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Interfész Biztonság</a:t>
            </a:r>
            <a:endParaRPr lang="en-US" sz="1269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964531"/>
            <a:ext cx="142875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79219" y="1935956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Debug portok tiltása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5179219" y="2146697"/>
            <a:ext cx="31075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JTAG és UART interfészek hardveres vagy szoftveres lezárása a gyártás után.</a:t>
            </a:r>
            <a:endParaRPr lang="en-US" sz="727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598148"/>
            <a:ext cx="125016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61359" y="2569573"/>
            <a:ext cx="3125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Secure Boot</a:t>
            </a:r>
            <a:endParaRPr lang="en-US" sz="885" dirty="0"/>
          </a:p>
        </p:txBody>
      </p:sp>
      <p:sp>
        <p:nvSpPr>
          <p:cNvPr id="27" name="Text 17"/>
          <p:cNvSpPr/>
          <p:nvPr/>
        </p:nvSpPr>
        <p:spPr>
          <a:xfrm>
            <a:off x="5161359" y="2780314"/>
            <a:ext cx="31253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Csak aláírt és hitelesített kód futtatásának engedélyezése az indításkor.</a:t>
            </a:r>
            <a:endParaRPr lang="en-US" sz="727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31766"/>
            <a:ext cx="142875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79219" y="3203191"/>
            <a:ext cx="29398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Flash titkosítás</a:t>
            </a:r>
            <a:endParaRPr lang="en-US" sz="885" dirty="0"/>
          </a:p>
        </p:txBody>
      </p:sp>
      <p:sp>
        <p:nvSpPr>
          <p:cNvPr id="30" name="Text 19"/>
          <p:cNvSpPr/>
          <p:nvPr/>
        </p:nvSpPr>
        <p:spPr>
          <a:xfrm>
            <a:off x="5179219" y="3413931"/>
            <a:ext cx="293987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memóriában tárolt adatok titkosítása a fizikai kiolvasás ellen.</a:t>
            </a:r>
            <a:endParaRPr lang="en-US" sz="727" dirty="0"/>
          </a:p>
        </p:txBody>
      </p:sp>
      <p:sp>
        <p:nvSpPr>
          <p:cNvPr id="31" name="Shape 20"/>
          <p:cNvSpPr/>
          <p:nvPr/>
        </p:nvSpPr>
        <p:spPr>
          <a:xfrm>
            <a:off x="642938" y="4265433"/>
            <a:ext cx="7858125" cy="475059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dash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3447" y="4431525"/>
            <a:ext cx="142875" cy="1285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736322" y="4408308"/>
            <a:ext cx="5814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spc="2" kern="0" dirty="0">
                <a:solidFill>
                  <a:srgbClr val="F97316"/>
                </a:solidFill>
              </a:rPr>
              <a:t>A fizikai hozzáférés egyenlő a teljes kontrollal – védekezzen ellene!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90412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Adatvédelem és GDPR az IoT-ben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07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834897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8719" y="1444823"/>
            <a:ext cx="7717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Alapelvek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64531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7281" y="1935956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Adattakarékosság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07281" y="2146697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Csak a szolgáltatás működéséhez elengedhetetlenül szükséges adatokat szabad gyűjteni.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98148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7281" y="2569573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Célhoz kötöttség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07281" y="2780314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Az adatokat csak az előre meghatározott és közölt célra szabad felhasználni.</a:t>
            </a:r>
            <a:endParaRPr lang="en-US" sz="72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31766"/>
            <a:ext cx="16073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5141" y="3203191"/>
            <a:ext cx="3082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Átláthatóság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125141" y="3413931"/>
            <a:ext cx="308252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felhasználót világosan tájékoztatni kell arról, hogy ki, mit és miért gyűjt róla.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4707731" y="1230511"/>
            <a:ext cx="3793331" cy="2834897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214313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0656" y="1444823"/>
            <a:ext cx="14791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Gyakorlati lépések</a:t>
            </a:r>
            <a:endParaRPr lang="en-US" sz="1269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964531"/>
            <a:ext cx="125016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61359" y="1935956"/>
            <a:ext cx="3125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Anonimizálás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5161359" y="2146697"/>
            <a:ext cx="31253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 gyűjtött adatok elválasztása a személyes azonosítóktól, ahol csak lehetséges.</a:t>
            </a:r>
            <a:endParaRPr lang="en-US" sz="727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598148"/>
            <a:ext cx="125016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61359" y="2569573"/>
            <a:ext cx="3125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Hozzájárulás kezelése</a:t>
            </a:r>
            <a:endParaRPr lang="en-US" sz="885" dirty="0"/>
          </a:p>
        </p:txBody>
      </p:sp>
      <p:sp>
        <p:nvSpPr>
          <p:cNvPr id="27" name="Text 17"/>
          <p:cNvSpPr/>
          <p:nvPr/>
        </p:nvSpPr>
        <p:spPr>
          <a:xfrm>
            <a:off x="5161359" y="2780314"/>
            <a:ext cx="31253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Aktív és visszavonható felhasználói beleegyezés az adatkezeléshez.</a:t>
            </a:r>
            <a:endParaRPr lang="en-US" sz="727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31766"/>
            <a:ext cx="125016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61359" y="3203191"/>
            <a:ext cx="3125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Törléshez való jog</a:t>
            </a:r>
            <a:endParaRPr lang="en-US" sz="885" dirty="0"/>
          </a:p>
        </p:txBody>
      </p:sp>
      <p:sp>
        <p:nvSpPr>
          <p:cNvPr id="30" name="Text 19"/>
          <p:cNvSpPr/>
          <p:nvPr/>
        </p:nvSpPr>
        <p:spPr>
          <a:xfrm>
            <a:off x="5161359" y="3413931"/>
            <a:ext cx="31253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Biztosítani kell a felhasználó számára az adataihoz való hozzáférést és azok törlését.</a:t>
            </a:r>
            <a:endParaRPr lang="en-US" sz="727" dirty="0"/>
          </a:p>
        </p:txBody>
      </p:sp>
      <p:sp>
        <p:nvSpPr>
          <p:cNvPr id="31" name="Shape 20"/>
          <p:cNvSpPr/>
          <p:nvPr/>
        </p:nvSpPr>
        <p:spPr>
          <a:xfrm>
            <a:off x="642938" y="4265433"/>
            <a:ext cx="7858125" cy="38933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21"/>
          <p:cNvSpPr/>
          <p:nvPr/>
        </p:nvSpPr>
        <p:spPr>
          <a:xfrm>
            <a:off x="642938" y="4265433"/>
            <a:ext cx="785812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11827"/>
                </a:solidFill>
              </a:rPr>
              <a:t>Privacy by Design &amp; Privacy by Default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633921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Biztonsági szabványok és keretrendszerek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4454854" cy="2509242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7288" y="1444823"/>
            <a:ext cx="14717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OWASP IoT Top 10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63638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419" y="1935956"/>
            <a:ext cx="19843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Gyenge, kitalálható vagy fix jelszavak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26171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4419" y="2198489"/>
            <a:ext cx="21825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Nem biztonságos hálózati szolgáltatások</a:t>
            </a:r>
            <a:endParaRPr lang="en-US" sz="83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488704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64419" y="2461022"/>
            <a:ext cx="23082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Nem biztonságos ökoszisztéma interfészek</a:t>
            </a:r>
            <a:endParaRPr lang="en-US" sz="834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51237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64419" y="2723555"/>
            <a:ext cx="22901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Biztonságos frissítési mechanizmus hiánya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013770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64419" y="2986088"/>
            <a:ext cx="23783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Elavult vagy nem biztonságos komponensek</a:t>
            </a:r>
            <a:endParaRPr lang="en-US" sz="834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276302"/>
            <a:ext cx="100013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64419" y="3248620"/>
            <a:ext cx="1553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Nem megfelelő adatvédelem</a:t>
            </a:r>
            <a:endParaRPr lang="en-US" sz="834" dirty="0"/>
          </a:p>
        </p:txBody>
      </p:sp>
      <p:sp>
        <p:nvSpPr>
          <p:cNvPr id="22" name="Shape 12"/>
          <p:cNvSpPr/>
          <p:nvPr/>
        </p:nvSpPr>
        <p:spPr>
          <a:xfrm>
            <a:off x="5377821" y="1230511"/>
            <a:ext cx="3123242" cy="2494955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0700" y="1476077"/>
            <a:ext cx="150019" cy="17145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857875" y="1444823"/>
            <a:ext cx="13913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Iparági Ajánlások</a:t>
            </a:r>
            <a:endParaRPr lang="en-US" sz="1269" dirty="0"/>
          </a:p>
        </p:txBody>
      </p:sp>
      <p:sp>
        <p:nvSpPr>
          <p:cNvPr id="25" name="Text 14"/>
          <p:cNvSpPr/>
          <p:nvPr/>
        </p:nvSpPr>
        <p:spPr>
          <a:xfrm>
            <a:off x="5600700" y="1935956"/>
            <a:ext cx="268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NIST Cybersecurity Framework</a:t>
            </a:r>
            <a:endParaRPr lang="en-US" sz="885" dirty="0"/>
          </a:p>
        </p:txBody>
      </p:sp>
      <p:sp>
        <p:nvSpPr>
          <p:cNvPr id="26" name="Text 15"/>
          <p:cNvSpPr/>
          <p:nvPr/>
        </p:nvSpPr>
        <p:spPr>
          <a:xfrm>
            <a:off x="5600700" y="2168128"/>
            <a:ext cx="26860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Átfogó keretrendszer a kiberbiztonsági kockázatok kezelésére (Identify, Protect, Detect, Respond, Recover).</a:t>
            </a:r>
            <a:endParaRPr lang="en-US" sz="727" dirty="0"/>
          </a:p>
        </p:txBody>
      </p:sp>
      <p:sp>
        <p:nvSpPr>
          <p:cNvPr id="27" name="Text 16"/>
          <p:cNvSpPr/>
          <p:nvPr/>
        </p:nvSpPr>
        <p:spPr>
          <a:xfrm>
            <a:off x="5600700" y="2626723"/>
            <a:ext cx="268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ETSI EN 303 645</a:t>
            </a:r>
            <a:endParaRPr lang="en-US" sz="885" dirty="0"/>
          </a:p>
        </p:txBody>
      </p:sp>
      <p:sp>
        <p:nvSpPr>
          <p:cNvPr id="28" name="Text 17"/>
          <p:cNvSpPr/>
          <p:nvPr/>
        </p:nvSpPr>
        <p:spPr>
          <a:xfrm>
            <a:off x="5600700" y="2858895"/>
            <a:ext cx="26860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Az első globálisan alkalmazható szabvány a fogyasztói IoT eszközök kiberbiztonságára.</a:t>
            </a:r>
            <a:endParaRPr lang="en-US" sz="727" dirty="0"/>
          </a:p>
        </p:txBody>
      </p:sp>
      <p:sp>
        <p:nvSpPr>
          <p:cNvPr id="29" name="Text 18"/>
          <p:cNvSpPr/>
          <p:nvPr/>
        </p:nvSpPr>
        <p:spPr>
          <a:xfrm>
            <a:off x="642938" y="4011216"/>
            <a:ext cx="7858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CA3AF"/>
                </a:solidFill>
              </a:rPr>
              <a:t>"A biztonság nem egy állapot, hanem egy folyamat." - A szabványok követése az alapja a megbízható üzemeltetésnek.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5402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Összefoglalás és Biztonsági Checklist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09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901898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567160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0156" y="1416248"/>
            <a:ext cx="3036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Hitelesítés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250156" y="1646634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Alapértelmezett jelszavak cseréje, 2FA és tanúsítvány alapú azonosítás (mTLS) bevezetése.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4679156" y="1230511"/>
            <a:ext cx="3821906" cy="901898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60016"/>
            <a:ext cx="200025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0650" y="1409105"/>
            <a:ext cx="31218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Titkosítás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200650" y="1639491"/>
            <a:ext cx="31218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TLS 1.2+ használata az átvitelhez és AES-256 a helyi adattároláshoz.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42938" y="2332434"/>
            <a:ext cx="3821906" cy="901898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669084"/>
            <a:ext cx="2857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0156" y="2518172"/>
            <a:ext cx="3036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Hálózat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250156" y="2748558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VLAN szegmentálás, tűzfal szabályok szigorítása és a port-forwarding kerülése.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4679156" y="2332434"/>
            <a:ext cx="3821906" cy="901898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66194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29225" y="2511028"/>
            <a:ext cx="30932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Karbantartás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5229225" y="2741414"/>
            <a:ext cx="30932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CA3AF"/>
                </a:solidFill>
              </a:rPr>
              <a:t>Rendszeres OTA frissítések, biztonsági auditok és folyamatos monitorozás.</a:t>
            </a:r>
            <a:endParaRPr lang="en-US" sz="780" dirty="0"/>
          </a:p>
        </p:txBody>
      </p:sp>
      <p:sp>
        <p:nvSpPr>
          <p:cNvPr id="23" name="Shape 16"/>
          <p:cNvSpPr/>
          <p:nvPr/>
        </p:nvSpPr>
        <p:spPr>
          <a:xfrm>
            <a:off x="642938" y="3505795"/>
            <a:ext cx="7858125" cy="1209749"/>
          </a:xfrm>
          <a:prstGeom prst="rect">
            <a:avLst/>
          </a:prstGeom>
          <a:solidFill>
            <a:srgbClr val="F97316">
              <a:alpha val="5000"/>
            </a:srgbClr>
          </a:solidFill>
          <a:ln w="18288">
            <a:solidFill>
              <a:srgbClr val="F9731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57250" y="3720108"/>
            <a:ext cx="7429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FFFFF"/>
                </a:solidFill>
              </a:rPr>
              <a:t>Biztonság az Első Naptól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1357313" y="4061222"/>
            <a:ext cx="6429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Az IoT biztonság nem egy utólagos kiegészítő, hanem a rendszer alapköve. Rendszerüzemeltetőként az Ön felelőssége, hogy a "Security by Design" elvét követve védje a hálózatot és a felhasználók adatait.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2158194" y="4901282"/>
            <a:ext cx="48276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4B5563"/>
                </a:solidFill>
              </a:rPr>
              <a:t>SECURITY_LEVEL: MAXIMUM // THREAT_STATUS: MITIGATED // INTEGRITY: SECURE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2026-01-09T18:12:42Z</dcterms:created>
  <dcterms:modified xsi:type="dcterms:W3CDTF">2026-01-09T18:12:42Z</dcterms:modified>
</cp:coreProperties>
</file>