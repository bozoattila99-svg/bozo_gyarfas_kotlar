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86285" y="700088"/>
            <a:ext cx="5371430" cy="3743325"/>
          </a:xfrm>
          <a:prstGeom prst="rect">
            <a:avLst/>
          </a:prstGeom>
          <a:solidFill>
            <a:srgbClr val="0B0E14">
              <a:alpha val="90000"/>
            </a:srgbClr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253728"/>
            <a:ext cx="571500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72072" y="2135981"/>
            <a:ext cx="4199855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00FF41"/>
                </a:solidFill>
              </a:rPr>
              <a:t>Arduino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2472072" y="2902148"/>
            <a:ext cx="419985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A8E8"/>
                </a:solidFill>
              </a:rPr>
              <a:t>Mikrokontrolleres érzékelés és vezérlés</a:t>
            </a:r>
            <a:endParaRPr lang="en-US" sz="1704" dirty="0"/>
          </a:p>
        </p:txBody>
      </p:sp>
      <p:sp>
        <p:nvSpPr>
          <p:cNvPr id="7" name="Text 3"/>
          <p:cNvSpPr/>
          <p:nvPr/>
        </p:nvSpPr>
        <p:spPr>
          <a:xfrm>
            <a:off x="2472072" y="3500438"/>
            <a:ext cx="4199855" cy="5000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</a:rPr>
              <a:t>Informatikai technikus vizsgafelkészítő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</a:rPr>
              <a:t> Témakör 02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99169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Mi az az Arduino?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02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175022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834" y="1230511"/>
            <a:ext cx="39683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</a:rPr>
              <a:t>Nyílt Forráskód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960834" y="1535906"/>
            <a:ext cx="39683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Hardver és szoftver tervek szabadon elérhetőek, módosíthatóak és terjeszthetőek.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45971"/>
            <a:ext cx="225028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0841" y="2110253"/>
            <a:ext cx="39183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</a:rPr>
              <a:t>Egyszerű Használat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1010841" y="2415648"/>
            <a:ext cx="39183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Kezdők számára is könnyen tanulható C++ alapú környezet (Arduino IDE).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25713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5844" y="2989994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E8"/>
                </a:solidFill>
              </a:rPr>
              <a:t>Platformfüggetlen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1035844" y="3295390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Windows, macOS és Linux rendszereken is azonos módon működik.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438" y="1544836"/>
            <a:ext cx="285750" cy="285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47284" y="1866305"/>
            <a:ext cx="4500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HARDVER</a:t>
            </a:r>
            <a:endParaRPr lang="en-US" sz="727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691" y="2430661"/>
            <a:ext cx="357188" cy="285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35006" y="2752130"/>
            <a:ext cx="4745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SZOFTVER</a:t>
            </a:r>
            <a:endParaRPr lang="en-US" sz="727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691" y="3316486"/>
            <a:ext cx="357188" cy="2857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17509" y="3637955"/>
            <a:ext cx="5095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KÖZÖSSÉG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67460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Arduino Hardver Felépítése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03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159073"/>
            <a:ext cx="7858125" cy="3571875"/>
          </a:xfrm>
          <a:prstGeom prst="rect">
            <a:avLst/>
          </a:prstGeom>
          <a:solidFill>
            <a:srgbClr val="00A8E8">
              <a:alpha val="2000"/>
            </a:srgbClr>
          </a:solidFill>
          <a:ln w="9144">
            <a:solidFill>
              <a:srgbClr val="00A8E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786063" y="1873448"/>
            <a:ext cx="3571875" cy="2143125"/>
          </a:xfrm>
          <a:prstGeom prst="rect">
            <a:avLst/>
          </a:prstGeom>
          <a:solidFill>
            <a:srgbClr val="00FF41">
              <a:alpha val="5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29063" y="2730698"/>
            <a:ext cx="1285875" cy="428625"/>
          </a:xfrm>
          <a:prstGeom prst="rect">
            <a:avLst/>
          </a:prstGeom>
          <a:solidFill>
            <a:srgbClr val="0B0E14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29063" y="2730698"/>
            <a:ext cx="1285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ATmega328P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1714500" y="1516261"/>
            <a:ext cx="985391" cy="241102"/>
          </a:xfrm>
          <a:prstGeom prst="rect">
            <a:avLst/>
          </a:prstGeom>
          <a:solidFill>
            <a:srgbClr val="0B0E14"/>
          </a:solidFill>
          <a:ln w="9144">
            <a:solidFill>
              <a:srgbClr val="00A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4500" y="1516261"/>
            <a:ext cx="985391" cy="241102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A8E8"/>
                </a:solidFill>
              </a:rPr>
              <a:t>USB Csatlakozó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1714500" y="4132659"/>
            <a:ext cx="1306357" cy="241102"/>
          </a:xfrm>
          <a:prstGeom prst="rect">
            <a:avLst/>
          </a:prstGeom>
          <a:solidFill>
            <a:srgbClr val="0B0E14"/>
          </a:solidFill>
          <a:ln w="9144">
            <a:solidFill>
              <a:srgbClr val="00A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14500" y="4132659"/>
            <a:ext cx="1306357" cy="241102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A8E8"/>
                </a:solidFill>
              </a:rPr>
              <a:t>Tápcsatlakozó (7-12V)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214813" y="1516261"/>
            <a:ext cx="1120508" cy="241102"/>
          </a:xfrm>
          <a:prstGeom prst="rect">
            <a:avLst/>
          </a:prstGeom>
          <a:solidFill>
            <a:srgbClr val="0B0E14"/>
          </a:solidFill>
          <a:ln w="9144">
            <a:solidFill>
              <a:srgbClr val="00A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14813" y="1516261"/>
            <a:ext cx="1120508" cy="241102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A8E8"/>
                </a:solidFill>
              </a:rPr>
              <a:t>Digitális I/O (0-13)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4214813" y="4132659"/>
            <a:ext cx="1587531" cy="241102"/>
          </a:xfrm>
          <a:prstGeom prst="rect">
            <a:avLst/>
          </a:prstGeom>
          <a:solidFill>
            <a:srgbClr val="0B0E14"/>
          </a:solidFill>
          <a:ln w="9144">
            <a:solidFill>
              <a:srgbClr val="00A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14813" y="4132659"/>
            <a:ext cx="1587531" cy="241102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A8E8"/>
                </a:solidFill>
              </a:rPr>
              <a:t>Analóg Bemenetek (A0-A5)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6794432" y="2802136"/>
            <a:ext cx="992256" cy="241102"/>
          </a:xfrm>
          <a:prstGeom prst="rect">
            <a:avLst/>
          </a:prstGeom>
          <a:solidFill>
            <a:srgbClr val="0B0E14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94432" y="2802136"/>
            <a:ext cx="992256" cy="241102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Mikrokontroller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6472238" y="3773686"/>
            <a:ext cx="1557338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00FF41"/>
                </a:solidFill>
              </a:rPr>
              <a:t>Műszaki Adatok: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6472238" y="3991208"/>
            <a:ext cx="8788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- Üzemi feszültség: 5V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6472238" y="4128362"/>
            <a:ext cx="9214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- Flash memória: 32 KB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6472238" y="4265516"/>
            <a:ext cx="508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- SRAM: 2 KB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6472238" y="4402671"/>
            <a:ext cx="6205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- EEPROM: 1 KB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6472238" y="4539825"/>
            <a:ext cx="6384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- Órajel: 16 MHz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8084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Digitális és Analóg I/O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04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937867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81435"/>
            <a:ext cx="225028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9434" y="1444823"/>
            <a:ext cx="110616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FF41"/>
                </a:solidFill>
              </a:rPr>
              <a:t>Digitális I/O</a:t>
            </a:r>
            <a:endParaRPr lang="en-US" sz="1486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10966"/>
            <a:ext cx="6429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8700" y="1975247"/>
            <a:ext cx="22311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Két állapot: HIGH (5V) vagy LOW (0V).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93144"/>
            <a:ext cx="64294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8700" y="2257425"/>
            <a:ext cx="22525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Bemenet: Kapcsolók, nyomógombok.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575322"/>
            <a:ext cx="64294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8700" y="2539603"/>
            <a:ext cx="19828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Kimenet: LED-ek, relék vezérlése.</a:t>
            </a:r>
            <a:endParaRPr lang="en-US" sz="942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857500"/>
            <a:ext cx="64294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28700" y="2821781"/>
            <a:ext cx="29307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PWM: "Ál-analóg" kimenet (fényerő szabályozás).</a:t>
            </a:r>
            <a:endParaRPr lang="en-US" sz="942" dirty="0"/>
          </a:p>
        </p:txBody>
      </p:sp>
      <p:sp>
        <p:nvSpPr>
          <p:cNvPr id="18" name="Shape 10"/>
          <p:cNvSpPr/>
          <p:nvPr/>
        </p:nvSpPr>
        <p:spPr>
          <a:xfrm>
            <a:off x="857250" y="3211116"/>
            <a:ext cx="3343275" cy="71437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191583" y="3425428"/>
            <a:ext cx="2674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2706030" y="3695105"/>
            <a:ext cx="1423057" cy="158948"/>
          </a:xfrm>
          <a:prstGeom prst="rect">
            <a:avLst/>
          </a:prstGeom>
          <a:noFill/>
          <a:ln/>
        </p:spPr>
        <p:txBody>
          <a:bodyPr wrap="square" lIns="42545" tIns="17018" rIns="42545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D700"/>
                </a:solidFill>
              </a:rPr>
              <a:t>PWM Támogatás: 3, 5, 6, 9, 10, 11</a:t>
            </a:r>
            <a:endParaRPr lang="en-US" sz="621" dirty="0"/>
          </a:p>
        </p:txBody>
      </p:sp>
      <p:sp>
        <p:nvSpPr>
          <p:cNvPr id="21" name="Shape 13"/>
          <p:cNvSpPr/>
          <p:nvPr/>
        </p:nvSpPr>
        <p:spPr>
          <a:xfrm>
            <a:off x="4700588" y="1230511"/>
            <a:ext cx="3800475" cy="2937867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1205871" y="3261122"/>
            <a:ext cx="3927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</a:rPr>
              <a:t>HIGH (5V)</a:t>
            </a:r>
            <a:endParaRPr lang="en-US" sz="621" dirty="0"/>
          </a:p>
        </p:txBody>
      </p:sp>
      <p:sp>
        <p:nvSpPr>
          <p:cNvPr id="23" name="Text 15"/>
          <p:cNvSpPr/>
          <p:nvPr/>
        </p:nvSpPr>
        <p:spPr>
          <a:xfrm>
            <a:off x="1205871" y="3759398"/>
            <a:ext cx="3632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</a:rPr>
              <a:t>LOW (0V)</a:t>
            </a:r>
            <a:endParaRPr lang="en-US" sz="621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481435"/>
            <a:ext cx="250031" cy="20002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86375" y="1444823"/>
            <a:ext cx="15626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FF41"/>
                </a:solidFill>
              </a:rPr>
              <a:t>Analóg Bemenet</a:t>
            </a:r>
            <a:endParaRPr lang="en-US" sz="1486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010966"/>
            <a:ext cx="64294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00638" y="1975247"/>
            <a:ext cx="22190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Folytonos jelszintek mérése (0V - 5V).</a:t>
            </a:r>
            <a:endParaRPr lang="en-US" sz="942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2293144"/>
            <a:ext cx="64294" cy="1285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00638" y="2257425"/>
            <a:ext cx="22326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10-bites ADC: 0 és 1023 közötti érték.</a:t>
            </a:r>
            <a:endParaRPr lang="en-US" sz="942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575322"/>
            <a:ext cx="64294" cy="12858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00638" y="2539603"/>
            <a:ext cx="20601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Felbontás: ~4.9 mV egységenként.</a:t>
            </a:r>
            <a:endParaRPr lang="en-US" sz="942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2857500"/>
            <a:ext cx="64294" cy="12858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00638" y="2821781"/>
            <a:ext cx="21484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Példa: Potenciométer, fényérzékelő.</a:t>
            </a:r>
            <a:endParaRPr lang="en-US" sz="942" dirty="0"/>
          </a:p>
        </p:txBody>
      </p:sp>
      <p:sp>
        <p:nvSpPr>
          <p:cNvPr id="34" name="Shape 21"/>
          <p:cNvSpPr/>
          <p:nvPr/>
        </p:nvSpPr>
        <p:spPr>
          <a:xfrm>
            <a:off x="4929188" y="3211116"/>
            <a:ext cx="3357563" cy="714375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22"/>
          <p:cNvSpPr/>
          <p:nvPr/>
        </p:nvSpPr>
        <p:spPr>
          <a:xfrm rot="-1200000">
            <a:off x="5264944" y="3561159"/>
            <a:ext cx="2686050" cy="1428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6" name="Text 23"/>
          <p:cNvSpPr/>
          <p:nvPr/>
        </p:nvSpPr>
        <p:spPr>
          <a:xfrm rot="-1200000">
            <a:off x="5264944" y="3561159"/>
            <a:ext cx="2686050" cy="1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7" name="Text 24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1</a:t>
            </a:r>
            <a:endParaRPr lang="en-US" sz="621" dirty="0"/>
          </a:p>
        </p:txBody>
      </p:sp>
      <p:sp>
        <p:nvSpPr>
          <p:cNvPr id="38" name="Text 25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0</a:t>
            </a:r>
            <a:endParaRPr lang="en-US" sz="621" dirty="0"/>
          </a:p>
        </p:txBody>
      </p:sp>
      <p:sp>
        <p:nvSpPr>
          <p:cNvPr id="39" name="Text 26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2</a:t>
            </a:r>
            <a:endParaRPr lang="en-US" sz="621" dirty="0"/>
          </a:p>
        </p:txBody>
      </p:sp>
      <p:sp>
        <p:nvSpPr>
          <p:cNvPr id="40" name="Text 27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3</a:t>
            </a:r>
            <a:endParaRPr lang="en-US" sz="621" dirty="0"/>
          </a:p>
        </p:txBody>
      </p:sp>
      <p:sp>
        <p:nvSpPr>
          <p:cNvPr id="41" name="Text 28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42" name="Text 29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(</a:t>
            </a:r>
            <a:endParaRPr lang="en-US" sz="621" dirty="0"/>
          </a:p>
        </p:txBody>
      </p:sp>
      <p:sp>
        <p:nvSpPr>
          <p:cNvPr id="43" name="Text 30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5</a:t>
            </a:r>
            <a:endParaRPr lang="en-US" sz="621" dirty="0"/>
          </a:p>
        </p:txBody>
      </p:sp>
      <p:sp>
        <p:nvSpPr>
          <p:cNvPr id="44" name="Text 31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V</a:t>
            </a:r>
            <a:endParaRPr lang="en-US" sz="621" dirty="0"/>
          </a:p>
        </p:txBody>
      </p:sp>
      <p:sp>
        <p:nvSpPr>
          <p:cNvPr id="45" name="Text 32"/>
          <p:cNvSpPr/>
          <p:nvPr/>
        </p:nvSpPr>
        <p:spPr>
          <a:xfrm>
            <a:off x="7438413" y="2979729"/>
            <a:ext cx="387727" cy="23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)</a:t>
            </a:r>
            <a:endParaRPr lang="en-US" sz="621" dirty="0"/>
          </a:p>
        </p:txBody>
      </p:sp>
      <p:sp>
        <p:nvSpPr>
          <p:cNvPr id="46" name="Text 33"/>
          <p:cNvSpPr/>
          <p:nvPr/>
        </p:nvSpPr>
        <p:spPr>
          <a:xfrm>
            <a:off x="5357544" y="3983178"/>
            <a:ext cx="249483" cy="18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0</a:t>
            </a:r>
            <a:endParaRPr lang="en-US" sz="621" dirty="0"/>
          </a:p>
        </p:txBody>
      </p:sp>
      <p:sp>
        <p:nvSpPr>
          <p:cNvPr id="47" name="Text 34"/>
          <p:cNvSpPr/>
          <p:nvPr/>
        </p:nvSpPr>
        <p:spPr>
          <a:xfrm>
            <a:off x="5357544" y="3983178"/>
            <a:ext cx="249483" cy="18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48" name="Text 35"/>
          <p:cNvSpPr/>
          <p:nvPr/>
        </p:nvSpPr>
        <p:spPr>
          <a:xfrm>
            <a:off x="5357544" y="3983178"/>
            <a:ext cx="249483" cy="18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(</a:t>
            </a:r>
            <a:endParaRPr lang="en-US" sz="621" dirty="0"/>
          </a:p>
        </p:txBody>
      </p:sp>
      <p:sp>
        <p:nvSpPr>
          <p:cNvPr id="49" name="Text 36"/>
          <p:cNvSpPr/>
          <p:nvPr/>
        </p:nvSpPr>
        <p:spPr>
          <a:xfrm>
            <a:off x="5357544" y="3983178"/>
            <a:ext cx="249483" cy="18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0</a:t>
            </a:r>
            <a:endParaRPr lang="en-US" sz="621" dirty="0"/>
          </a:p>
        </p:txBody>
      </p:sp>
      <p:sp>
        <p:nvSpPr>
          <p:cNvPr id="50" name="Text 37"/>
          <p:cNvSpPr/>
          <p:nvPr/>
        </p:nvSpPr>
        <p:spPr>
          <a:xfrm>
            <a:off x="5357544" y="3983178"/>
            <a:ext cx="249483" cy="18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V</a:t>
            </a:r>
            <a:endParaRPr lang="en-US" sz="621" dirty="0"/>
          </a:p>
        </p:txBody>
      </p:sp>
      <p:sp>
        <p:nvSpPr>
          <p:cNvPr id="51" name="Text 38"/>
          <p:cNvSpPr/>
          <p:nvPr/>
        </p:nvSpPr>
        <p:spPr>
          <a:xfrm>
            <a:off x="5357544" y="3983178"/>
            <a:ext cx="249483" cy="18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)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31845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Szenzorok és Aktuátorok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05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42938" y="1230511"/>
            <a:ext cx="37147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Bemenetek (Szenzorok)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642938" y="1678781"/>
            <a:ext cx="3714750" cy="666155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67" y="1877913"/>
            <a:ext cx="160734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8750" y="1821656"/>
            <a:ext cx="24139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DHT11 / DHT22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1428750" y="2052042"/>
            <a:ext cx="24139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Hőmérséklet és páratartalom mérése digitális jellel.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642938" y="2473523"/>
            <a:ext cx="3714750" cy="666155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67" y="2672655"/>
            <a:ext cx="160734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28750" y="2616398"/>
            <a:ext cx="2205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PIR Szenzor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1428750" y="2846784"/>
            <a:ext cx="2205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Infravörös mozgásérzékelés (digitális kimenet).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642938" y="3268266"/>
            <a:ext cx="3714750" cy="666155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73" y="3467398"/>
            <a:ext cx="289322" cy="257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28750" y="3411141"/>
            <a:ext cx="25327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HC-SR04 Ultrahang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1428750" y="3641527"/>
            <a:ext cx="25327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Távolságmérés hanghullámok visszaverődése alapján.</a:t>
            </a:r>
            <a:endParaRPr lang="en-US" sz="727" dirty="0"/>
          </a:p>
        </p:txBody>
      </p:sp>
      <p:sp>
        <p:nvSpPr>
          <p:cNvPr id="20" name="Text 14"/>
          <p:cNvSpPr/>
          <p:nvPr/>
        </p:nvSpPr>
        <p:spPr>
          <a:xfrm>
            <a:off x="4786313" y="1230511"/>
            <a:ext cx="37147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Kimenetek (Aktuátorok)</a:t>
            </a:r>
            <a:endParaRPr lang="en-US" sz="1269" dirty="0"/>
          </a:p>
        </p:txBody>
      </p:sp>
      <p:sp>
        <p:nvSpPr>
          <p:cNvPr id="21" name="Shape 15"/>
          <p:cNvSpPr/>
          <p:nvPr/>
        </p:nvSpPr>
        <p:spPr>
          <a:xfrm>
            <a:off x="4786313" y="1678781"/>
            <a:ext cx="3714750" cy="666155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548" y="1877913"/>
            <a:ext cx="289322" cy="2571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72125" y="1821656"/>
            <a:ext cx="22567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Relé Modul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5572125" y="2052042"/>
            <a:ext cx="22567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Nagyfeszültségű eszközök (pl. 230V) kapcsolása.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4786313" y="2473523"/>
            <a:ext cx="3714750" cy="666155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5622" y="2672655"/>
            <a:ext cx="257175" cy="2571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2125" y="2616398"/>
            <a:ext cx="19920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Szervómotor</a:t>
            </a:r>
            <a:endParaRPr lang="en-US" sz="987" dirty="0"/>
          </a:p>
        </p:txBody>
      </p:sp>
      <p:sp>
        <p:nvSpPr>
          <p:cNvPr id="28" name="Text 20"/>
          <p:cNvSpPr/>
          <p:nvPr/>
        </p:nvSpPr>
        <p:spPr>
          <a:xfrm>
            <a:off x="5572125" y="2846784"/>
            <a:ext cx="19920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Precíz szögelfordulás vezérlése PWM jellel.</a:t>
            </a:r>
            <a:endParaRPr lang="en-US" sz="727" dirty="0"/>
          </a:p>
        </p:txBody>
      </p:sp>
      <p:sp>
        <p:nvSpPr>
          <p:cNvPr id="29" name="Shape 21"/>
          <p:cNvSpPr/>
          <p:nvPr/>
        </p:nvSpPr>
        <p:spPr>
          <a:xfrm>
            <a:off x="4786313" y="3268266"/>
            <a:ext cx="3714750" cy="666155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75" y="3467398"/>
            <a:ext cx="321469" cy="2571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72125" y="3411141"/>
            <a:ext cx="20938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Buzzer / LED</a:t>
            </a:r>
            <a:endParaRPr lang="en-US" sz="987" dirty="0"/>
          </a:p>
        </p:txBody>
      </p:sp>
      <p:sp>
        <p:nvSpPr>
          <p:cNvPr id="32" name="Text 23"/>
          <p:cNvSpPr/>
          <p:nvPr/>
        </p:nvSpPr>
        <p:spPr>
          <a:xfrm>
            <a:off x="5572125" y="3641527"/>
            <a:ext cx="20938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Fény- és hangjelzések állapotvisszajelzéshez.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24616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Arduino Programozás (Sketch)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06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4143375" cy="3221831"/>
          </a:xfrm>
          <a:prstGeom prst="rect">
            <a:avLst/>
          </a:prstGeom>
          <a:solidFill>
            <a:srgbClr val="1A1E26"/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2938" y="1230511"/>
            <a:ext cx="4143375" cy="207169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" name="Text 6"/>
          <p:cNvSpPr/>
          <p:nvPr/>
        </p:nvSpPr>
        <p:spPr>
          <a:xfrm>
            <a:off x="750094" y="1266230"/>
            <a:ext cx="4425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B0E14"/>
                </a:solidFill>
              </a:rPr>
              <a:t>Blink.ino</a:t>
            </a:r>
            <a:endParaRPr lang="en-US" sz="683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141" y="1266230"/>
            <a:ext cx="125016" cy="1357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938" y="1437680"/>
            <a:ext cx="4143375" cy="298608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569CD6"/>
                </a:solidFill>
              </a:rPr>
              <a:t>#include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&lt;Arduino.h&gt;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586C0"/>
                </a:solidFill>
              </a:rPr>
              <a:t>void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setup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() {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// Egyszer fut le az elején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pinMode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5CEA8"/>
                </a:solidFill>
              </a:rPr>
              <a:t>13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, OUTPUT);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}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586C0"/>
                </a:solidFill>
              </a:rPr>
              <a:t>void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loop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() {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A9955"/>
                </a:solidFill>
              </a:rPr>
              <a:t>// Végtelen ciklusban fut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digitalWrite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5CEA8"/>
                </a:solidFill>
              </a:rPr>
              <a:t>13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, HIGH);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delay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5CEA8"/>
                </a:solidFill>
              </a:rPr>
              <a:t>1000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);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digitalWrite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5CEA8"/>
                </a:solidFill>
              </a:rPr>
              <a:t>13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, LOW);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CDCAA"/>
                </a:solidFill>
              </a:rPr>
              <a:t>delay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B5CEA8"/>
                </a:solidFill>
              </a:rPr>
              <a:t>1000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);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D4D4D4"/>
                </a:solidFill>
              </a:rPr>
              <a:t> }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5236369" y="1230511"/>
            <a:ext cx="32646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</a:rPr>
              <a:t>setup() függvény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5236369" y="1535906"/>
            <a:ext cx="32646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Az inicializáláshoz használjuk. Itt állítjuk be a pinek módját, indítjuk el a soros kommunikációt vagy a könyvtárakat.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5236369" y="2325988"/>
            <a:ext cx="32646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</a:rPr>
              <a:t>loop() függvény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5236369" y="2631384"/>
            <a:ext cx="32646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 program törzse, amely folyamatosan ismétlődik. Itt történik a szenzorok olvasása és a beavatkozók vezérlése.</a:t>
            </a:r>
            <a:endParaRPr lang="en-US" sz="942" dirty="0"/>
          </a:p>
        </p:txBody>
      </p:sp>
      <p:sp>
        <p:nvSpPr>
          <p:cNvPr id="16" name="Shape 12"/>
          <p:cNvSpPr/>
          <p:nvPr/>
        </p:nvSpPr>
        <p:spPr>
          <a:xfrm>
            <a:off x="5072063" y="3421466"/>
            <a:ext cx="3429000" cy="730448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00A8E8"/>
            </a:solidFill>
            <a:prstDash val="dash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9" y="3550053"/>
            <a:ext cx="100013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80388" y="3528622"/>
            <a:ext cx="13013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Könyvtárak (Libraries):</a:t>
            </a:r>
            <a:endParaRPr lang="en-US" sz="784" dirty="0"/>
          </a:p>
        </p:txBody>
      </p:sp>
      <p:sp>
        <p:nvSpPr>
          <p:cNvPr id="19" name="Text 14"/>
          <p:cNvSpPr/>
          <p:nvPr/>
        </p:nvSpPr>
        <p:spPr>
          <a:xfrm>
            <a:off x="5179219" y="3719717"/>
            <a:ext cx="32146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9CFF0"/>
                </a:solidFill>
              </a:rPr>
              <a:t>Előre megírt kódrészletek komplex hardverek (pl. kijelzők, Wi-Fi) egyszerű kezeléséhez.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00163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Kommunikációs Protokollok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07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2476481" cy="3500438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95425" y="1159073"/>
            <a:ext cx="142875" cy="142875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9" name="Text 6"/>
          <p:cNvSpPr/>
          <p:nvPr/>
        </p:nvSpPr>
        <p:spPr>
          <a:xfrm>
            <a:off x="1591075" y="1444823"/>
            <a:ext cx="5802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</a:rPr>
              <a:t>UART</a:t>
            </a:r>
            <a:endParaRPr lang="en-US" sz="170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28" y="1900238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250" y="2421731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TÍPUS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857250" y="2566392"/>
            <a:ext cx="8884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Aszinkron, Soros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857250" y="2893219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VEZETÉKEK</a:t>
            </a:r>
            <a:endParaRPr lang="en-US" sz="621" dirty="0"/>
          </a:p>
        </p:txBody>
      </p:sp>
      <p:sp>
        <p:nvSpPr>
          <p:cNvPr id="14" name="Shape 10"/>
          <p:cNvSpPr/>
          <p:nvPr/>
        </p:nvSpPr>
        <p:spPr>
          <a:xfrm>
            <a:off x="857250" y="3073598"/>
            <a:ext cx="199495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" name="Text 11"/>
          <p:cNvSpPr/>
          <p:nvPr/>
        </p:nvSpPr>
        <p:spPr>
          <a:xfrm>
            <a:off x="857250" y="3073598"/>
            <a:ext cx="199495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RX</a:t>
            </a:r>
            <a:endParaRPr lang="en-US" sz="584" dirty="0"/>
          </a:p>
        </p:txBody>
      </p:sp>
      <p:sp>
        <p:nvSpPr>
          <p:cNvPr id="16" name="Shape 12"/>
          <p:cNvSpPr/>
          <p:nvPr/>
        </p:nvSpPr>
        <p:spPr>
          <a:xfrm>
            <a:off x="1122183" y="3073598"/>
            <a:ext cx="192546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7" name="Text 13"/>
          <p:cNvSpPr/>
          <p:nvPr/>
        </p:nvSpPr>
        <p:spPr>
          <a:xfrm>
            <a:off x="1122183" y="3073598"/>
            <a:ext cx="19254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TX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857250" y="3389709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JELLEMZŐ</a:t>
            </a:r>
            <a:endParaRPr lang="en-US" sz="621" dirty="0"/>
          </a:p>
        </p:txBody>
      </p:sp>
      <p:sp>
        <p:nvSpPr>
          <p:cNvPr id="19" name="Text 15"/>
          <p:cNvSpPr/>
          <p:nvPr/>
        </p:nvSpPr>
        <p:spPr>
          <a:xfrm>
            <a:off x="857250" y="3534370"/>
            <a:ext cx="174927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Pont-pont kapcsolat, nincs órajel vezeték.</a:t>
            </a:r>
            <a:endParaRPr lang="en-US" sz="834" dirty="0"/>
          </a:p>
        </p:txBody>
      </p:sp>
      <p:sp>
        <p:nvSpPr>
          <p:cNvPr id="20" name="Text 16"/>
          <p:cNvSpPr/>
          <p:nvPr/>
        </p:nvSpPr>
        <p:spPr>
          <a:xfrm>
            <a:off x="857250" y="4016573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HASZNÁLAT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857250" y="4161234"/>
            <a:ext cx="1492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PC kapcsolat, GPS modulok.</a:t>
            </a:r>
            <a:endParaRPr lang="en-US" sz="834" dirty="0"/>
          </a:p>
        </p:txBody>
      </p:sp>
      <p:sp>
        <p:nvSpPr>
          <p:cNvPr id="22" name="Shape 18"/>
          <p:cNvSpPr/>
          <p:nvPr/>
        </p:nvSpPr>
        <p:spPr>
          <a:xfrm>
            <a:off x="3333731" y="1230511"/>
            <a:ext cx="2476509" cy="3471863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86219" y="1159073"/>
            <a:ext cx="142875" cy="142875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24" name="Text 20"/>
          <p:cNvSpPr/>
          <p:nvPr/>
        </p:nvSpPr>
        <p:spPr>
          <a:xfrm>
            <a:off x="4395611" y="1444823"/>
            <a:ext cx="35275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</a:rPr>
              <a:t>I2C</a:t>
            </a:r>
            <a:endParaRPr lang="en-US" sz="1704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60" y="1900238"/>
            <a:ext cx="428625" cy="3429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548044" y="2421731"/>
            <a:ext cx="20478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TÍPUS</a:t>
            </a:r>
            <a:endParaRPr lang="en-US" sz="621" dirty="0"/>
          </a:p>
        </p:txBody>
      </p:sp>
      <p:sp>
        <p:nvSpPr>
          <p:cNvPr id="27" name="Text 22"/>
          <p:cNvSpPr/>
          <p:nvPr/>
        </p:nvSpPr>
        <p:spPr>
          <a:xfrm>
            <a:off x="3548044" y="2566392"/>
            <a:ext cx="1104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Szinkron, Busz alapú</a:t>
            </a:r>
            <a:endParaRPr lang="en-US" sz="834" dirty="0"/>
          </a:p>
        </p:txBody>
      </p:sp>
      <p:sp>
        <p:nvSpPr>
          <p:cNvPr id="28" name="Text 23"/>
          <p:cNvSpPr/>
          <p:nvPr/>
        </p:nvSpPr>
        <p:spPr>
          <a:xfrm>
            <a:off x="3548044" y="2893219"/>
            <a:ext cx="20478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VEZETÉKEK</a:t>
            </a:r>
            <a:endParaRPr lang="en-US" sz="621" dirty="0"/>
          </a:p>
        </p:txBody>
      </p:sp>
      <p:sp>
        <p:nvSpPr>
          <p:cNvPr id="29" name="Shape 24"/>
          <p:cNvSpPr/>
          <p:nvPr/>
        </p:nvSpPr>
        <p:spPr>
          <a:xfrm>
            <a:off x="3548044" y="3073598"/>
            <a:ext cx="253854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0" name="Text 25"/>
          <p:cNvSpPr/>
          <p:nvPr/>
        </p:nvSpPr>
        <p:spPr>
          <a:xfrm>
            <a:off x="3548044" y="3073598"/>
            <a:ext cx="253854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SDA</a:t>
            </a:r>
            <a:endParaRPr lang="en-US" sz="584" dirty="0"/>
          </a:p>
        </p:txBody>
      </p:sp>
      <p:sp>
        <p:nvSpPr>
          <p:cNvPr id="31" name="Shape 26"/>
          <p:cNvSpPr/>
          <p:nvPr/>
        </p:nvSpPr>
        <p:spPr>
          <a:xfrm>
            <a:off x="3867336" y="3073598"/>
            <a:ext cx="236023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2" name="Text 27"/>
          <p:cNvSpPr/>
          <p:nvPr/>
        </p:nvSpPr>
        <p:spPr>
          <a:xfrm>
            <a:off x="3867336" y="3073598"/>
            <a:ext cx="236023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SCL</a:t>
            </a:r>
            <a:endParaRPr lang="en-US" sz="584" dirty="0"/>
          </a:p>
        </p:txBody>
      </p:sp>
      <p:sp>
        <p:nvSpPr>
          <p:cNvPr id="33" name="Text 28"/>
          <p:cNvSpPr/>
          <p:nvPr/>
        </p:nvSpPr>
        <p:spPr>
          <a:xfrm>
            <a:off x="3548044" y="3389709"/>
            <a:ext cx="20478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JELLEMZŐ</a:t>
            </a:r>
            <a:endParaRPr lang="en-US" sz="621" dirty="0"/>
          </a:p>
        </p:txBody>
      </p:sp>
      <p:sp>
        <p:nvSpPr>
          <p:cNvPr id="34" name="Text 29"/>
          <p:cNvSpPr/>
          <p:nvPr/>
        </p:nvSpPr>
        <p:spPr>
          <a:xfrm>
            <a:off x="3548044" y="3534370"/>
            <a:ext cx="18483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Címezhető eszközök (akár 127 db).</a:t>
            </a:r>
            <a:endParaRPr lang="en-US" sz="834" dirty="0"/>
          </a:p>
        </p:txBody>
      </p:sp>
      <p:sp>
        <p:nvSpPr>
          <p:cNvPr id="35" name="Text 30"/>
          <p:cNvSpPr/>
          <p:nvPr/>
        </p:nvSpPr>
        <p:spPr>
          <a:xfrm>
            <a:off x="3548044" y="3861197"/>
            <a:ext cx="20478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HASZNÁLAT</a:t>
            </a:r>
            <a:endParaRPr lang="en-US" sz="621" dirty="0"/>
          </a:p>
        </p:txBody>
      </p:sp>
      <p:sp>
        <p:nvSpPr>
          <p:cNvPr id="36" name="Text 31"/>
          <p:cNvSpPr/>
          <p:nvPr/>
        </p:nvSpPr>
        <p:spPr>
          <a:xfrm>
            <a:off x="3548044" y="4005858"/>
            <a:ext cx="13642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Szenzorok, OLED kijelzők.</a:t>
            </a:r>
            <a:endParaRPr lang="en-US" sz="834" dirty="0"/>
          </a:p>
        </p:txBody>
      </p:sp>
      <p:sp>
        <p:nvSpPr>
          <p:cNvPr id="37" name="Shape 32"/>
          <p:cNvSpPr/>
          <p:nvPr/>
        </p:nvSpPr>
        <p:spPr>
          <a:xfrm>
            <a:off x="6024553" y="1230511"/>
            <a:ext cx="2476481" cy="3471863"/>
          </a:xfrm>
          <a:prstGeom prst="rect">
            <a:avLst/>
          </a:prstGeom>
          <a:solidFill>
            <a:srgbClr val="00A8E8">
              <a:alpha val="5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177041" y="1159073"/>
            <a:ext cx="142875" cy="142875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39" name="Text 34"/>
          <p:cNvSpPr/>
          <p:nvPr/>
        </p:nvSpPr>
        <p:spPr>
          <a:xfrm>
            <a:off x="7092125" y="1444823"/>
            <a:ext cx="34130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FF41"/>
                </a:solidFill>
              </a:rPr>
              <a:t>SPI</a:t>
            </a:r>
            <a:endParaRPr lang="en-US" sz="1704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206" y="1900238"/>
            <a:ext cx="257175" cy="3429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238866" y="2421731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TÍPUS</a:t>
            </a:r>
            <a:endParaRPr lang="en-US" sz="621" dirty="0"/>
          </a:p>
        </p:txBody>
      </p:sp>
      <p:sp>
        <p:nvSpPr>
          <p:cNvPr id="42" name="Text 36"/>
          <p:cNvSpPr/>
          <p:nvPr/>
        </p:nvSpPr>
        <p:spPr>
          <a:xfrm>
            <a:off x="6238866" y="2566392"/>
            <a:ext cx="14008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Szinkron, Nagy sebességű</a:t>
            </a:r>
            <a:endParaRPr lang="en-US" sz="834" dirty="0"/>
          </a:p>
        </p:txBody>
      </p:sp>
      <p:sp>
        <p:nvSpPr>
          <p:cNvPr id="43" name="Text 37"/>
          <p:cNvSpPr/>
          <p:nvPr/>
        </p:nvSpPr>
        <p:spPr>
          <a:xfrm>
            <a:off x="6238866" y="2893219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VEZETÉKEK</a:t>
            </a:r>
            <a:endParaRPr lang="en-US" sz="621" dirty="0"/>
          </a:p>
        </p:txBody>
      </p:sp>
      <p:sp>
        <p:nvSpPr>
          <p:cNvPr id="44" name="Shape 38"/>
          <p:cNvSpPr/>
          <p:nvPr/>
        </p:nvSpPr>
        <p:spPr>
          <a:xfrm>
            <a:off x="6238866" y="3073598"/>
            <a:ext cx="315385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5" name="Text 39"/>
          <p:cNvSpPr/>
          <p:nvPr/>
        </p:nvSpPr>
        <p:spPr>
          <a:xfrm>
            <a:off x="6238866" y="3073598"/>
            <a:ext cx="315385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MOSI</a:t>
            </a:r>
            <a:endParaRPr lang="en-US" sz="584" dirty="0"/>
          </a:p>
        </p:txBody>
      </p:sp>
      <p:sp>
        <p:nvSpPr>
          <p:cNvPr id="46" name="Shape 40"/>
          <p:cNvSpPr/>
          <p:nvPr/>
        </p:nvSpPr>
        <p:spPr>
          <a:xfrm>
            <a:off x="6619689" y="3073598"/>
            <a:ext cx="315385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7" name="Text 41"/>
          <p:cNvSpPr/>
          <p:nvPr/>
        </p:nvSpPr>
        <p:spPr>
          <a:xfrm>
            <a:off x="6619689" y="3073598"/>
            <a:ext cx="315385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MISO</a:t>
            </a:r>
            <a:endParaRPr lang="en-US" sz="584" dirty="0"/>
          </a:p>
        </p:txBody>
      </p:sp>
      <p:sp>
        <p:nvSpPr>
          <p:cNvPr id="48" name="Shape 42"/>
          <p:cNvSpPr/>
          <p:nvPr/>
        </p:nvSpPr>
        <p:spPr>
          <a:xfrm>
            <a:off x="7000512" y="3073598"/>
            <a:ext cx="244506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9" name="Text 43"/>
          <p:cNvSpPr/>
          <p:nvPr/>
        </p:nvSpPr>
        <p:spPr>
          <a:xfrm>
            <a:off x="7000512" y="3073598"/>
            <a:ext cx="24450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SCK</a:t>
            </a:r>
            <a:endParaRPr lang="en-US" sz="584" dirty="0"/>
          </a:p>
        </p:txBody>
      </p:sp>
      <p:sp>
        <p:nvSpPr>
          <p:cNvPr id="50" name="Shape 44"/>
          <p:cNvSpPr/>
          <p:nvPr/>
        </p:nvSpPr>
        <p:spPr>
          <a:xfrm>
            <a:off x="7310456" y="3073598"/>
            <a:ext cx="180212" cy="144661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1" name="Text 45"/>
          <p:cNvSpPr/>
          <p:nvPr/>
        </p:nvSpPr>
        <p:spPr>
          <a:xfrm>
            <a:off x="7310456" y="3073598"/>
            <a:ext cx="18021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B0E14"/>
                </a:solidFill>
              </a:rPr>
              <a:t>SS</a:t>
            </a:r>
            <a:endParaRPr lang="en-US" sz="584" dirty="0"/>
          </a:p>
        </p:txBody>
      </p:sp>
      <p:sp>
        <p:nvSpPr>
          <p:cNvPr id="52" name="Text 46"/>
          <p:cNvSpPr/>
          <p:nvPr/>
        </p:nvSpPr>
        <p:spPr>
          <a:xfrm>
            <a:off x="6238866" y="3389709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JELLEMZŐ</a:t>
            </a:r>
            <a:endParaRPr lang="en-US" sz="621" dirty="0"/>
          </a:p>
        </p:txBody>
      </p:sp>
      <p:sp>
        <p:nvSpPr>
          <p:cNvPr id="53" name="Text 47"/>
          <p:cNvSpPr/>
          <p:nvPr/>
        </p:nvSpPr>
        <p:spPr>
          <a:xfrm>
            <a:off x="6238866" y="3534370"/>
            <a:ext cx="18589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Full-duplex, Master-Slave felépítés.</a:t>
            </a:r>
            <a:endParaRPr lang="en-US" sz="834" dirty="0"/>
          </a:p>
        </p:txBody>
      </p:sp>
      <p:sp>
        <p:nvSpPr>
          <p:cNvPr id="54" name="Text 48"/>
          <p:cNvSpPr/>
          <p:nvPr/>
        </p:nvSpPr>
        <p:spPr>
          <a:xfrm>
            <a:off x="6238866" y="3861197"/>
            <a:ext cx="20478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A8E8"/>
                </a:solidFill>
              </a:rPr>
              <a:t>HASZNÁLAT</a:t>
            </a:r>
            <a:endParaRPr lang="en-US" sz="621" dirty="0"/>
          </a:p>
        </p:txBody>
      </p:sp>
      <p:sp>
        <p:nvSpPr>
          <p:cNvPr id="55" name="Text 49"/>
          <p:cNvSpPr/>
          <p:nvPr/>
        </p:nvSpPr>
        <p:spPr>
          <a:xfrm>
            <a:off x="6238866" y="4005858"/>
            <a:ext cx="12780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SD kártyák, TFT kijelzők.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34755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Arduino az IoT világában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08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571875" cy="905805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401961"/>
            <a:ext cx="15716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0131" y="1373386"/>
            <a:ext cx="12070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</a:rPr>
              <a:t>Ethernet Shield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85813" y="1659136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W5100 vagy W5500 alapú vezérlők. Megbízható, vezetékes hálózati kapcsolat, beépített SD kártya foglalattal.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642938" y="2264904"/>
            <a:ext cx="3571875" cy="905805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436354"/>
            <a:ext cx="196453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9422" y="2407779"/>
            <a:ext cx="13236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</a:rPr>
              <a:t>Wi-Fi Shield / ESP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785813" y="2693529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Vezeték nélküli szabadság. Gyakran ESP8266 modullal kombinálva a költséghatékony interneteléréshez.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642938" y="3299296"/>
            <a:ext cx="3571875" cy="905805"/>
          </a:xfrm>
          <a:prstGeom prst="rect">
            <a:avLst/>
          </a:prstGeom>
          <a:solidFill>
            <a:srgbClr val="00A8E8">
              <a:alpha val="5000"/>
            </a:srgbClr>
          </a:solidFill>
          <a:ln w="9144">
            <a:solidFill>
              <a:srgbClr val="00A8E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470746"/>
            <a:ext cx="176808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9777" y="3442171"/>
            <a:ext cx="8980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FF41"/>
                </a:solidFill>
              </a:rPr>
              <a:t>GSM / GPRS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785813" y="3727921"/>
            <a:ext cx="3286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Távoli elérés ott is, ahol nincs Wi-Fi. SMS küldés és mobiladat-kapcsolat (SIM800/SIM900).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5429800" y="1913906"/>
            <a:ext cx="2570649" cy="537437"/>
          </a:xfrm>
          <a:prstGeom prst="rect">
            <a:avLst/>
          </a:prstGeom>
          <a:solidFill>
            <a:srgbClr val="00FF41">
              <a:alpha val="10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949710" y="2102808"/>
            <a:ext cx="1530802" cy="146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IoT SHIELD (Wi-Fi / Ethernet)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8120178" y="2111911"/>
            <a:ext cx="931851" cy="127551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Hálózati Interfész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5429800" y="2628281"/>
            <a:ext cx="2570649" cy="537437"/>
          </a:xfrm>
          <a:prstGeom prst="rect">
            <a:avLst/>
          </a:prstGeom>
          <a:solidFill>
            <a:srgbClr val="00A8E8">
              <a:alpha val="10000"/>
            </a:srgbClr>
          </a:solidFill>
          <a:ln w="18288">
            <a:solidFill>
              <a:srgbClr val="00A8E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090029" y="2817183"/>
            <a:ext cx="1250164" cy="146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ARDUINO UNO / MEGA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8236817" y="2826286"/>
            <a:ext cx="815212" cy="127551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A8E8"/>
                </a:solidFill>
              </a:rPr>
              <a:t>Vezérlő Egység</a:t>
            </a:r>
            <a:endParaRPr lang="en-US" sz="727" dirty="0"/>
          </a:p>
        </p:txBody>
      </p:sp>
      <p:sp>
        <p:nvSpPr>
          <p:cNvPr id="25" name="Text 19"/>
          <p:cNvSpPr/>
          <p:nvPr/>
        </p:nvSpPr>
        <p:spPr>
          <a:xfrm>
            <a:off x="5208631" y="3611166"/>
            <a:ext cx="3712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E8"/>
                </a:solidFill>
              </a:rPr>
              <a:t>MQTT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6138769" y="3611166"/>
            <a:ext cx="752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E8"/>
                </a:solidFill>
              </a:rPr>
              <a:t>HTTP / REST</a:t>
            </a:r>
            <a:endParaRPr lang="en-US" sz="885" dirty="0"/>
          </a:p>
        </p:txBody>
      </p:sp>
      <p:sp>
        <p:nvSpPr>
          <p:cNvPr id="27" name="Text 21"/>
          <p:cNvSpPr/>
          <p:nvPr/>
        </p:nvSpPr>
        <p:spPr>
          <a:xfrm>
            <a:off x="7450429" y="3611166"/>
            <a:ext cx="7711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E8"/>
                </a:solidFill>
              </a:rPr>
              <a:t>WebSockets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01481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FF41"/>
                </a:solidFill>
              </a:rPr>
              <a:t>Összefoglalás és Vizsga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09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176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8681" y="1230511"/>
            <a:ext cx="12202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Kulcspontok</a:t>
            </a:r>
            <a:endParaRPr lang="en-US" sz="1269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757363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8681" y="1721644"/>
            <a:ext cx="34680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Az Arduino egy nyílt forráskódú mikrokontroller platform.</a:t>
            </a:r>
            <a:endParaRPr lang="en-US" sz="94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075259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8681" y="2039541"/>
            <a:ext cx="347900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Digitális és analóg I/O portok szenzorokhoz és aktuátorokhoz.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568178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8681" y="2532459"/>
            <a:ext cx="31236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C++ alapú programozás (setup és loop függvények).</a:t>
            </a:r>
            <a:endParaRPr lang="en-US" sz="942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886075"/>
            <a:ext cx="128588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78681" y="2850356"/>
            <a:ext cx="25747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Szabványos kommunikáció: UART, I2C, SPI.</a:t>
            </a:r>
            <a:endParaRPr lang="en-US" sz="942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3203972"/>
            <a:ext cx="128588" cy="128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78681" y="3168253"/>
            <a:ext cx="3310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IoT képességek kiegészítő shieldekkel (Wi-Fi, Ethernet).</a:t>
            </a:r>
            <a:endParaRPr lang="en-US" sz="942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261765"/>
            <a:ext cx="214313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07781" y="1230511"/>
            <a:ext cx="14117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A8E8"/>
                </a:solidFill>
              </a:rPr>
              <a:t>Vizsgakérdések</a:t>
            </a:r>
            <a:endParaRPr lang="en-US" sz="1269" dirty="0"/>
          </a:p>
        </p:txBody>
      </p:sp>
      <p:sp>
        <p:nvSpPr>
          <p:cNvPr id="21" name="Shape 11"/>
          <p:cNvSpPr/>
          <p:nvPr/>
        </p:nvSpPr>
        <p:spPr>
          <a:xfrm>
            <a:off x="4786313" y="1721644"/>
            <a:ext cx="3714750" cy="2001952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5057775" y="1864519"/>
            <a:ext cx="33004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E8"/>
                </a:solidFill>
              </a:rPr>
              <a:t>1. Kérdés</a:t>
            </a:r>
            <a:endParaRPr lang="en-US" sz="784" dirty="0"/>
          </a:p>
        </p:txBody>
      </p:sp>
      <p:sp>
        <p:nvSpPr>
          <p:cNvPr id="23" name="Text 13"/>
          <p:cNvSpPr/>
          <p:nvPr/>
        </p:nvSpPr>
        <p:spPr>
          <a:xfrm>
            <a:off x="5057775" y="2055614"/>
            <a:ext cx="33004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Mekkora az Arduino Uno analóg bemenetének felbontása és milyen értéktartományt ad vissza?</a:t>
            </a:r>
            <a:endParaRPr lang="en-US" sz="727" dirty="0"/>
          </a:p>
        </p:txBody>
      </p:sp>
      <p:sp>
        <p:nvSpPr>
          <p:cNvPr id="24" name="Text 14"/>
          <p:cNvSpPr/>
          <p:nvPr/>
        </p:nvSpPr>
        <p:spPr>
          <a:xfrm>
            <a:off x="5057775" y="2478491"/>
            <a:ext cx="33004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E8"/>
                </a:solidFill>
              </a:rPr>
              <a:t>2. Kérdés</a:t>
            </a:r>
            <a:endParaRPr lang="en-US" sz="784" dirty="0"/>
          </a:p>
        </p:txBody>
      </p:sp>
      <p:sp>
        <p:nvSpPr>
          <p:cNvPr id="25" name="Text 15"/>
          <p:cNvSpPr/>
          <p:nvPr/>
        </p:nvSpPr>
        <p:spPr>
          <a:xfrm>
            <a:off x="5057775" y="2669586"/>
            <a:ext cx="330041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Mire használható a PWM (Pulse Width Modulation) technika digitális kimenet esetén?</a:t>
            </a:r>
            <a:endParaRPr lang="en-US" sz="727" dirty="0"/>
          </a:p>
        </p:txBody>
      </p:sp>
      <p:sp>
        <p:nvSpPr>
          <p:cNvPr id="26" name="Text 16"/>
          <p:cNvSpPr/>
          <p:nvPr/>
        </p:nvSpPr>
        <p:spPr>
          <a:xfrm>
            <a:off x="5057775" y="3092462"/>
            <a:ext cx="33004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E8"/>
                </a:solidFill>
              </a:rPr>
              <a:t>3. Kérdés</a:t>
            </a:r>
            <a:endParaRPr lang="en-US" sz="784" dirty="0"/>
          </a:p>
        </p:txBody>
      </p:sp>
      <p:sp>
        <p:nvSpPr>
          <p:cNvPr id="27" name="Text 17"/>
          <p:cNvSpPr/>
          <p:nvPr/>
        </p:nvSpPr>
        <p:spPr>
          <a:xfrm>
            <a:off x="5057775" y="3283558"/>
            <a:ext cx="33004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Melyik kommunikációs protokoll használja az SDA és SCL vezetékeket?</a:t>
            </a:r>
            <a:endParaRPr lang="en-US" sz="727" dirty="0"/>
          </a:p>
        </p:txBody>
      </p:sp>
      <p:sp>
        <p:nvSpPr>
          <p:cNvPr id="28" name="Shape 18"/>
          <p:cNvSpPr/>
          <p:nvPr/>
        </p:nvSpPr>
        <p:spPr>
          <a:xfrm>
            <a:off x="642938" y="4659511"/>
            <a:ext cx="7858125" cy="417909"/>
          </a:xfrm>
          <a:prstGeom prst="rect">
            <a:avLst/>
          </a:prstGeom>
          <a:solidFill>
            <a:srgbClr val="00FF41">
              <a:alpha val="10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07219" y="4623792"/>
            <a:ext cx="71438" cy="7143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0" name="Text 20"/>
          <p:cNvSpPr/>
          <p:nvPr/>
        </p:nvSpPr>
        <p:spPr>
          <a:xfrm>
            <a:off x="750094" y="4766667"/>
            <a:ext cx="76438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Sikeres felkészülést az Arduino témakörhöz!</a:t>
            </a:r>
            <a:endParaRPr lang="en-US" sz="885" dirty="0"/>
          </a:p>
        </p:txBody>
      </p:sp>
      <p:sp>
        <p:nvSpPr>
          <p:cNvPr id="31" name="Shape 21"/>
          <p:cNvSpPr/>
          <p:nvPr/>
        </p:nvSpPr>
        <p:spPr>
          <a:xfrm>
            <a:off x="8436769" y="5013127"/>
            <a:ext cx="71438" cy="71438"/>
          </a:xfrm>
          <a:prstGeom prst="rect">
            <a:avLst/>
          </a:prstGeom>
          <a:solidFill>
            <a:srgbClr val="00FF4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2026-01-09T18:12:48Z</dcterms:created>
  <dcterms:modified xsi:type="dcterms:W3CDTF">2026-01-09T18:12:48Z</dcterms:modified>
</cp:coreProperties>
</file>