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47788" y="702766"/>
            <a:ext cx="5248396" cy="373796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785" y="1249263"/>
            <a:ext cx="71437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26432" y="2302966"/>
            <a:ext cx="4091108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OTA Frissítés</a:t>
            </a:r>
            <a:endParaRPr lang="en-US" sz="3294" dirty="0"/>
          </a:p>
        </p:txBody>
      </p:sp>
      <p:sp>
        <p:nvSpPr>
          <p:cNvPr id="6" name="Text 2"/>
          <p:cNvSpPr/>
          <p:nvPr/>
        </p:nvSpPr>
        <p:spPr>
          <a:xfrm>
            <a:off x="2526432" y="3069134"/>
            <a:ext cx="409110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spc="1" kern="0" dirty="0">
                <a:solidFill>
                  <a:srgbClr val="10B981"/>
                </a:solidFill>
              </a:rPr>
              <a:t>Over-the-Air technológia IoT eszközökön</a:t>
            </a:r>
            <a:endParaRPr lang="en-US" sz="1486" dirty="0"/>
          </a:p>
        </p:txBody>
      </p:sp>
      <p:sp>
        <p:nvSpPr>
          <p:cNvPr id="7" name="Text 3"/>
          <p:cNvSpPr/>
          <p:nvPr/>
        </p:nvSpPr>
        <p:spPr>
          <a:xfrm>
            <a:off x="2526432" y="3699570"/>
            <a:ext cx="4091108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spc="5" kern="0" dirty="0">
                <a:solidFill>
                  <a:srgbClr val="94A3B8"/>
                </a:solidFill>
              </a:rPr>
              <a:t>Vizsgafelkészítő // Témakör 08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264722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 az az OTA frissítés?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02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66230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5844" y="1230511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Vezeték nélküli átvitel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035844" y="1535906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A firmware frissítése Wi-Fi, Bluetooth vagy mobilhálózat segítségével történik, fizikai kábel nélkül.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181690"/>
            <a:ext cx="150019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5831" y="2145971"/>
            <a:ext cx="39933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Távoli elérés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935831" y="2451367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Lehetővé teszi a már telepített, nehezen hozzáférhető helyeken lévő eszközök karbantartását.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097150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5844" y="3061432"/>
            <a:ext cx="3893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Tömeges menedzsment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035844" y="3366827"/>
            <a:ext cx="38933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Egyszerre több ezer eszköz frissíthető egy központi szerverről, minimalizálva az emberi beavatkozást.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643563" y="1230511"/>
            <a:ext cx="2857500" cy="2857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1802011"/>
            <a:ext cx="714375" cy="5715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016" y="2516386"/>
            <a:ext cx="178594" cy="28575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3" y="2945011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59119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Miért elengedhetetlen az OTA?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03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01948"/>
            <a:ext cx="2500313" cy="244852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872" y="1516261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7510" y="2037755"/>
            <a:ext cx="8416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Biztonság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85813" y="2414588"/>
            <a:ext cx="22050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kritikus sebezhetőségek azonnali javítása.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785813" y="2900363"/>
            <a:ext cx="22050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Zero-day támadások kivédése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785813" y="3107531"/>
            <a:ext cx="22050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Biztonsági protokollok frissítése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785813" y="3314700"/>
            <a:ext cx="22050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Hitelesítési kulcsok cseréje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3312328" y="1301948"/>
            <a:ext cx="2505084" cy="24342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378" y="1516261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95365" y="2037755"/>
            <a:ext cx="11389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Karbantartás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675180" y="2414588"/>
            <a:ext cx="17793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Szoftveres hibák javítása távolról.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459947" y="2728913"/>
            <a:ext cx="22097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Bugfixek telepítése</a:t>
            </a:r>
            <a:endParaRPr lang="en-US" sz="727" dirty="0"/>
          </a:p>
        </p:txBody>
      </p:sp>
      <p:sp>
        <p:nvSpPr>
          <p:cNvPr id="19" name="Text 14"/>
          <p:cNvSpPr/>
          <p:nvPr/>
        </p:nvSpPr>
        <p:spPr>
          <a:xfrm>
            <a:off x="3459947" y="2936081"/>
            <a:ext cx="22097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Rendszerstabilitás növelése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3459947" y="3143250"/>
            <a:ext cx="22097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Költséges visszahívások elkerülése</a:t>
            </a:r>
            <a:endParaRPr lang="en-US" sz="727" dirty="0"/>
          </a:p>
        </p:txBody>
      </p:sp>
      <p:sp>
        <p:nvSpPr>
          <p:cNvPr id="21" name="Shape 16"/>
          <p:cNvSpPr/>
          <p:nvPr/>
        </p:nvSpPr>
        <p:spPr>
          <a:xfrm>
            <a:off x="5991206" y="1301948"/>
            <a:ext cx="2509828" cy="243423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456" y="1516261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29732" y="2037755"/>
            <a:ext cx="84234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Innováció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6259181" y="2414588"/>
            <a:ext cx="19834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Új funkciók hozzáadása a termékhez.</a:t>
            </a:r>
            <a:endParaRPr lang="en-US" sz="834" dirty="0"/>
          </a:p>
        </p:txBody>
      </p:sp>
      <p:sp>
        <p:nvSpPr>
          <p:cNvPr id="25" name="Text 19"/>
          <p:cNvSpPr/>
          <p:nvPr/>
        </p:nvSpPr>
        <p:spPr>
          <a:xfrm>
            <a:off x="6143625" y="2728913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Életciklus meghosszabbítása</a:t>
            </a:r>
            <a:endParaRPr lang="en-US" sz="727" dirty="0"/>
          </a:p>
        </p:txBody>
      </p:sp>
      <p:sp>
        <p:nvSpPr>
          <p:cNvPr id="26" name="Text 20"/>
          <p:cNvSpPr/>
          <p:nvPr/>
        </p:nvSpPr>
        <p:spPr>
          <a:xfrm>
            <a:off x="6143625" y="2936081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Felhasználói élmény javítása</a:t>
            </a:r>
            <a:endParaRPr lang="en-US" sz="727" dirty="0"/>
          </a:p>
        </p:txBody>
      </p:sp>
      <p:sp>
        <p:nvSpPr>
          <p:cNvPr id="27" name="Text 21"/>
          <p:cNvSpPr/>
          <p:nvPr/>
        </p:nvSpPr>
        <p:spPr>
          <a:xfrm>
            <a:off x="6143625" y="3143250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Hardver képességek jobb kihasználása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389990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Az OTA frissítés folyamata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1143000" y="1516261"/>
            <a:ext cx="714375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5781" y="1409105"/>
            <a:ext cx="214313" cy="214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140910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1</a:t>
            </a:r>
            <a:endParaRPr lang="en-US" sz="683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1730573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2007" y="2409230"/>
            <a:ext cx="7963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Ellenőrzés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642938" y="2730698"/>
            <a:ext cx="17145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Az eszköz lekérdezi a távoli szervertől az elérhető legfrissebb firmware verziót.</a:t>
            </a:r>
            <a:endParaRPr lang="en-US" sz="727" dirty="0"/>
          </a:p>
        </p:txBody>
      </p:sp>
      <p:sp>
        <p:nvSpPr>
          <p:cNvPr id="13" name="Shape 9"/>
          <p:cNvSpPr/>
          <p:nvPr/>
        </p:nvSpPr>
        <p:spPr>
          <a:xfrm>
            <a:off x="3190856" y="1516261"/>
            <a:ext cx="714375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83638" y="1409105"/>
            <a:ext cx="214313" cy="214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2583638" y="140910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2</a:t>
            </a:r>
            <a:endParaRPr lang="en-US" sz="683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69" y="1730573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30873" y="2409230"/>
            <a:ext cx="6343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Letöltés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2690794" y="2730698"/>
            <a:ext cx="17145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bináris fájl letöltése HTTP/HTTPS vagy MQTT protokollon keresztül a memóriába.</a:t>
            </a:r>
            <a:endParaRPr lang="en-US" sz="727" dirty="0"/>
          </a:p>
        </p:txBody>
      </p:sp>
      <p:sp>
        <p:nvSpPr>
          <p:cNvPr id="19" name="Shape 14"/>
          <p:cNvSpPr/>
          <p:nvPr/>
        </p:nvSpPr>
        <p:spPr>
          <a:xfrm>
            <a:off x="5238713" y="1516261"/>
            <a:ext cx="714375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31494" y="1409105"/>
            <a:ext cx="214313" cy="214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6"/>
          <p:cNvSpPr/>
          <p:nvPr/>
        </p:nvSpPr>
        <p:spPr>
          <a:xfrm>
            <a:off x="4631494" y="140910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3</a:t>
            </a:r>
            <a:endParaRPr lang="en-US" sz="683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07" y="1730573"/>
            <a:ext cx="357188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78214" y="2409230"/>
            <a:ext cx="8353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Hitelesítés</a:t>
            </a:r>
            <a:endParaRPr lang="en-US" sz="1090" dirty="0"/>
          </a:p>
        </p:txBody>
      </p:sp>
      <p:sp>
        <p:nvSpPr>
          <p:cNvPr id="24" name="Text 18"/>
          <p:cNvSpPr/>
          <p:nvPr/>
        </p:nvSpPr>
        <p:spPr>
          <a:xfrm>
            <a:off x="4738650" y="2730698"/>
            <a:ext cx="17145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Az integritás ellenőrzése (Checksum) és a digitális aláírás validálása.</a:t>
            </a:r>
            <a:endParaRPr lang="en-US" sz="727" dirty="0"/>
          </a:p>
        </p:txBody>
      </p:sp>
      <p:sp>
        <p:nvSpPr>
          <p:cNvPr id="25" name="Shape 19"/>
          <p:cNvSpPr/>
          <p:nvPr/>
        </p:nvSpPr>
        <p:spPr>
          <a:xfrm>
            <a:off x="7286569" y="1516261"/>
            <a:ext cx="714375" cy="714375"/>
          </a:xfrm>
          <a:prstGeom prst="rect">
            <a:avLst/>
          </a:prstGeom>
          <a:solidFill>
            <a:srgbClr val="FFFFFF">
              <a:alpha val="3000"/>
            </a:srgbClr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679350" y="1409105"/>
            <a:ext cx="214313" cy="214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1"/>
          <p:cNvSpPr/>
          <p:nvPr/>
        </p:nvSpPr>
        <p:spPr>
          <a:xfrm>
            <a:off x="6679350" y="140910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172A"/>
                </a:solidFill>
              </a:rPr>
              <a:t>4</a:t>
            </a:r>
            <a:endParaRPr lang="en-US" sz="683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882" y="1730573"/>
            <a:ext cx="285750" cy="2857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93573" y="2409230"/>
            <a:ext cx="7003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Telepítés</a:t>
            </a:r>
            <a:endParaRPr lang="en-US" sz="1090" dirty="0"/>
          </a:p>
        </p:txBody>
      </p:sp>
      <p:sp>
        <p:nvSpPr>
          <p:cNvPr id="30" name="Text 23"/>
          <p:cNvSpPr/>
          <p:nvPr/>
        </p:nvSpPr>
        <p:spPr>
          <a:xfrm>
            <a:off x="6786507" y="2730698"/>
            <a:ext cx="17145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firmware beírása a flash memóriába, majd az eszköz újraindítása az új kóddal.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86481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Partíciós tábla és Dual-Bank OTA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05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73386"/>
            <a:ext cx="7858125" cy="11572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5813" y="1516261"/>
            <a:ext cx="1031602" cy="857250"/>
          </a:xfrm>
          <a:prstGeom prst="rect">
            <a:avLst/>
          </a:prstGeom>
          <a:solidFill>
            <a:srgbClr val="94A3B8">
              <a:alpha val="10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7188" y="1771650"/>
            <a:ext cx="3683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System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944538" y="1943100"/>
            <a:ext cx="7136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Bootloader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1888378" y="1516261"/>
            <a:ext cx="2407053" cy="857250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90890" y="1409105"/>
            <a:ext cx="601582" cy="1268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2790890" y="1409105"/>
            <a:ext cx="601582" cy="126802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F172A"/>
                </a:solidFill>
              </a:rPr>
              <a:t>ACTIVE (v1.0)</a:t>
            </a:r>
            <a:endParaRPr lang="en-US" sz="485" dirty="0"/>
          </a:p>
        </p:txBody>
      </p:sp>
      <p:sp>
        <p:nvSpPr>
          <p:cNvPr id="14" name="Text 11"/>
          <p:cNvSpPr/>
          <p:nvPr/>
        </p:nvSpPr>
        <p:spPr>
          <a:xfrm>
            <a:off x="2789327" y="1771650"/>
            <a:ext cx="6046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Partition A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784667" y="1943100"/>
            <a:ext cx="6140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Firmware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366282" y="1516261"/>
            <a:ext cx="2407388" cy="857250"/>
          </a:xfrm>
          <a:prstGeom prst="rect">
            <a:avLst/>
          </a:prstGeom>
          <a:solidFill>
            <a:srgbClr val="8B5CF6">
              <a:alpha val="10000"/>
            </a:srgbClr>
          </a:solidFill>
          <a:ln w="18288">
            <a:solidFill>
              <a:srgbClr val="8B5CF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181381" y="1409105"/>
            <a:ext cx="777469" cy="1268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5181381" y="1409105"/>
            <a:ext cx="777469" cy="126802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OTA TARGET (v1.1)</a:t>
            </a:r>
            <a:endParaRPr lang="en-US" sz="485" dirty="0"/>
          </a:p>
        </p:txBody>
      </p:sp>
      <p:sp>
        <p:nvSpPr>
          <p:cNvPr id="19" name="Text 16"/>
          <p:cNvSpPr/>
          <p:nvPr/>
        </p:nvSpPr>
        <p:spPr>
          <a:xfrm>
            <a:off x="5267204" y="1771650"/>
            <a:ext cx="6057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Partition B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102368" y="1943100"/>
            <a:ext cx="9354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New Firmware</a:t>
            </a:r>
            <a:endParaRPr lang="en-US" sz="885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391" y="2487811"/>
            <a:ext cx="171450" cy="17145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844885" y="1516261"/>
            <a:ext cx="1513303" cy="8572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82117" y="1771650"/>
            <a:ext cx="4391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Storage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7259082" y="1943100"/>
            <a:ext cx="6852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NVS / Data</a:t>
            </a:r>
            <a:endParaRPr lang="en-US" sz="885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973586"/>
            <a:ext cx="157163" cy="15716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07256" y="2945011"/>
            <a:ext cx="14119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Fail-safe Működés</a:t>
            </a:r>
            <a:endParaRPr lang="en-US" sz="1090" dirty="0"/>
          </a:p>
        </p:txBody>
      </p:sp>
      <p:sp>
        <p:nvSpPr>
          <p:cNvPr id="27" name="Text 22"/>
          <p:cNvSpPr/>
          <p:nvPr/>
        </p:nvSpPr>
        <p:spPr>
          <a:xfrm>
            <a:off x="642938" y="3266480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A Dual-Bank módszer lényege, hogy a frissítés alatt az eszköz továbbra is működik az aktív partícióról. Ha a letöltés megszakad, a rendszer sértetlen marad.</a:t>
            </a:r>
            <a:endParaRPr lang="en-US" sz="834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973586"/>
            <a:ext cx="157163" cy="15716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979194" y="2945011"/>
            <a:ext cx="17318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Automatikus Rollback</a:t>
            </a:r>
            <a:endParaRPr lang="en-US" sz="1090" dirty="0"/>
          </a:p>
        </p:txBody>
      </p:sp>
      <p:sp>
        <p:nvSpPr>
          <p:cNvPr id="30" name="Text 24"/>
          <p:cNvSpPr/>
          <p:nvPr/>
        </p:nvSpPr>
        <p:spPr>
          <a:xfrm>
            <a:off x="4714875" y="3266480"/>
            <a:ext cx="37861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</a:rPr>
              <a:t>Ha az új firmware (v1.1) hibás és nem tud elindulni, a bootloader automatikusan visszavált az előző, működő verzióra (v1.0). Ez megakadályozza az eszköz "brickelését".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21763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OTA Biztonság és Hitelesítés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06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01948"/>
            <a:ext cx="2500313" cy="19288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41" y="1516261"/>
            <a:ext cx="385763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3262" y="2037755"/>
            <a:ext cx="12301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Aláírt Firmware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85813" y="2359223"/>
            <a:ext cx="220504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Kriptográfiai aláírás (pl. RSA, ECDSA) használata. Az eszköz csak olyan firmware-t fogad el, amelyet a gyártó privát kulcsával írtak alá.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3312328" y="1301948"/>
            <a:ext cx="2505084" cy="19288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516" y="1516261"/>
            <a:ext cx="428625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75388" y="2037755"/>
            <a:ext cx="15788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Titkosított Csatorna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3459947" y="2359223"/>
            <a:ext cx="220979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HTTPS vagy TLS protokoll használata az átvitel során. Megakadályozza a firmware lehallgatását vagy módosítását (MITM támadás).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5991206" y="1301948"/>
            <a:ext cx="2509828" cy="191452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456" y="1516261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56456" y="2037755"/>
            <a:ext cx="138887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B981"/>
                </a:solidFill>
              </a:rPr>
              <a:t>Eszköz Hitelesítés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6143625" y="2359223"/>
            <a:ext cx="221456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Az eszköznek azonosítania kell magát a szerver felé (pl. API kulcs vagy kliens tanúsítvány), mielőtt megkapná a frissítést.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642938" y="3502223"/>
            <a:ext cx="7858125" cy="610791"/>
          </a:xfrm>
          <a:prstGeom prst="rect">
            <a:avLst/>
          </a:prstGeom>
          <a:solidFill>
            <a:srgbClr val="10B981">
              <a:alpha val="5000"/>
            </a:srgbClr>
          </a:solidFill>
          <a:ln w="9144">
            <a:solidFill>
              <a:srgbClr val="10B98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714750"/>
            <a:ext cx="1714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00138" y="3645098"/>
            <a:ext cx="72580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Anti-rollback védelem: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 Megakadályozza, hogy egy támadó egy régebbi, már ismert sebezhetőséget tartalmazó firmware verziót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CBD5E1"/>
                </a:solidFill>
              </a:rPr>
              <a:t>kényszerítsen az eszközre.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97584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OTA megoldások platformonként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07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301948"/>
            <a:ext cx="2500313" cy="257710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09" y="1516261"/>
            <a:ext cx="42862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45841" y="2037755"/>
            <a:ext cx="6849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Arduino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85813" y="2414588"/>
            <a:ext cx="220504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Egyszerű, helyi hálózati frissítésre optimalizált megoldás.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785813" y="2878931"/>
            <a:ext cx="2205047" cy="771525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2969" y="2986088"/>
            <a:ext cx="19907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8B5CF6"/>
                </a:solidFill>
              </a:rPr>
              <a:t>Library: ArduinoOTA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892969" y="3148608"/>
            <a:ext cx="9785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UDP alapú felfedezés</a:t>
            </a:r>
            <a:endParaRPr lang="en-US" sz="674" dirty="0"/>
          </a:p>
        </p:txBody>
      </p:sp>
      <p:sp>
        <p:nvSpPr>
          <p:cNvPr id="14" name="Text 10"/>
          <p:cNvSpPr/>
          <p:nvPr/>
        </p:nvSpPr>
        <p:spPr>
          <a:xfrm>
            <a:off x="892969" y="3275409"/>
            <a:ext cx="8361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Jelszavas védelem</a:t>
            </a:r>
            <a:endParaRPr lang="en-US" sz="674" dirty="0"/>
          </a:p>
        </p:txBody>
      </p:sp>
      <p:sp>
        <p:nvSpPr>
          <p:cNvPr id="15" name="Text 11"/>
          <p:cNvSpPr/>
          <p:nvPr/>
        </p:nvSpPr>
        <p:spPr>
          <a:xfrm>
            <a:off x="892969" y="3402211"/>
            <a:ext cx="11880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IDE-ből közvetlen feltöltés</a:t>
            </a:r>
            <a:endParaRPr lang="en-US" sz="674" dirty="0"/>
          </a:p>
        </p:txBody>
      </p:sp>
      <p:sp>
        <p:nvSpPr>
          <p:cNvPr id="16" name="Shape 12"/>
          <p:cNvSpPr/>
          <p:nvPr/>
        </p:nvSpPr>
        <p:spPr>
          <a:xfrm>
            <a:off x="3312328" y="1301948"/>
            <a:ext cx="2505084" cy="257710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378" y="1516261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17671" y="2037755"/>
            <a:ext cx="4943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ESP32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3459947" y="2414588"/>
            <a:ext cx="220979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Professzionális, biztonságos és robusztus OTA implementáció.</a:t>
            </a:r>
            <a:endParaRPr lang="en-US" sz="780" dirty="0"/>
          </a:p>
        </p:txBody>
      </p:sp>
      <p:sp>
        <p:nvSpPr>
          <p:cNvPr id="20" name="Shape 15"/>
          <p:cNvSpPr/>
          <p:nvPr/>
        </p:nvSpPr>
        <p:spPr>
          <a:xfrm>
            <a:off x="3459947" y="2878931"/>
            <a:ext cx="2209791" cy="771525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67103" y="2986088"/>
            <a:ext cx="19954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8B5CF6"/>
                </a:solidFill>
              </a:rPr>
              <a:t>Method: Native SDK</a:t>
            </a:r>
            <a:endParaRPr lang="en-US" sz="634" dirty="0"/>
          </a:p>
        </p:txBody>
      </p:sp>
      <p:sp>
        <p:nvSpPr>
          <p:cNvPr id="22" name="Text 17"/>
          <p:cNvSpPr/>
          <p:nvPr/>
        </p:nvSpPr>
        <p:spPr>
          <a:xfrm>
            <a:off x="3567103" y="3148608"/>
            <a:ext cx="10614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HTTPS / TLS támogatás</a:t>
            </a:r>
            <a:endParaRPr lang="en-US" sz="674" dirty="0"/>
          </a:p>
        </p:txBody>
      </p:sp>
      <p:sp>
        <p:nvSpPr>
          <p:cNvPr id="23" name="Text 18"/>
          <p:cNvSpPr/>
          <p:nvPr/>
        </p:nvSpPr>
        <p:spPr>
          <a:xfrm>
            <a:off x="3567103" y="3275409"/>
            <a:ext cx="11390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Dual-bank (A/B) partíciók</a:t>
            </a:r>
            <a:endParaRPr lang="en-US" sz="674" dirty="0"/>
          </a:p>
        </p:txBody>
      </p:sp>
      <p:sp>
        <p:nvSpPr>
          <p:cNvPr id="24" name="Text 19"/>
          <p:cNvSpPr/>
          <p:nvPr/>
        </p:nvSpPr>
        <p:spPr>
          <a:xfrm>
            <a:off x="3567103" y="3402211"/>
            <a:ext cx="10504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Rollback mechanizmus</a:t>
            </a:r>
            <a:endParaRPr lang="en-US" sz="674" dirty="0"/>
          </a:p>
        </p:txBody>
      </p:sp>
      <p:sp>
        <p:nvSpPr>
          <p:cNvPr id="25" name="Shape 20"/>
          <p:cNvSpPr/>
          <p:nvPr/>
        </p:nvSpPr>
        <p:spPr>
          <a:xfrm>
            <a:off x="5991206" y="1301948"/>
            <a:ext cx="2509828" cy="257710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025" y="1516261"/>
            <a:ext cx="385763" cy="3429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87496" y="2037755"/>
            <a:ext cx="72679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Tasmota</a:t>
            </a:r>
            <a:endParaRPr lang="en-US" sz="1193" dirty="0"/>
          </a:p>
        </p:txBody>
      </p:sp>
      <p:sp>
        <p:nvSpPr>
          <p:cNvPr id="28" name="Text 22"/>
          <p:cNvSpPr/>
          <p:nvPr/>
        </p:nvSpPr>
        <p:spPr>
          <a:xfrm>
            <a:off x="6143625" y="2414588"/>
            <a:ext cx="2214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Felhasználóbarát, konfiguráció alapú frissítés kész eszközökhöz.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6143625" y="2878931"/>
            <a:ext cx="2214563" cy="771525"/>
          </a:xfrm>
          <a:prstGeom prst="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250781" y="2986088"/>
            <a:ext cx="2000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8B5CF6"/>
                </a:solidFill>
              </a:rPr>
              <a:t>Interface: Web / MQTT</a:t>
            </a:r>
            <a:endParaRPr lang="en-US" sz="634" dirty="0"/>
          </a:p>
        </p:txBody>
      </p:sp>
      <p:sp>
        <p:nvSpPr>
          <p:cNvPr id="31" name="Text 25"/>
          <p:cNvSpPr/>
          <p:nvPr/>
        </p:nvSpPr>
        <p:spPr>
          <a:xfrm>
            <a:off x="6250781" y="3148608"/>
            <a:ext cx="88727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Bináris fájl feltöltés</a:t>
            </a:r>
            <a:endParaRPr lang="en-US" sz="674" dirty="0"/>
          </a:p>
        </p:txBody>
      </p:sp>
      <p:sp>
        <p:nvSpPr>
          <p:cNvPr id="32" name="Text 26"/>
          <p:cNvSpPr/>
          <p:nvPr/>
        </p:nvSpPr>
        <p:spPr>
          <a:xfrm>
            <a:off x="6250781" y="3275409"/>
            <a:ext cx="8569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URL alapú frissítés</a:t>
            </a:r>
            <a:endParaRPr lang="en-US" sz="674" dirty="0"/>
          </a:p>
        </p:txBody>
      </p:sp>
      <p:sp>
        <p:nvSpPr>
          <p:cNvPr id="33" name="Text 27"/>
          <p:cNvSpPr/>
          <p:nvPr/>
        </p:nvSpPr>
        <p:spPr>
          <a:xfrm>
            <a:off x="6250781" y="3402211"/>
            <a:ext cx="97830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- Minimal / Full verziók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5340679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Legjobb gyakorlatok és hibakezelés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08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786188" cy="277774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1230511"/>
            <a:ext cx="3786188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4421981" y="1230511"/>
            <a:ext cx="7144" cy="2777747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10" name="Shape 7"/>
          <p:cNvSpPr/>
          <p:nvPr/>
        </p:nvSpPr>
        <p:spPr>
          <a:xfrm>
            <a:off x="642938" y="4001114"/>
            <a:ext cx="3786188" cy="714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11" name="Shape 8"/>
          <p:cNvSpPr/>
          <p:nvPr/>
        </p:nvSpPr>
        <p:spPr>
          <a:xfrm>
            <a:off x="642938" y="1230511"/>
            <a:ext cx="7144" cy="2777747"/>
          </a:xfrm>
          <a:prstGeom prst="rect">
            <a:avLst/>
          </a:prstGeom>
          <a:solidFill>
            <a:srgbClr val="E8DE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76077"/>
            <a:ext cx="171450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5856" y="1444823"/>
            <a:ext cx="13851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0B981"/>
                </a:solidFill>
              </a:rPr>
              <a:t>Javasolt eljárások</a:t>
            </a:r>
            <a:endParaRPr lang="en-US" sz="1269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885950"/>
            <a:ext cx="144661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9067" y="1857375"/>
            <a:ext cx="28711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Tápellátás ellenőrzése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1109067" y="2068116"/>
            <a:ext cx="287117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Soha ne indítson frissítést alacsony akkumulátorszint mellett.</a:t>
            </a:r>
            <a:endParaRPr lang="en-US" sz="727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379566"/>
            <a:ext cx="160734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25141" y="2350991"/>
            <a:ext cx="3082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Aláírt Firmware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1125141" y="2561732"/>
            <a:ext cx="308252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Csak hitelesített forrásból származó binárisokat fogadjon el az eszköz.</a:t>
            </a:r>
            <a:endParaRPr lang="en-US" sz="72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13184"/>
            <a:ext cx="128588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2994" y="2984609"/>
            <a:ext cx="30513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Fokozatos bevezetés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1092994" y="3195349"/>
            <a:ext cx="305138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Először csak az eszközök egy kis csoportján tesztelje az új verziót.</a:t>
            </a:r>
            <a:endParaRPr lang="en-US" sz="727" dirty="0"/>
          </a:p>
        </p:txBody>
      </p:sp>
      <p:sp>
        <p:nvSpPr>
          <p:cNvPr id="23" name="Shape 16"/>
          <p:cNvSpPr/>
          <p:nvPr/>
        </p:nvSpPr>
        <p:spPr>
          <a:xfrm>
            <a:off x="4707731" y="1230511"/>
            <a:ext cx="3793331" cy="2777747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4707731" y="1230511"/>
            <a:ext cx="3793331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18"/>
          <p:cNvSpPr/>
          <p:nvPr/>
        </p:nvSpPr>
        <p:spPr>
          <a:xfrm>
            <a:off x="8493919" y="1230511"/>
            <a:ext cx="7144" cy="2777747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26" name="Shape 19"/>
          <p:cNvSpPr/>
          <p:nvPr/>
        </p:nvSpPr>
        <p:spPr>
          <a:xfrm>
            <a:off x="4707731" y="4001114"/>
            <a:ext cx="3793331" cy="7144"/>
          </a:xfrm>
          <a:prstGeom prst="rect">
            <a:avLst/>
          </a:prstGeom>
          <a:solidFill>
            <a:srgbClr val="E8DEFD"/>
          </a:solidFill>
          <a:ln/>
        </p:spPr>
      </p:sp>
      <p:sp>
        <p:nvSpPr>
          <p:cNvPr id="27" name="Shape 20"/>
          <p:cNvSpPr/>
          <p:nvPr/>
        </p:nvSpPr>
        <p:spPr>
          <a:xfrm>
            <a:off x="4707731" y="1230511"/>
            <a:ext cx="7144" cy="2777747"/>
          </a:xfrm>
          <a:prstGeom prst="rect">
            <a:avLst/>
          </a:prstGeom>
          <a:solidFill>
            <a:srgbClr val="E8DEF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76077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07794" y="1444823"/>
            <a:ext cx="9598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8B5CF6"/>
                </a:solidFill>
              </a:rPr>
              <a:t>Hibakezelés</a:t>
            </a:r>
            <a:endParaRPr lang="en-US" sz="1269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885950"/>
            <a:ext cx="128588" cy="128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4931" y="1857375"/>
            <a:ext cx="31218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Automatikus visszagörgetés</a:t>
            </a:r>
            <a:endParaRPr lang="en-US" sz="885" dirty="0"/>
          </a:p>
        </p:txBody>
      </p:sp>
      <p:sp>
        <p:nvSpPr>
          <p:cNvPr id="32" name="Text 23"/>
          <p:cNvSpPr/>
          <p:nvPr/>
        </p:nvSpPr>
        <p:spPr>
          <a:xfrm>
            <a:off x="5164931" y="2068116"/>
            <a:ext cx="31218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Sikertelen indulás esetén az eszköz térjen vissza az előző stabil verzióra.</a:t>
            </a:r>
            <a:endParaRPr lang="en-US" sz="727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519567"/>
            <a:ext cx="112514" cy="128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48858" y="2490992"/>
            <a:ext cx="31378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Watchdog Timer</a:t>
            </a:r>
            <a:endParaRPr lang="en-US" sz="885" dirty="0"/>
          </a:p>
        </p:txBody>
      </p:sp>
      <p:sp>
        <p:nvSpPr>
          <p:cNvPr id="35" name="Text 25"/>
          <p:cNvSpPr/>
          <p:nvPr/>
        </p:nvSpPr>
        <p:spPr>
          <a:xfrm>
            <a:off x="5148858" y="2701733"/>
            <a:ext cx="313789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Hardveres időzítő, amely újraindítja az eszközt, ha a frissítés lefagyna.</a:t>
            </a:r>
            <a:endParaRPr lang="en-US" sz="727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153184"/>
            <a:ext cx="144661" cy="12858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181005" y="3124609"/>
            <a:ext cx="31057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Checksum ellenőrzés</a:t>
            </a:r>
            <a:endParaRPr lang="en-US" sz="885" dirty="0"/>
          </a:p>
        </p:txBody>
      </p:sp>
      <p:sp>
        <p:nvSpPr>
          <p:cNvPr id="38" name="Text 27"/>
          <p:cNvSpPr/>
          <p:nvPr/>
        </p:nvSpPr>
        <p:spPr>
          <a:xfrm>
            <a:off x="5181005" y="3335350"/>
            <a:ext cx="310574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A letöltött fájl integritásának ellenőrzése (pl. SHA-256) telepítés előtt.</a:t>
            </a:r>
            <a:endParaRPr lang="en-US" sz="727" dirty="0"/>
          </a:p>
        </p:txBody>
      </p:sp>
      <p:sp>
        <p:nvSpPr>
          <p:cNvPr id="39" name="Shape 28"/>
          <p:cNvSpPr/>
          <p:nvPr/>
        </p:nvSpPr>
        <p:spPr>
          <a:xfrm>
            <a:off x="642938" y="4186851"/>
            <a:ext cx="7858125" cy="610791"/>
          </a:xfrm>
          <a:prstGeom prst="rect">
            <a:avLst/>
          </a:prstGeom>
          <a:solidFill>
            <a:srgbClr val="EF4444">
              <a:alpha val="5000"/>
            </a:srgbClr>
          </a:solidFill>
          <a:ln w="9144">
            <a:solidFill>
              <a:srgbClr val="EF4444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4370803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157288" y="4329726"/>
            <a:ext cx="72009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CA5A5"/>
                </a:solidFill>
              </a:rPr>
              <a:t>VIGYÁZAT: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CA5A5"/>
                </a:solidFill>
              </a:rPr>
              <a:t> A frissítés közbeni áramszünet vagy hálózati hiba az eszköz "brickeléséhez" (használhatatlanná válásához) vezethet, ha 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CA5A5"/>
                </a:solidFill>
              </a:rPr>
              <a:t>nincs megfelelő Dual-Bank vagy Recovery mechanizmus!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45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53042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944761"/>
            <a:ext cx="7858125" cy="14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4010016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Összefoglalás és Konklúzió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8304916" y="603647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</a:rPr>
              <a:t>09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642938" y="1230511"/>
            <a:ext cx="3821906" cy="9018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567160"/>
            <a:ext cx="20002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4431" y="1416248"/>
            <a:ext cx="31218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Skálázhatóság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164431" y="1646634"/>
            <a:ext cx="31218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Lehetővé teszi több ezer eszköz egyidejű, központi kezelését és frissítését.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4679156" y="1230511"/>
            <a:ext cx="3821906" cy="9018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60016"/>
            <a:ext cx="28575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86375" y="1409105"/>
            <a:ext cx="30360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Biztonság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5286375" y="1639491"/>
            <a:ext cx="30360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Kritikus sebezhetőségek gyors javítása a teljes eszközparkon, fizikai hozzáférés nélkül.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42938" y="2332434"/>
            <a:ext cx="3821906" cy="9018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66908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3006" y="2518172"/>
            <a:ext cx="30932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Megbízhatóság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193006" y="2748558"/>
            <a:ext cx="30932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A Dual-Bank és rollback mechanizmusok garantálják a folyamatos működést.</a:t>
            </a:r>
            <a:endParaRPr lang="en-US" sz="780" dirty="0"/>
          </a:p>
        </p:txBody>
      </p:sp>
      <p:sp>
        <p:nvSpPr>
          <p:cNvPr id="19" name="Shape 13"/>
          <p:cNvSpPr/>
          <p:nvPr/>
        </p:nvSpPr>
        <p:spPr>
          <a:xfrm>
            <a:off x="4679156" y="2332434"/>
            <a:ext cx="3821906" cy="90189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661940"/>
            <a:ext cx="257175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2511028"/>
            <a:ext cx="30646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Költséghatékonyság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5257800" y="2741414"/>
            <a:ext cx="30646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94A3B8"/>
                </a:solidFill>
              </a:rPr>
              <a:t>Drasztikusan csökkenti a helyszíni karbantartási és szervizelési költségeket.</a:t>
            </a:r>
            <a:endParaRPr lang="en-US" sz="780" dirty="0"/>
          </a:p>
        </p:txBody>
      </p:sp>
      <p:sp>
        <p:nvSpPr>
          <p:cNvPr id="23" name="Shape 16"/>
          <p:cNvSpPr/>
          <p:nvPr/>
        </p:nvSpPr>
        <p:spPr>
          <a:xfrm>
            <a:off x="642938" y="3505795"/>
            <a:ext cx="7858125" cy="1415467"/>
          </a:xfrm>
          <a:prstGeom prst="rect">
            <a:avLst/>
          </a:prstGeom>
          <a:solidFill>
            <a:srgbClr val="8B5CF6">
              <a:alpha val="5000"/>
            </a:srgbClr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857250" y="3720108"/>
            <a:ext cx="7429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FFFFFF"/>
                </a:solidFill>
              </a:rPr>
              <a:t>Az IoT Életciklus Alapköve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1357313" y="4061222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Az OTA frissítés nem csupán egy kényelmi funkció, hanem a modern IoT rendszerek fenntarthatóságának és biztonságának záloga. Rendszerüzemeltetőként az OTA folyamatok precíz tervezése és felügyelete a hosszú távú siker kulcsa.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1977982" y="5107000"/>
            <a:ext cx="51880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2" kern="0" dirty="0">
                <a:solidFill>
                  <a:srgbClr val="64748B"/>
                </a:solidFill>
              </a:rPr>
              <a:t>UPDATE_STATUS: SUCCESSFUL // SYSTEM_INTEGRITY: VERIFIED // VERSION: 1.0.0_FINAL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2026-01-09T18:12:46Z</dcterms:created>
  <dcterms:modified xsi:type="dcterms:W3CDTF">2026-01-09T18:12:46Z</dcterms:modified>
</cp:coreProperties>
</file>