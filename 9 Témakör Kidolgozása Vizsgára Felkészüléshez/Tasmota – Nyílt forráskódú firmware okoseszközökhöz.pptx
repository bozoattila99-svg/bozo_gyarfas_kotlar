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781" y="-191095"/>
            <a:ext cx="964406" cy="8572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357313" y="1155502"/>
            <a:ext cx="6429375" cy="2832497"/>
          </a:xfrm>
          <a:prstGeom prst="rect">
            <a:avLst/>
          </a:prstGeom>
          <a:solidFill>
            <a:srgbClr val="000000"/>
          </a:solidFill>
          <a:ln w="18288">
            <a:solidFill>
              <a:srgbClr val="10B981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357313" y="1169789"/>
            <a:ext cx="6429375" cy="21431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2"/>
          <p:cNvSpPr/>
          <p:nvPr/>
        </p:nvSpPr>
        <p:spPr>
          <a:xfrm>
            <a:off x="6831518" y="1218902"/>
            <a:ext cx="8480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21212"/>
                </a:solidFill>
              </a:rPr>
              <a:t>tasmota_v13.3.0.bin</a:t>
            </a:r>
            <a:endParaRPr lang="en-US" sz="584" dirty="0"/>
          </a:p>
        </p:txBody>
      </p:sp>
      <p:sp>
        <p:nvSpPr>
          <p:cNvPr id="7" name="Text 3"/>
          <p:cNvSpPr/>
          <p:nvPr/>
        </p:nvSpPr>
        <p:spPr>
          <a:xfrm>
            <a:off x="1643063" y="2055614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0B981"/>
                </a:solidFill>
              </a:rPr>
              <a:t>$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1845320" y="1812727"/>
            <a:ext cx="145355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Tasmota</a:t>
            </a:r>
            <a:endParaRPr lang="en-US" sz="2436" dirty="0"/>
          </a:p>
        </p:txBody>
      </p:sp>
      <p:sp>
        <p:nvSpPr>
          <p:cNvPr id="9" name="Text 5"/>
          <p:cNvSpPr/>
          <p:nvPr/>
        </p:nvSpPr>
        <p:spPr>
          <a:xfrm>
            <a:off x="1643063" y="2564606"/>
            <a:ext cx="5857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4D399"/>
                </a:solidFill>
              </a:rPr>
              <a:t>Nyílt forráskódú firmware okoseszközökhöz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1643063" y="3084314"/>
            <a:ext cx="5857875" cy="46077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&gt; INFORMATIKAI TECHNIKUS VIZSGAFELKÉSZÍTŐ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 &gt; TÉMAKÖR: 04 // IoT_SYSTEMS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276214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Mi az a Tasmota?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4D399"/>
                </a:solidFill>
              </a:rPr>
              <a:t>02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66230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5838" y="1230511"/>
            <a:ext cx="39433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Alternatív Firmware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985838" y="1535906"/>
            <a:ext cx="39433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0A0"/>
                </a:solidFill>
              </a:rPr>
              <a:t>Egy nyílt forráskódú szoftver, amely az ESP8266 és ESP32 alapú okoseszközök gyári szoftverét váltja fel.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181690"/>
            <a:ext cx="250031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5844" y="2145971"/>
            <a:ext cx="38933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Helyi Vezérlés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1035844" y="2451367"/>
            <a:ext cx="38933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0A0"/>
                </a:solidFill>
              </a:rPr>
              <a:t>Megszünteti a külső felhőalapú szolgáltatásoktól való függőséget, minden adat a helyi hálózaton marad.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097150"/>
            <a:ext cx="175022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834" y="3061432"/>
            <a:ext cx="39683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Univerzális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960834" y="3366827"/>
            <a:ext cx="39683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A0A0A0"/>
                </a:solidFill>
              </a:rPr>
              <a:t>Egyetlen firmware több ezer különböző eszközt támogat sablonok segítségével.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5643563" y="1230511"/>
            <a:ext cx="2857500" cy="2857500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422" y="1783259"/>
            <a:ext cx="535781" cy="4286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76467" y="2283321"/>
            <a:ext cx="139169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CLOUD SERVICES</a:t>
            </a:r>
            <a:endParaRPr lang="en-US" sz="621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6715125" y="1944886"/>
            <a:ext cx="446484" cy="714375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844" y="2828032"/>
            <a:ext cx="642938" cy="5715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376467" y="3399532"/>
            <a:ext cx="13916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LOCAL CONTROL (TASMOTA)</a:t>
            </a:r>
            <a:endParaRPr lang="en-US" sz="6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04689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A Tasmota Előnyei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4D399"/>
                </a:solidFill>
              </a:rPr>
              <a:t>03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821906" cy="1489472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2938" y="1230511"/>
            <a:ext cx="3807619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" y="1435001"/>
            <a:ext cx="125016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3703" y="1409105"/>
            <a:ext cx="88356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B981"/>
                </a:solidFill>
              </a:rPr>
              <a:t>Adatvédelem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21531" y="1710928"/>
            <a:ext cx="34647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Nincs szükség regisztrációra vagy felhőalapú fiókra. Minden adat az Ön hálózatán belül marad, megakadályozva a profilalkotást.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821531" y="2332434"/>
            <a:ext cx="3464719" cy="194667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&gt; status 0 // privacy_check: OK</a:t>
            </a:r>
            <a:endParaRPr lang="en-US" sz="621" dirty="0"/>
          </a:p>
        </p:txBody>
      </p:sp>
      <p:sp>
        <p:nvSpPr>
          <p:cNvPr id="13" name="Shape 9"/>
          <p:cNvSpPr/>
          <p:nvPr/>
        </p:nvSpPr>
        <p:spPr>
          <a:xfrm>
            <a:off x="4679156" y="1230511"/>
            <a:ext cx="3821906" cy="1475184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79156" y="1230511"/>
            <a:ext cx="3807619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435001"/>
            <a:ext cx="142875" cy="142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07781" y="1409105"/>
            <a:ext cx="9635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B981"/>
                </a:solidFill>
              </a:rPr>
              <a:t>Kompatibilitás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857750" y="1710928"/>
            <a:ext cx="34647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Szabványos MQTT protokollon keresztül integrálható Home Assistant, OpenHAB vagy Node-RED rendszerekbe.</a:t>
            </a:r>
            <a:endParaRPr lang="en-US" sz="834" dirty="0"/>
          </a:p>
        </p:txBody>
      </p:sp>
      <p:sp>
        <p:nvSpPr>
          <p:cNvPr id="18" name="Text 13"/>
          <p:cNvSpPr/>
          <p:nvPr/>
        </p:nvSpPr>
        <p:spPr>
          <a:xfrm>
            <a:off x="4857750" y="2160984"/>
            <a:ext cx="3464719" cy="194667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&gt; mqtt_status // connected: TRUE</a:t>
            </a:r>
            <a:endParaRPr lang="en-US" sz="621" dirty="0"/>
          </a:p>
        </p:txBody>
      </p:sp>
      <p:sp>
        <p:nvSpPr>
          <p:cNvPr id="19" name="Shape 14"/>
          <p:cNvSpPr/>
          <p:nvPr/>
        </p:nvSpPr>
        <p:spPr>
          <a:xfrm>
            <a:off x="642938" y="2920008"/>
            <a:ext cx="3821906" cy="1318022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2938" y="2920008"/>
            <a:ext cx="3807619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3124498"/>
            <a:ext cx="142875" cy="1428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1563" y="3098602"/>
            <a:ext cx="125331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B981"/>
                </a:solidFill>
              </a:rPr>
              <a:t>Testreszabhatóság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821531" y="3400425"/>
            <a:ext cx="34647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Teljes kontroll a GPIO kivezetések felett. Saját szabályok (Rules) és szkriptek futtatása közvetlenül az eszközön.</a:t>
            </a:r>
            <a:endParaRPr lang="en-US" sz="834" dirty="0"/>
          </a:p>
        </p:txBody>
      </p:sp>
      <p:sp>
        <p:nvSpPr>
          <p:cNvPr id="24" name="Text 18"/>
          <p:cNvSpPr/>
          <p:nvPr/>
        </p:nvSpPr>
        <p:spPr>
          <a:xfrm>
            <a:off x="821531" y="3850481"/>
            <a:ext cx="3464719" cy="194667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&gt; gpio_map // custom_config: LOADED</a:t>
            </a:r>
            <a:endParaRPr lang="en-US" sz="621" dirty="0"/>
          </a:p>
        </p:txBody>
      </p:sp>
      <p:sp>
        <p:nvSpPr>
          <p:cNvPr id="25" name="Shape 19"/>
          <p:cNvSpPr/>
          <p:nvPr/>
        </p:nvSpPr>
        <p:spPr>
          <a:xfrm>
            <a:off x="4679156" y="2920008"/>
            <a:ext cx="3821906" cy="1318022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79156" y="2920008"/>
            <a:ext cx="3807619" cy="285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3124498"/>
            <a:ext cx="142875" cy="1428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07781" y="3098602"/>
            <a:ext cx="6596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B981"/>
                </a:solidFill>
              </a:rPr>
              <a:t>Biztonság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857750" y="3400425"/>
            <a:ext cx="34647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Nincsenek rejtett hátsó kapuk. A nyílt forráskód lehetővé teszi a közösségi auditot és a gyors hibajavítást.</a:t>
            </a:r>
            <a:endParaRPr lang="en-US" sz="834" dirty="0"/>
          </a:p>
        </p:txBody>
      </p:sp>
      <p:sp>
        <p:nvSpPr>
          <p:cNvPr id="30" name="Text 23"/>
          <p:cNvSpPr/>
          <p:nvPr/>
        </p:nvSpPr>
        <p:spPr>
          <a:xfrm>
            <a:off x="4857750" y="3850481"/>
            <a:ext cx="3464719" cy="194667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&gt; security_audit // vulnerabilities: 0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89568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Támogatott Hardverek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4D399"/>
                </a:solidFill>
              </a:rPr>
              <a:t>04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3103959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5856" y="1444823"/>
            <a:ext cx="20834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0B981"/>
                </a:solidFill>
              </a:rPr>
              <a:t>Támogatott Chipkészletek</a:t>
            </a:r>
            <a:endParaRPr lang="en-US" sz="126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52030"/>
            <a:ext cx="160734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25141" y="1935956"/>
            <a:ext cx="11428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ESP8266 / ESP8285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3691310" y="1941314"/>
            <a:ext cx="516359" cy="16430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8"/>
          <p:cNvSpPr/>
          <p:nvPr/>
        </p:nvSpPr>
        <p:spPr>
          <a:xfrm>
            <a:off x="3691310" y="1941314"/>
            <a:ext cx="516359" cy="164306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21212"/>
                </a:solidFill>
              </a:rPr>
              <a:t>CLASSIC</a:t>
            </a:r>
            <a:endParaRPr lang="en-US" sz="683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269927"/>
            <a:ext cx="107156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1563" y="2253853"/>
            <a:ext cx="10797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ESP32 (Dual-Core)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3733223" y="2259211"/>
            <a:ext cx="474445" cy="16430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1"/>
          <p:cNvSpPr/>
          <p:nvPr/>
        </p:nvSpPr>
        <p:spPr>
          <a:xfrm>
            <a:off x="3733223" y="2259211"/>
            <a:ext cx="474445" cy="164306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21212"/>
                </a:solidFill>
              </a:rPr>
              <a:t>POWER</a:t>
            </a:r>
            <a:endParaRPr lang="en-US" sz="683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587823"/>
            <a:ext cx="142875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7281" y="2571750"/>
            <a:ext cx="10809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ESP32-C3 / S2 / S3</a:t>
            </a:r>
            <a:endParaRPr lang="en-US" sz="942" dirty="0"/>
          </a:p>
        </p:txBody>
      </p:sp>
      <p:sp>
        <p:nvSpPr>
          <p:cNvPr id="20" name="Shape 13"/>
          <p:cNvSpPr/>
          <p:nvPr/>
        </p:nvSpPr>
        <p:spPr>
          <a:xfrm>
            <a:off x="3642085" y="2577108"/>
            <a:ext cx="565584" cy="16430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4"/>
          <p:cNvSpPr/>
          <p:nvPr/>
        </p:nvSpPr>
        <p:spPr>
          <a:xfrm>
            <a:off x="3642085" y="2577108"/>
            <a:ext cx="565584" cy="164306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21212"/>
                </a:solidFill>
              </a:rPr>
              <a:t>MODERN</a:t>
            </a:r>
            <a:endParaRPr lang="en-US" sz="683" dirty="0"/>
          </a:p>
        </p:txBody>
      </p:sp>
      <p:sp>
        <p:nvSpPr>
          <p:cNvPr id="22" name="Text 15"/>
          <p:cNvSpPr/>
          <p:nvPr/>
        </p:nvSpPr>
        <p:spPr>
          <a:xfrm>
            <a:off x="857250" y="2961084"/>
            <a:ext cx="33504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* Megjegyzés: A Tasmota kifejezetten az Espressif chipjeire lett optimalizálva.</a:t>
            </a:r>
            <a:endParaRPr lang="en-US" sz="727" dirty="0"/>
          </a:p>
        </p:txBody>
      </p:sp>
      <p:sp>
        <p:nvSpPr>
          <p:cNvPr id="23" name="Text 16"/>
          <p:cNvSpPr/>
          <p:nvPr/>
        </p:nvSpPr>
        <p:spPr>
          <a:xfrm>
            <a:off x="3465835" y="4146947"/>
            <a:ext cx="8847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HW_SCAN: COMPLETE</a:t>
            </a:r>
            <a:endParaRPr lang="en-US" sz="621" dirty="0"/>
          </a:p>
        </p:txBody>
      </p:sp>
      <p:sp>
        <p:nvSpPr>
          <p:cNvPr id="24" name="Shape 17"/>
          <p:cNvSpPr/>
          <p:nvPr/>
        </p:nvSpPr>
        <p:spPr>
          <a:xfrm>
            <a:off x="4707731" y="1230511"/>
            <a:ext cx="3793331" cy="3103959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476077"/>
            <a:ext cx="128588" cy="1714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64931" y="1444823"/>
            <a:ext cx="15406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0B981"/>
                </a:solidFill>
              </a:rPr>
              <a:t>Népszerű Eszközök</a:t>
            </a:r>
            <a:endParaRPr lang="en-US" sz="1269" dirty="0"/>
          </a:p>
        </p:txBody>
      </p:sp>
      <p:sp>
        <p:nvSpPr>
          <p:cNvPr id="27" name="Text 19"/>
          <p:cNvSpPr/>
          <p:nvPr/>
        </p:nvSpPr>
        <p:spPr>
          <a:xfrm>
            <a:off x="4929188" y="1935956"/>
            <a:ext cx="335756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Számos gyártó használja ezeket a chipeket, így a Tasmota könnyen telepíthető rájuk:</a:t>
            </a:r>
            <a:endParaRPr lang="en-US" sz="834" dirty="0"/>
          </a:p>
        </p:txBody>
      </p:sp>
      <p:sp>
        <p:nvSpPr>
          <p:cNvPr id="28" name="Text 20"/>
          <p:cNvSpPr/>
          <p:nvPr/>
        </p:nvSpPr>
        <p:spPr>
          <a:xfrm>
            <a:off x="4929188" y="2389584"/>
            <a:ext cx="1625203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4D399"/>
                </a:solidFill>
              </a:rPr>
              <a:t>Sonoff</a:t>
            </a:r>
            <a:endParaRPr lang="en-US" sz="834" dirty="0"/>
          </a:p>
        </p:txBody>
      </p:sp>
      <p:sp>
        <p:nvSpPr>
          <p:cNvPr id="29" name="Text 21"/>
          <p:cNvSpPr/>
          <p:nvPr/>
        </p:nvSpPr>
        <p:spPr>
          <a:xfrm>
            <a:off x="6661547" y="2389584"/>
            <a:ext cx="1625203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4D399"/>
                </a:solidFill>
              </a:rPr>
              <a:t>Shelly</a:t>
            </a:r>
            <a:endParaRPr lang="en-US" sz="834" dirty="0"/>
          </a:p>
        </p:txBody>
      </p:sp>
      <p:sp>
        <p:nvSpPr>
          <p:cNvPr id="30" name="Text 22"/>
          <p:cNvSpPr/>
          <p:nvPr/>
        </p:nvSpPr>
        <p:spPr>
          <a:xfrm>
            <a:off x="4929188" y="2809280"/>
            <a:ext cx="1625203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4D399"/>
                </a:solidFill>
              </a:rPr>
              <a:t>Gosund</a:t>
            </a:r>
            <a:endParaRPr lang="en-US" sz="834" dirty="0"/>
          </a:p>
        </p:txBody>
      </p:sp>
      <p:sp>
        <p:nvSpPr>
          <p:cNvPr id="31" name="Text 23"/>
          <p:cNvSpPr/>
          <p:nvPr/>
        </p:nvSpPr>
        <p:spPr>
          <a:xfrm>
            <a:off x="6661547" y="2809280"/>
            <a:ext cx="1625203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4D399"/>
                </a:solidFill>
              </a:rPr>
              <a:t>BlitzWolf</a:t>
            </a:r>
            <a:endParaRPr lang="en-US" sz="834" dirty="0"/>
          </a:p>
        </p:txBody>
      </p:sp>
      <p:sp>
        <p:nvSpPr>
          <p:cNvPr id="32" name="Text 24"/>
          <p:cNvSpPr/>
          <p:nvPr/>
        </p:nvSpPr>
        <p:spPr>
          <a:xfrm>
            <a:off x="4929188" y="3228975"/>
            <a:ext cx="1625203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4D399"/>
                </a:solidFill>
              </a:rPr>
              <a:t>Athom</a:t>
            </a:r>
            <a:endParaRPr lang="en-US" sz="834" dirty="0"/>
          </a:p>
        </p:txBody>
      </p:sp>
      <p:sp>
        <p:nvSpPr>
          <p:cNvPr id="33" name="Text 25"/>
          <p:cNvSpPr/>
          <p:nvPr/>
        </p:nvSpPr>
        <p:spPr>
          <a:xfrm>
            <a:off x="6661547" y="3228975"/>
            <a:ext cx="1625203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4D399"/>
                </a:solidFill>
              </a:rPr>
              <a:t>Nous</a:t>
            </a:r>
            <a:endParaRPr lang="en-US" sz="834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3852267"/>
            <a:ext cx="100013" cy="10001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029200" y="3834408"/>
            <a:ext cx="242591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Típusok: Okoskonnektorok, kapcsolók, izzók, relék,</a:t>
            </a:r>
            <a:endParaRPr lang="en-US" sz="727" dirty="0"/>
          </a:p>
        </p:txBody>
      </p:sp>
      <p:sp>
        <p:nvSpPr>
          <p:cNvPr id="36" name="Text 27"/>
          <p:cNvSpPr/>
          <p:nvPr/>
        </p:nvSpPr>
        <p:spPr>
          <a:xfrm>
            <a:off x="7455117" y="3834408"/>
            <a:ext cx="8285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fogyasztásmérők.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58786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Telepítés és Flashelés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4D399"/>
                </a:solidFill>
              </a:rPr>
              <a:t>05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116211"/>
            <a:ext cx="7858125" cy="551855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5813" y="1268016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01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143000" y="1201936"/>
            <a:ext cx="679200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Hardveres Csatlakozás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43000" y="1432322"/>
            <a:ext cx="67920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USB-to-Serial (FTDI) adapter csatlakoztatása az eszközhöz (VCC, GND, RX, TX).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7935004" y="1291233"/>
            <a:ext cx="42318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35004" y="1291233"/>
            <a:ext cx="423183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READY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642938" y="1739503"/>
            <a:ext cx="7858125" cy="551855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5813" y="1891308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02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1143000" y="1825228"/>
            <a:ext cx="64965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Flash Mód Aktiválása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3000" y="2055614"/>
            <a:ext cx="64965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GPIO0 földre húzása bekapcsoláskor a programozási módba lépéshez.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7639515" y="1914525"/>
            <a:ext cx="718672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9515" y="1914525"/>
            <a:ext cx="718672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BOOTLOADER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642938" y="2362795"/>
            <a:ext cx="7858125" cy="551855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5813" y="2514600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03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1143000" y="2448520"/>
            <a:ext cx="657769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Firmware Írása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43000" y="2678906"/>
            <a:ext cx="65776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A tasmota.bin fájl feltöltése a választott szoftveres eszközzel.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7720692" y="2537817"/>
            <a:ext cx="637496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20692" y="2537817"/>
            <a:ext cx="637496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FLASHING...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642938" y="2986088"/>
            <a:ext cx="7858125" cy="551855"/>
          </a:xfrm>
          <a:prstGeom prst="rect">
            <a:avLst/>
          </a:prstGeom>
          <a:solidFill>
            <a:srgbClr val="000000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5813" y="3137892"/>
            <a:ext cx="357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04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1143000" y="3071813"/>
            <a:ext cx="669986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Kezdeti Konfiguráció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43000" y="3302198"/>
            <a:ext cx="66998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Csatlakozás a 'tasmota-xxxx' Wi-Fi hálózathoz a beállítások megadásához.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7842861" y="3161109"/>
            <a:ext cx="515327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42861" y="3161109"/>
            <a:ext cx="515327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SUCCESS</a:t>
            </a:r>
            <a:endParaRPr lang="en-US" sz="621" dirty="0"/>
          </a:p>
        </p:txBody>
      </p:sp>
      <p:sp>
        <p:nvSpPr>
          <p:cNvPr id="31" name="Shape 28"/>
          <p:cNvSpPr/>
          <p:nvPr/>
        </p:nvSpPr>
        <p:spPr>
          <a:xfrm>
            <a:off x="642938" y="3623667"/>
            <a:ext cx="7858125" cy="5000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42938" y="3623667"/>
            <a:ext cx="7858125" cy="7144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712" y="3709392"/>
            <a:ext cx="228600" cy="2286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442451" y="3980855"/>
            <a:ext cx="98714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Tasmotizer (Desktop)</a:t>
            </a:r>
            <a:endParaRPr lang="en-US" sz="727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864" y="3709392"/>
            <a:ext cx="228600" cy="2286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028629" y="3980855"/>
            <a:ext cx="13530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Web Installer (Chrome/Edge)</a:t>
            </a:r>
            <a:endParaRPr lang="en-US" sz="727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536" y="3709392"/>
            <a:ext cx="257175" cy="2286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80727" y="3980855"/>
            <a:ext cx="7207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Esptool.py (CLI)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49487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Konfiguráció és Sablonok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4D399"/>
                </a:solidFill>
              </a:rPr>
              <a:t>06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14750" cy="2593181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5813" y="1144786"/>
            <a:ext cx="662722" cy="116086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9" name="Text 6"/>
          <p:cNvSpPr/>
          <p:nvPr/>
        </p:nvSpPr>
        <p:spPr>
          <a:xfrm>
            <a:off x="785813" y="1144786"/>
            <a:ext cx="662722" cy="116086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TEMPLATE_JSON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785813" y="1373386"/>
            <a:ext cx="3429000" cy="1650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{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4D399"/>
                </a:solidFill>
              </a:rPr>
              <a:t>"NAME"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"Sonoff Basic"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4D399"/>
                </a:solidFill>
              </a:rPr>
              <a:t>"GPIO"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[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17, 255, 255, 255, 255, 255,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255, 255, 21, 255, 22, 255,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255, 255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],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4D399"/>
                </a:solidFill>
              </a:rPr>
              <a:t>"FLAG"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0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,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4D399"/>
                </a:solidFill>
              </a:rPr>
              <a:t>"BASE"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 }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4D4D4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// A számok a GPIO funkciókat jelölik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785813" y="3166467"/>
            <a:ext cx="3429000" cy="5000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A sablonok (Templates) segítségével egyetlen JSON karakterlánccal beállítható az eszköz összes kivezetése.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4786313" y="1230511"/>
            <a:ext cx="3714750" cy="575072"/>
          </a:xfrm>
          <a:prstGeom prst="rect">
            <a:avLst/>
          </a:prstGeom>
          <a:solidFill>
            <a:srgbClr val="10B981">
              <a:alpha val="5000"/>
            </a:srgbClr>
          </a:solidFill>
          <a:ln w="9144">
            <a:solidFill>
              <a:srgbClr val="10B98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903" y="1426071"/>
            <a:ext cx="192881" cy="171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2094" y="1337667"/>
            <a:ext cx="152429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Relay1 (GPIO 12)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5322094" y="1548408"/>
            <a:ext cx="15242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A fő kapcsoló kimenet vezérlése.</a:t>
            </a:r>
            <a:endParaRPr lang="en-US" sz="727" dirty="0"/>
          </a:p>
        </p:txBody>
      </p:sp>
      <p:sp>
        <p:nvSpPr>
          <p:cNvPr id="16" name="Shape 12"/>
          <p:cNvSpPr/>
          <p:nvPr/>
        </p:nvSpPr>
        <p:spPr>
          <a:xfrm>
            <a:off x="4786313" y="1898452"/>
            <a:ext cx="3714750" cy="575072"/>
          </a:xfrm>
          <a:prstGeom prst="rect">
            <a:avLst/>
          </a:prstGeom>
          <a:solidFill>
            <a:srgbClr val="10B981">
              <a:alpha val="5000"/>
            </a:srgbClr>
          </a:solidFill>
          <a:ln w="9144">
            <a:solidFill>
              <a:srgbClr val="10B98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766" y="2094012"/>
            <a:ext cx="107156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22094" y="2005608"/>
            <a:ext cx="13911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Button1 (GPIO 0)</a:t>
            </a:r>
            <a:endParaRPr lang="en-US" sz="885" dirty="0"/>
          </a:p>
        </p:txBody>
      </p:sp>
      <p:sp>
        <p:nvSpPr>
          <p:cNvPr id="19" name="Text 14"/>
          <p:cNvSpPr/>
          <p:nvPr/>
        </p:nvSpPr>
        <p:spPr>
          <a:xfrm>
            <a:off x="5322094" y="2216348"/>
            <a:ext cx="13911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Fizikai nyomógomb bemenet.</a:t>
            </a:r>
            <a:endParaRPr lang="en-US" sz="727" dirty="0"/>
          </a:p>
        </p:txBody>
      </p:sp>
      <p:sp>
        <p:nvSpPr>
          <p:cNvPr id="20" name="Shape 15"/>
          <p:cNvSpPr/>
          <p:nvPr/>
        </p:nvSpPr>
        <p:spPr>
          <a:xfrm>
            <a:off x="4786313" y="2566392"/>
            <a:ext cx="3714750" cy="575072"/>
          </a:xfrm>
          <a:prstGeom prst="rect">
            <a:avLst/>
          </a:prstGeom>
          <a:solidFill>
            <a:srgbClr val="10B981">
              <a:alpha val="5000"/>
            </a:srgbClr>
          </a:solidFill>
          <a:ln w="9144">
            <a:solidFill>
              <a:srgbClr val="10B98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2761952"/>
            <a:ext cx="128588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22094" y="2673548"/>
            <a:ext cx="17164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Led1i (GPIO 13)</a:t>
            </a:r>
            <a:endParaRPr lang="en-US" sz="885" dirty="0"/>
          </a:p>
        </p:txBody>
      </p:sp>
      <p:sp>
        <p:nvSpPr>
          <p:cNvPr id="23" name="Text 17"/>
          <p:cNvSpPr/>
          <p:nvPr/>
        </p:nvSpPr>
        <p:spPr>
          <a:xfrm>
            <a:off x="5322094" y="2884289"/>
            <a:ext cx="17164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Állapotjelző LED (invertált működés).</a:t>
            </a:r>
            <a:endParaRPr lang="en-US" sz="727" dirty="0"/>
          </a:p>
        </p:txBody>
      </p:sp>
      <p:sp>
        <p:nvSpPr>
          <p:cNvPr id="24" name="Shape 18"/>
          <p:cNvSpPr/>
          <p:nvPr/>
        </p:nvSpPr>
        <p:spPr>
          <a:xfrm>
            <a:off x="4786313" y="3234333"/>
            <a:ext cx="3714750" cy="710803"/>
          </a:xfrm>
          <a:prstGeom prst="rect">
            <a:avLst/>
          </a:prstGeom>
          <a:solidFill>
            <a:srgbClr val="10B981">
              <a:alpha val="3000"/>
            </a:srgbClr>
          </a:solidFill>
          <a:ln w="9144">
            <a:solidFill>
              <a:srgbClr val="10B981">
                <a:alpha val="70000"/>
              </a:srgbClr>
            </a:solidFill>
            <a:prstDash val="dash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000" y="3497759"/>
            <a:ext cx="150019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21424" y="3341489"/>
            <a:ext cx="30724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Egyedi Perifériák</a:t>
            </a:r>
            <a:endParaRPr lang="en-US" sz="885" dirty="0"/>
          </a:p>
        </p:txBody>
      </p:sp>
      <p:sp>
        <p:nvSpPr>
          <p:cNvPr id="27" name="Text 20"/>
          <p:cNvSpPr/>
          <p:nvPr/>
        </p:nvSpPr>
        <p:spPr>
          <a:xfrm>
            <a:off x="5321424" y="3552230"/>
            <a:ext cx="3072482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Szenzorok (DHT, DS18B20) hozzáadása bármely szabad GPIO-hoz.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95001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MQTT és Home Assistant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4D399"/>
                </a:solidFill>
              </a:rPr>
              <a:t>07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373386"/>
            <a:ext cx="2000250" cy="1508727"/>
          </a:xfrm>
          <a:prstGeom prst="rect">
            <a:avLst/>
          </a:prstGeom>
          <a:solidFill>
            <a:srgbClr val="000000"/>
          </a:solidFill>
          <a:ln w="18288">
            <a:solidFill>
              <a:srgbClr val="3333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3" y="1601986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5813" y="2087761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Tasmota Eszköz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785813" y="2373511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Telemetria küldése és parancsok fogadása.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2923649" y="1906293"/>
            <a:ext cx="367764" cy="158948"/>
          </a:xfrm>
          <a:prstGeom prst="rect">
            <a:avLst/>
          </a:prstGeom>
          <a:solidFill>
            <a:srgbClr val="121212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23649" y="1906293"/>
            <a:ext cx="367764" cy="158948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MQTT</a:t>
            </a:r>
            <a:endParaRPr lang="en-US" sz="621" dirty="0"/>
          </a:p>
        </p:txBody>
      </p:sp>
      <p:sp>
        <p:nvSpPr>
          <p:cNvPr id="13" name="Shape 9"/>
          <p:cNvSpPr/>
          <p:nvPr/>
        </p:nvSpPr>
        <p:spPr>
          <a:xfrm>
            <a:off x="2859439" y="1906293"/>
            <a:ext cx="496184" cy="158948"/>
          </a:xfrm>
          <a:prstGeom prst="rect">
            <a:avLst/>
          </a:prstGeom>
          <a:solidFill>
            <a:srgbClr val="121212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859439" y="1906293"/>
            <a:ext cx="496184" cy="158948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PUB/SUB</a:t>
            </a:r>
            <a:endParaRPr lang="en-US" sz="621" dirty="0"/>
          </a:p>
        </p:txBody>
      </p:sp>
      <p:sp>
        <p:nvSpPr>
          <p:cNvPr id="15" name="Text 11"/>
          <p:cNvSpPr/>
          <p:nvPr/>
        </p:nvSpPr>
        <p:spPr>
          <a:xfrm>
            <a:off x="3482578" y="2049168"/>
            <a:ext cx="1250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</a:t>
            </a:r>
            <a:endParaRPr lang="en-US" sz="987" dirty="0"/>
          </a:p>
        </p:txBody>
      </p:sp>
      <p:sp>
        <p:nvSpPr>
          <p:cNvPr id="16" name="Shape 12"/>
          <p:cNvSpPr/>
          <p:nvPr/>
        </p:nvSpPr>
        <p:spPr>
          <a:xfrm>
            <a:off x="3571875" y="1373386"/>
            <a:ext cx="2000250" cy="1508727"/>
          </a:xfrm>
          <a:prstGeom prst="rect">
            <a:avLst/>
          </a:prstGeom>
          <a:solidFill>
            <a:srgbClr val="000000"/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1601986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14750" y="2087761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MQTT Broker</a:t>
            </a:r>
            <a:endParaRPr lang="en-US" sz="1090" dirty="0"/>
          </a:p>
        </p:txBody>
      </p:sp>
      <p:sp>
        <p:nvSpPr>
          <p:cNvPr id="19" name="Text 14"/>
          <p:cNvSpPr/>
          <p:nvPr/>
        </p:nvSpPr>
        <p:spPr>
          <a:xfrm>
            <a:off x="3714750" y="2373511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Központi üzenetkezelő (pl. Mosquitto).</a:t>
            </a:r>
            <a:endParaRPr lang="en-US" sz="727" dirty="0"/>
          </a:p>
        </p:txBody>
      </p:sp>
      <p:sp>
        <p:nvSpPr>
          <p:cNvPr id="20" name="Shape 15"/>
          <p:cNvSpPr/>
          <p:nvPr/>
        </p:nvSpPr>
        <p:spPr>
          <a:xfrm>
            <a:off x="5717902" y="1906293"/>
            <a:ext cx="637133" cy="158948"/>
          </a:xfrm>
          <a:prstGeom prst="rect">
            <a:avLst/>
          </a:prstGeom>
          <a:solidFill>
            <a:srgbClr val="121212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717902" y="1906293"/>
            <a:ext cx="637133" cy="158948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INTEGRÁCIÓ</a:t>
            </a:r>
            <a:endParaRPr lang="en-US" sz="621" dirty="0"/>
          </a:p>
        </p:txBody>
      </p:sp>
      <p:sp>
        <p:nvSpPr>
          <p:cNvPr id="22" name="Text 17"/>
          <p:cNvSpPr/>
          <p:nvPr/>
        </p:nvSpPr>
        <p:spPr>
          <a:xfrm>
            <a:off x="6411516" y="2049168"/>
            <a:ext cx="1250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</a:t>
            </a:r>
            <a:endParaRPr lang="en-US" sz="987" dirty="0"/>
          </a:p>
        </p:txBody>
      </p:sp>
      <p:sp>
        <p:nvSpPr>
          <p:cNvPr id="23" name="Shape 18"/>
          <p:cNvSpPr/>
          <p:nvPr/>
        </p:nvSpPr>
        <p:spPr>
          <a:xfrm>
            <a:off x="6500813" y="1373386"/>
            <a:ext cx="2000250" cy="1508727"/>
          </a:xfrm>
          <a:prstGeom prst="rect">
            <a:avLst/>
          </a:prstGeom>
          <a:solidFill>
            <a:srgbClr val="000000"/>
          </a:solidFill>
          <a:ln w="18288">
            <a:solidFill>
              <a:srgbClr val="33333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056" y="1657685"/>
            <a:ext cx="385763" cy="342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43688" y="2143460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Home Assistant</a:t>
            </a:r>
            <a:endParaRPr lang="en-US" sz="1090" dirty="0"/>
          </a:p>
        </p:txBody>
      </p:sp>
      <p:sp>
        <p:nvSpPr>
          <p:cNvPr id="26" name="Text 20"/>
          <p:cNvSpPr/>
          <p:nvPr/>
        </p:nvSpPr>
        <p:spPr>
          <a:xfrm>
            <a:off x="6643688" y="2429210"/>
            <a:ext cx="171450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0A0A0"/>
                </a:solidFill>
              </a:rPr>
              <a:t>Vezérlés, automatizálás és naplózás.</a:t>
            </a:r>
            <a:endParaRPr lang="en-US" sz="727" dirty="0"/>
          </a:p>
        </p:txBody>
      </p:sp>
      <p:sp>
        <p:nvSpPr>
          <p:cNvPr id="27" name="Shape 21"/>
          <p:cNvSpPr/>
          <p:nvPr/>
        </p:nvSpPr>
        <p:spPr>
          <a:xfrm>
            <a:off x="642938" y="3425037"/>
            <a:ext cx="7858125" cy="912614"/>
          </a:xfrm>
          <a:prstGeom prst="rect">
            <a:avLst/>
          </a:prstGeom>
          <a:solidFill>
            <a:srgbClr val="10B981">
              <a:alpha val="5000"/>
            </a:srgbClr>
          </a:solidFill>
          <a:ln w="9144">
            <a:solidFill>
              <a:srgbClr val="10B98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31" y="3759901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28725" y="3603631"/>
            <a:ext cx="70937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Automatikus Felismerés (Auto-Discovery)</a:t>
            </a:r>
            <a:endParaRPr lang="en-US" sz="987" dirty="0"/>
          </a:p>
        </p:txBody>
      </p:sp>
      <p:sp>
        <p:nvSpPr>
          <p:cNvPr id="30" name="Text 23"/>
          <p:cNvSpPr/>
          <p:nvPr/>
        </p:nvSpPr>
        <p:spPr>
          <a:xfrm>
            <a:off x="1228725" y="3834017"/>
            <a:ext cx="709374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0A0A0"/>
                </a:solidFill>
              </a:rPr>
              <a:t>A Tasmota képes automatikusan regisztrálni magát a Home Assistant rendszerben, így nincs szükség manuális YAML konfigurációra az entitások létrehozásához.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934754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Webes Felület és Konzolos Vezérlés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4D399"/>
                </a:solidFill>
              </a:rPr>
              <a:t>08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821906" cy="3541514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2938" y="1230511"/>
            <a:ext cx="3814763" cy="23753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9" name="Shape 6"/>
          <p:cNvSpPr/>
          <p:nvPr/>
        </p:nvSpPr>
        <p:spPr>
          <a:xfrm>
            <a:off x="642938" y="1460897"/>
            <a:ext cx="3814763" cy="7144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302841"/>
            <a:ext cx="85725" cy="857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7256" y="1287661"/>
            <a:ext cx="8094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HTTP://192.168.1.50</a:t>
            </a:r>
            <a:endParaRPr lang="en-US" sz="621" dirty="0"/>
          </a:p>
        </p:txBody>
      </p:sp>
      <p:sp>
        <p:nvSpPr>
          <p:cNvPr id="12" name="Text 8"/>
          <p:cNvSpPr/>
          <p:nvPr/>
        </p:nvSpPr>
        <p:spPr>
          <a:xfrm>
            <a:off x="785813" y="1603772"/>
            <a:ext cx="35290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Tasmota - Sonoff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785813" y="1957388"/>
            <a:ext cx="3529013" cy="27860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0"/>
          <p:cNvSpPr/>
          <p:nvPr/>
        </p:nvSpPr>
        <p:spPr>
          <a:xfrm>
            <a:off x="785813" y="1957388"/>
            <a:ext cx="3529013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TOGGLE</a:t>
            </a:r>
            <a:endParaRPr lang="en-US" sz="683" dirty="0"/>
          </a:p>
        </p:txBody>
      </p:sp>
      <p:sp>
        <p:nvSpPr>
          <p:cNvPr id="15" name="Shape 11"/>
          <p:cNvSpPr/>
          <p:nvPr/>
        </p:nvSpPr>
        <p:spPr>
          <a:xfrm>
            <a:off x="785813" y="2343150"/>
            <a:ext cx="3529013" cy="428625"/>
          </a:xfrm>
          <a:prstGeom prst="rect">
            <a:avLst/>
          </a:prstGeom>
          <a:solidFill>
            <a:srgbClr val="10B981">
              <a:alpha val="5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5813" y="2343150"/>
            <a:ext cx="3529013" cy="4286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Temperature: 22.5 °C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 Humidity: 45.2 %</a:t>
            </a:r>
            <a:endParaRPr lang="en-US" sz="727" dirty="0"/>
          </a:p>
        </p:txBody>
      </p:sp>
      <p:sp>
        <p:nvSpPr>
          <p:cNvPr id="17" name="Shape 13"/>
          <p:cNvSpPr/>
          <p:nvPr/>
        </p:nvSpPr>
        <p:spPr>
          <a:xfrm>
            <a:off x="785813" y="2864644"/>
            <a:ext cx="1728788" cy="27860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4"/>
          <p:cNvSpPr/>
          <p:nvPr/>
        </p:nvSpPr>
        <p:spPr>
          <a:xfrm>
            <a:off x="785813" y="2864644"/>
            <a:ext cx="1728788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Configuration</a:t>
            </a:r>
            <a:endParaRPr lang="en-US" sz="683" dirty="0"/>
          </a:p>
        </p:txBody>
      </p:sp>
      <p:sp>
        <p:nvSpPr>
          <p:cNvPr id="19" name="Shape 15"/>
          <p:cNvSpPr/>
          <p:nvPr/>
        </p:nvSpPr>
        <p:spPr>
          <a:xfrm>
            <a:off x="2586038" y="2864644"/>
            <a:ext cx="1728788" cy="27860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6"/>
          <p:cNvSpPr/>
          <p:nvPr/>
        </p:nvSpPr>
        <p:spPr>
          <a:xfrm>
            <a:off x="2586038" y="2864644"/>
            <a:ext cx="1728788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Console</a:t>
            </a:r>
            <a:endParaRPr lang="en-US" sz="683" dirty="0"/>
          </a:p>
        </p:txBody>
      </p:sp>
      <p:sp>
        <p:nvSpPr>
          <p:cNvPr id="21" name="Shape 17"/>
          <p:cNvSpPr/>
          <p:nvPr/>
        </p:nvSpPr>
        <p:spPr>
          <a:xfrm>
            <a:off x="785813" y="3250406"/>
            <a:ext cx="3529013" cy="27860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85813" y="3250406"/>
            <a:ext cx="3529013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Information</a:t>
            </a:r>
            <a:endParaRPr lang="en-US" sz="683" dirty="0"/>
          </a:p>
        </p:txBody>
      </p:sp>
      <p:sp>
        <p:nvSpPr>
          <p:cNvPr id="23" name="Shape 19"/>
          <p:cNvSpPr/>
          <p:nvPr/>
        </p:nvSpPr>
        <p:spPr>
          <a:xfrm>
            <a:off x="785813" y="3636169"/>
            <a:ext cx="3529013" cy="27860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Text 20"/>
          <p:cNvSpPr/>
          <p:nvPr/>
        </p:nvSpPr>
        <p:spPr>
          <a:xfrm>
            <a:off x="785813" y="3636169"/>
            <a:ext cx="3529013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Firmware Upgrade</a:t>
            </a:r>
            <a:endParaRPr lang="en-US" sz="683" dirty="0"/>
          </a:p>
        </p:txBody>
      </p:sp>
      <p:sp>
        <p:nvSpPr>
          <p:cNvPr id="25" name="Text 21"/>
          <p:cNvSpPr/>
          <p:nvPr/>
        </p:nvSpPr>
        <p:spPr>
          <a:xfrm>
            <a:off x="642938" y="4461272"/>
            <a:ext cx="3814763" cy="289322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Grafikus Felület (GUI)</a:t>
            </a:r>
            <a:endParaRPr lang="en-US" sz="942" dirty="0"/>
          </a:p>
        </p:txBody>
      </p:sp>
      <p:sp>
        <p:nvSpPr>
          <p:cNvPr id="26" name="Shape 22"/>
          <p:cNvSpPr/>
          <p:nvPr/>
        </p:nvSpPr>
        <p:spPr>
          <a:xfrm>
            <a:off x="4672013" y="1230511"/>
            <a:ext cx="3829050" cy="3541514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79156" y="1230511"/>
            <a:ext cx="3821906" cy="23753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8" name="Shape 24"/>
          <p:cNvSpPr/>
          <p:nvPr/>
        </p:nvSpPr>
        <p:spPr>
          <a:xfrm>
            <a:off x="4679156" y="1460897"/>
            <a:ext cx="3821906" cy="7144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302841"/>
            <a:ext cx="96441" cy="8572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954191" y="1287661"/>
            <a:ext cx="3224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Console</a:t>
            </a:r>
            <a:endParaRPr lang="en-US" sz="621" dirty="0"/>
          </a:p>
        </p:txBody>
      </p:sp>
      <p:sp>
        <p:nvSpPr>
          <p:cNvPr id="31" name="Text 26"/>
          <p:cNvSpPr/>
          <p:nvPr/>
        </p:nvSpPr>
        <p:spPr>
          <a:xfrm>
            <a:off x="4822031" y="1603772"/>
            <a:ext cx="3536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12:00:01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 MQT: tele/sonoff/STATE = {"Time":"2024-01-09T12:00:01"...}</a:t>
            </a:r>
            <a:endParaRPr lang="en-US" sz="674" dirty="0"/>
          </a:p>
        </p:txBody>
      </p:sp>
      <p:sp>
        <p:nvSpPr>
          <p:cNvPr id="32" name="Text 27"/>
          <p:cNvSpPr/>
          <p:nvPr/>
        </p:nvSpPr>
        <p:spPr>
          <a:xfrm>
            <a:off x="4822031" y="1788058"/>
            <a:ext cx="3536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12:00:05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 CMD: Power ON</a:t>
            </a:r>
            <a:endParaRPr lang="en-US" sz="674" dirty="0"/>
          </a:p>
        </p:txBody>
      </p:sp>
      <p:sp>
        <p:nvSpPr>
          <p:cNvPr id="33" name="Text 28"/>
          <p:cNvSpPr/>
          <p:nvPr/>
        </p:nvSpPr>
        <p:spPr>
          <a:xfrm>
            <a:off x="4822031" y="1972345"/>
            <a:ext cx="3536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12:00:05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 MQT: stat/sonoff/RESULT = {"POWER":"ON"}</a:t>
            </a:r>
            <a:endParaRPr lang="en-US" sz="674" dirty="0"/>
          </a:p>
        </p:txBody>
      </p:sp>
      <p:sp>
        <p:nvSpPr>
          <p:cNvPr id="34" name="Text 29"/>
          <p:cNvSpPr/>
          <p:nvPr/>
        </p:nvSpPr>
        <p:spPr>
          <a:xfrm>
            <a:off x="4822031" y="2156631"/>
            <a:ext cx="3536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12:00:05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 MQT: stat/sonoff/POWER = ON</a:t>
            </a:r>
            <a:endParaRPr lang="en-US" sz="674" dirty="0"/>
          </a:p>
        </p:txBody>
      </p:sp>
      <p:sp>
        <p:nvSpPr>
          <p:cNvPr id="35" name="Text 30"/>
          <p:cNvSpPr/>
          <p:nvPr/>
        </p:nvSpPr>
        <p:spPr>
          <a:xfrm>
            <a:off x="4822031" y="2340918"/>
            <a:ext cx="353615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12:05:10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 MQT: tele/sonoff/SENSOR = {"Time":"2024-01-09T12:05:10"...}</a:t>
            </a:r>
            <a:endParaRPr lang="en-US" sz="674" dirty="0"/>
          </a:p>
        </p:txBody>
      </p:sp>
      <p:sp>
        <p:nvSpPr>
          <p:cNvPr id="36" name="Text 31"/>
          <p:cNvSpPr/>
          <p:nvPr/>
        </p:nvSpPr>
        <p:spPr>
          <a:xfrm>
            <a:off x="4822031" y="2632360"/>
            <a:ext cx="3536156" cy="227149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sonoff-console&gt;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 Backlog Power1 1; Delay 50; Power1 0</a:t>
            </a:r>
            <a:endParaRPr lang="en-US" sz="674" dirty="0"/>
          </a:p>
        </p:txBody>
      </p:sp>
      <p:sp>
        <p:nvSpPr>
          <p:cNvPr id="37" name="Text 32"/>
          <p:cNvSpPr/>
          <p:nvPr/>
        </p:nvSpPr>
        <p:spPr>
          <a:xfrm>
            <a:off x="4679156" y="4461272"/>
            <a:ext cx="3821906" cy="289322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Parancssori Felület (CLI)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66590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Összefoglalás és Biztonság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4D399"/>
                </a:solidFill>
              </a:rPr>
              <a:t>09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839766" cy="475059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382316"/>
            <a:ext cx="150019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706" y="1380530"/>
            <a:ext cx="23282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Teljes felhőmentesség és adatvédelem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4661297" y="1230511"/>
            <a:ext cx="3839766" cy="475059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172" y="1375172"/>
            <a:ext cx="150019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97066" y="1373386"/>
            <a:ext cx="23018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Univerzális ESP8266/ESP32 támogatás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642938" y="1869877"/>
            <a:ext cx="3839766" cy="475059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021681"/>
            <a:ext cx="150019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706" y="2019895"/>
            <a:ext cx="25637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Native MQTT és Home Assistant integráció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661297" y="1869877"/>
            <a:ext cx="3839766" cy="475059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172" y="2014538"/>
            <a:ext cx="150019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97066" y="2012752"/>
            <a:ext cx="24944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Rugalmas GPIO konfiguráció sablonokkal</a:t>
            </a:r>
            <a:endParaRPr lang="en-US" sz="942" dirty="0"/>
          </a:p>
        </p:txBody>
      </p:sp>
      <p:sp>
        <p:nvSpPr>
          <p:cNvPr id="19" name="Shape 12"/>
          <p:cNvSpPr/>
          <p:nvPr/>
        </p:nvSpPr>
        <p:spPr>
          <a:xfrm>
            <a:off x="642938" y="2509242"/>
            <a:ext cx="3839766" cy="475059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661047"/>
            <a:ext cx="150019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78706" y="2659261"/>
            <a:ext cx="26435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Nyílt forráskódú, közösségi auditált szoftver</a:t>
            </a:r>
            <a:endParaRPr lang="en-US" sz="942" dirty="0"/>
          </a:p>
        </p:txBody>
      </p:sp>
      <p:sp>
        <p:nvSpPr>
          <p:cNvPr id="22" name="Shape 14"/>
          <p:cNvSpPr/>
          <p:nvPr/>
        </p:nvSpPr>
        <p:spPr>
          <a:xfrm>
            <a:off x="4661297" y="2509242"/>
            <a:ext cx="3839766" cy="475059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4172" y="2653903"/>
            <a:ext cx="150019" cy="1714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097066" y="2652117"/>
            <a:ext cx="220208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Helyi hálózati stabilitás és gyorsaság</a:t>
            </a:r>
            <a:endParaRPr lang="en-US" sz="942" dirty="0"/>
          </a:p>
        </p:txBody>
      </p:sp>
      <p:sp>
        <p:nvSpPr>
          <p:cNvPr id="25" name="Shape 16"/>
          <p:cNvSpPr/>
          <p:nvPr/>
        </p:nvSpPr>
        <p:spPr>
          <a:xfrm>
            <a:off x="642938" y="3255764"/>
            <a:ext cx="7858125" cy="1415467"/>
          </a:xfrm>
          <a:prstGeom prst="rect">
            <a:avLst/>
          </a:prstGeom>
          <a:solidFill>
            <a:srgbClr val="10B981">
              <a:alpha val="5000"/>
            </a:srgbClr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6564" y="3501330"/>
            <a:ext cx="228600" cy="17145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742320" y="3470077"/>
            <a:ext cx="19951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10B981"/>
                </a:solidFill>
              </a:rPr>
              <a:t>Szakmai Konklúzió</a:t>
            </a:r>
            <a:endParaRPr lang="en-US" sz="1269" dirty="0"/>
          </a:p>
        </p:txBody>
      </p:sp>
      <p:sp>
        <p:nvSpPr>
          <p:cNvPr id="28" name="Text 18"/>
          <p:cNvSpPr/>
          <p:nvPr/>
        </p:nvSpPr>
        <p:spPr>
          <a:xfrm>
            <a:off x="1357313" y="3811191"/>
            <a:ext cx="64293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0A0A0"/>
                </a:solidFill>
              </a:rPr>
              <a:t>A Tasmota a legbiztonságosabb választás olyan IoT rendszerekhez, ahol az adatbiztonság és a rendelkezésre állás kritikus. A gyári firmware-ek lecserélésével a rendszerüzemeltető teljes kontrollt kap az eszköz felett, kizárva a külső támadási felületeket és a gyártói függőséget.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2026-01-09T18:12:43Z</dcterms:created>
  <dcterms:modified xsi:type="dcterms:W3CDTF">2026-01-09T18:12:43Z</dcterms:modified>
</cp:coreProperties>
</file>