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62736" y="740634"/>
            <a:ext cx="5818501" cy="3662232"/>
          </a:xfrm>
          <a:prstGeom prst="rect">
            <a:avLst/>
          </a:prstGeom>
          <a:solidFill>
            <a:srgbClr val="003B73">
              <a:alpha val="90000"/>
            </a:srgbClr>
          </a:solidFill>
          <a:ln w="18288">
            <a:solidFill>
              <a:srgbClr val="89CFF0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806" y="1271057"/>
            <a:ext cx="364331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91398" y="2021151"/>
            <a:ext cx="4361176" cy="660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353" b="1" spc="2" kern="0" dirty="0">
                <a:solidFill>
                  <a:srgbClr val="FFFFFF"/>
                </a:solidFill>
              </a:rPr>
              <a:t>Raspberry Pi</a:t>
            </a:r>
            <a:endParaRPr lang="en-US" sz="4353" dirty="0"/>
          </a:p>
        </p:txBody>
      </p:sp>
      <p:sp>
        <p:nvSpPr>
          <p:cNvPr id="6" name="Text 2"/>
          <p:cNvSpPr/>
          <p:nvPr/>
        </p:nvSpPr>
        <p:spPr>
          <a:xfrm>
            <a:off x="2391398" y="2824097"/>
            <a:ext cx="4361176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24" dirty="0">
                <a:solidFill>
                  <a:srgbClr val="89CFF0"/>
                </a:solidFill>
              </a:rPr>
              <a:t>Edge IoT központ</a:t>
            </a:r>
            <a:endParaRPr lang="en-US" sz="1924" dirty="0"/>
          </a:p>
        </p:txBody>
      </p:sp>
      <p:sp>
        <p:nvSpPr>
          <p:cNvPr id="7" name="Text 3"/>
          <p:cNvSpPr/>
          <p:nvPr/>
        </p:nvSpPr>
        <p:spPr>
          <a:xfrm>
            <a:off x="2938788" y="3459891"/>
            <a:ext cx="3266396" cy="50006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D700"/>
                </a:solidFill>
              </a:rPr>
              <a:t>Informatikai rendszerüzemeltető és telepítő technikus</a:t>
            </a:r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D700"/>
                </a:solidFill>
              </a:rPr>
              <a:t>
</a:t>
            </a:r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D700"/>
                </a:solidFill>
              </a:rPr>
              <a:t> Vizsgafelkészítő anyag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285750" y="4741664"/>
            <a:ext cx="20435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9CFF0">
                    <a:alpha val="60000"/>
                  </a:srgbClr>
                </a:solidFill>
              </a:rPr>
              <a:t>SYS.ID: RPI-EDGE-01 // DATE: 2026-01-09 // VER: 1.0</a:t>
            </a:r>
            <a:endParaRPr lang="en-US" sz="62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1037630"/>
            <a:ext cx="7858125" cy="142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503687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Edge Computing Platform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8304916" y="66079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D700"/>
                </a:solidFill>
              </a:rPr>
              <a:t>02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642938" y="1394817"/>
            <a:ext cx="4286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A Raspberry Pi egy alacsony költségű, hitelkártya méretű számítógép, amely lehetővé teszi az adatok helyi feldolgozását és elemzését, csökkentve a felhőinfrastruktúrától való függőséget.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2616398"/>
            <a:ext cx="214313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0125" y="2594967"/>
            <a:ext cx="36974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89CFF0"/>
                </a:solidFill>
              </a:rPr>
              <a:t>Helyi adatfeldolgozás és valós idejű döntéshozatal</a:t>
            </a:r>
            <a:endParaRPr lang="en-US" sz="1159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3009305"/>
            <a:ext cx="214313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0125" y="2987873"/>
            <a:ext cx="23228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89CFF0"/>
                </a:solidFill>
              </a:rPr>
              <a:t>Csökkentett sávszélesség-igény</a:t>
            </a:r>
            <a:endParaRPr lang="en-US" sz="1159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402211"/>
            <a:ext cx="214313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0125" y="3380780"/>
            <a:ext cx="296881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89CFF0"/>
                </a:solidFill>
              </a:rPr>
              <a:t>Nagyobb adatbiztonság és adatvédelem</a:t>
            </a:r>
            <a:endParaRPr lang="en-US" sz="1159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795117"/>
            <a:ext cx="214313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0125" y="3773686"/>
            <a:ext cx="26560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89CFF0"/>
                </a:solidFill>
              </a:rPr>
              <a:t>Működés internetkapcsolat nélkül is</a:t>
            </a:r>
            <a:endParaRPr lang="en-US" sz="1159" dirty="0"/>
          </a:p>
        </p:txBody>
      </p:sp>
      <p:sp>
        <p:nvSpPr>
          <p:cNvPr id="16" name="Shape 9"/>
          <p:cNvSpPr/>
          <p:nvPr/>
        </p:nvSpPr>
        <p:spPr>
          <a:xfrm>
            <a:off x="5286375" y="1394817"/>
            <a:ext cx="3214688" cy="3214688"/>
          </a:xfrm>
          <a:prstGeom prst="rect">
            <a:avLst/>
          </a:prstGeom>
          <a:solidFill>
            <a:srgbClr val="003B73">
              <a:alpha val="50000"/>
            </a:srgbClr>
          </a:solidFill>
          <a:ln w="18288">
            <a:solidFill>
              <a:srgbClr val="89CFF0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6625828" y="1754684"/>
            <a:ext cx="535781" cy="428625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3352" y="2397621"/>
            <a:ext cx="160734" cy="214313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6350068" y="2683371"/>
            <a:ext cx="1087273" cy="1307306"/>
          </a:xfrm>
          <a:prstGeom prst="rect">
            <a:avLst/>
          </a:prstGeom>
          <a:solidFill>
            <a:srgbClr val="FFD700">
              <a:alpha val="10000"/>
            </a:srgbClr>
          </a:solidFill>
          <a:ln w="18288">
            <a:solidFill>
              <a:srgbClr val="FFD700"/>
            </a:solidFill>
            <a:prstDash val="dash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6877" y="2911971"/>
            <a:ext cx="453628" cy="5715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578668" y="3626346"/>
            <a:ext cx="63007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FD700"/>
                </a:solidFill>
              </a:rPr>
              <a:t>Edge Node</a:t>
            </a:r>
            <a:endParaRPr lang="en-US" sz="727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0208" y="4133552"/>
            <a:ext cx="64294" cy="85725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414501" y="4119265"/>
            <a:ext cx="10227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9CFF0"/>
                </a:solidFill>
              </a:rPr>
              <a:t>Adatfeldolgozás Helyben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1037630"/>
            <a:ext cx="7858125" cy="142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54995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Technikai Specifikációk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8304916" y="66079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D700"/>
                </a:solidFill>
              </a:rPr>
              <a:t>03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323380"/>
            <a:ext cx="3786188" cy="3398639"/>
          </a:xfrm>
          <a:prstGeom prst="rect">
            <a:avLst/>
          </a:prstGeom>
          <a:solidFill>
            <a:srgbClr val="003B73">
              <a:alpha val="80000"/>
            </a:srgbClr>
          </a:solidFill>
          <a:ln w="18288">
            <a:solidFill>
              <a:srgbClr val="89CF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574304"/>
            <a:ext cx="200025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64431" y="1537692"/>
            <a:ext cx="128738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FFD700"/>
                </a:solidFill>
              </a:rPr>
              <a:t>RPi 4 Model B</a:t>
            </a:r>
            <a:endParaRPr lang="en-US" sz="1486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3" y="2112764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8719" y="2068116"/>
            <a:ext cx="23297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9CFF0"/>
                </a:solidFill>
              </a:rPr>
              <a:t>PROCESSZOR</a:t>
            </a:r>
            <a:endParaRPr lang="en-US" sz="683" dirty="0"/>
          </a:p>
        </p:txBody>
      </p:sp>
      <p:sp>
        <p:nvSpPr>
          <p:cNvPr id="12" name="Text 7"/>
          <p:cNvSpPr/>
          <p:nvPr/>
        </p:nvSpPr>
        <p:spPr>
          <a:xfrm>
            <a:off x="1178719" y="2232422"/>
            <a:ext cx="23297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Quad-core Cortex-A72 64-bit @ 1.5GHz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076" y="2594967"/>
            <a:ext cx="144661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8719" y="2550319"/>
            <a:ext cx="20050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9CFF0"/>
                </a:solidFill>
              </a:rPr>
              <a:t>MEMÓRIA</a:t>
            </a:r>
            <a:endParaRPr lang="en-US" sz="683" dirty="0"/>
          </a:p>
        </p:txBody>
      </p:sp>
      <p:sp>
        <p:nvSpPr>
          <p:cNvPr id="15" name="Text 9"/>
          <p:cNvSpPr/>
          <p:nvPr/>
        </p:nvSpPr>
        <p:spPr>
          <a:xfrm>
            <a:off x="1178719" y="2714625"/>
            <a:ext cx="20050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1GB, 2GB, 4GB vagy 8GB LPDDR4</a:t>
            </a:r>
            <a:endParaRPr lang="en-US" sz="942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3" y="3077170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78719" y="3032522"/>
            <a:ext cx="24147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9CFF0"/>
                </a:solidFill>
              </a:rPr>
              <a:t>CSATLAKOZÓK</a:t>
            </a:r>
            <a:endParaRPr lang="en-US" sz="683" dirty="0"/>
          </a:p>
        </p:txBody>
      </p:sp>
      <p:sp>
        <p:nvSpPr>
          <p:cNvPr id="18" name="Text 11"/>
          <p:cNvSpPr/>
          <p:nvPr/>
        </p:nvSpPr>
        <p:spPr>
          <a:xfrm>
            <a:off x="1178719" y="3196828"/>
            <a:ext cx="24147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2× USB 3.0, 2× USB 2.0, Gigabit Ethernet</a:t>
            </a:r>
            <a:endParaRPr lang="en-US" sz="942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039" y="3559373"/>
            <a:ext cx="160734" cy="128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78719" y="3514725"/>
            <a:ext cx="17431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9CFF0"/>
                </a:solidFill>
              </a:rPr>
              <a:t>VEZETÉK NÉLKÜLI</a:t>
            </a:r>
            <a:endParaRPr lang="en-US" sz="683" dirty="0"/>
          </a:p>
        </p:txBody>
      </p:sp>
      <p:sp>
        <p:nvSpPr>
          <p:cNvPr id="21" name="Text 13"/>
          <p:cNvSpPr/>
          <p:nvPr/>
        </p:nvSpPr>
        <p:spPr>
          <a:xfrm>
            <a:off x="1178719" y="3679031"/>
            <a:ext cx="17431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Wi-Fi 802.11ac, Bluetooth 5.0</a:t>
            </a:r>
            <a:endParaRPr lang="en-US" sz="942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186" y="4041577"/>
            <a:ext cx="96441" cy="12858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178719" y="3996928"/>
            <a:ext cx="168938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9CFF0"/>
                </a:solidFill>
              </a:rPr>
              <a:t>GPIO</a:t>
            </a:r>
            <a:endParaRPr lang="en-US" sz="683" dirty="0"/>
          </a:p>
        </p:txBody>
      </p:sp>
      <p:sp>
        <p:nvSpPr>
          <p:cNvPr id="24" name="Text 15"/>
          <p:cNvSpPr/>
          <p:nvPr/>
        </p:nvSpPr>
        <p:spPr>
          <a:xfrm>
            <a:off x="1178719" y="4161234"/>
            <a:ext cx="168938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40 tűs header szenzorokhoz</a:t>
            </a:r>
            <a:endParaRPr lang="en-US" sz="942" dirty="0"/>
          </a:p>
        </p:txBody>
      </p:sp>
      <p:sp>
        <p:nvSpPr>
          <p:cNvPr id="25" name="Shape 16"/>
          <p:cNvSpPr/>
          <p:nvPr/>
        </p:nvSpPr>
        <p:spPr>
          <a:xfrm>
            <a:off x="4714875" y="1323380"/>
            <a:ext cx="3786188" cy="3370064"/>
          </a:xfrm>
          <a:prstGeom prst="rect">
            <a:avLst/>
          </a:prstGeom>
          <a:solidFill>
            <a:srgbClr val="003B73">
              <a:alpha val="80000"/>
            </a:srgbClr>
          </a:solidFill>
          <a:ln w="18288">
            <a:solidFill>
              <a:srgbClr val="89CFF0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1574304"/>
            <a:ext cx="200025" cy="20002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36369" y="1537692"/>
            <a:ext cx="179804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FFD700"/>
                </a:solidFill>
              </a:rPr>
              <a:t>Compute Module 4</a:t>
            </a:r>
            <a:endParaRPr lang="en-US" sz="1486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2050" y="2112764"/>
            <a:ext cx="128588" cy="12858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50656" y="2068116"/>
            <a:ext cx="20169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9CFF0"/>
                </a:solidFill>
              </a:rPr>
              <a:t>TÁRHELY OPCIÓK</a:t>
            </a:r>
            <a:endParaRPr lang="en-US" sz="683" dirty="0"/>
          </a:p>
        </p:txBody>
      </p:sp>
      <p:sp>
        <p:nvSpPr>
          <p:cNvPr id="30" name="Text 19"/>
          <p:cNvSpPr/>
          <p:nvPr/>
        </p:nvSpPr>
        <p:spPr>
          <a:xfrm>
            <a:off x="5250656" y="2232422"/>
            <a:ext cx="20169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Akár 32 GB eMMC Flash memória</a:t>
            </a:r>
            <a:endParaRPr lang="en-US" sz="942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4013" y="2594967"/>
            <a:ext cx="144661" cy="12858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250656" y="2550319"/>
            <a:ext cx="19258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9CFF0"/>
                </a:solidFill>
              </a:rPr>
              <a:t>BŐVÍTETT MEMÓRIA</a:t>
            </a:r>
            <a:endParaRPr lang="en-US" sz="683" dirty="0"/>
          </a:p>
        </p:txBody>
      </p:sp>
      <p:sp>
        <p:nvSpPr>
          <p:cNvPr id="33" name="Text 21"/>
          <p:cNvSpPr/>
          <p:nvPr/>
        </p:nvSpPr>
        <p:spPr>
          <a:xfrm>
            <a:off x="5250656" y="2714625"/>
            <a:ext cx="19258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Akár 8 GB LPDDR4-3200 SDRAM</a:t>
            </a:r>
            <a:endParaRPr lang="en-US" sz="942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4013" y="3077170"/>
            <a:ext cx="144661" cy="128588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250656" y="3032522"/>
            <a:ext cx="28765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9CFF0"/>
                </a:solidFill>
              </a:rPr>
              <a:t>IPARI FELHASZNÁLÁS</a:t>
            </a:r>
            <a:endParaRPr lang="en-US" sz="683" dirty="0"/>
          </a:p>
        </p:txBody>
      </p:sp>
      <p:sp>
        <p:nvSpPr>
          <p:cNvPr id="36" name="Text 23"/>
          <p:cNvSpPr/>
          <p:nvPr/>
        </p:nvSpPr>
        <p:spPr>
          <a:xfrm>
            <a:off x="5250656" y="3196828"/>
            <a:ext cx="28765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Kompakt forma, nincs hagyományos csatlakozó</a:t>
            </a:r>
            <a:endParaRPr lang="en-US" sz="942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72050" y="3559373"/>
            <a:ext cx="128588" cy="128588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5250656" y="3514725"/>
            <a:ext cx="26487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9CFF0"/>
                </a:solidFill>
              </a:rPr>
              <a:t>IO CSATLAKOZÓK</a:t>
            </a:r>
            <a:endParaRPr lang="en-US" sz="683" dirty="0"/>
          </a:p>
        </p:txBody>
      </p:sp>
      <p:sp>
        <p:nvSpPr>
          <p:cNvPr id="39" name="Text 25"/>
          <p:cNvSpPr/>
          <p:nvPr/>
        </p:nvSpPr>
        <p:spPr>
          <a:xfrm>
            <a:off x="5250656" y="3679031"/>
            <a:ext cx="26487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Két nagy sűrűségű csatlakozó az alaplaphoz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1037630"/>
            <a:ext cx="7858125" cy="142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559442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MQTT Broker &amp; Üzenetkezelés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8304916" y="66079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D700"/>
                </a:solidFill>
              </a:rPr>
              <a:t>04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642938" y="1323380"/>
            <a:ext cx="25646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FFD700"/>
                </a:solidFill>
              </a:rPr>
              <a:t>Mosquitto Broker</a:t>
            </a:r>
            <a:endParaRPr lang="en-US" sz="1486" dirty="0"/>
          </a:p>
        </p:txBody>
      </p:sp>
      <p:sp>
        <p:nvSpPr>
          <p:cNvPr id="8" name="Text 5"/>
          <p:cNvSpPr/>
          <p:nvPr/>
        </p:nvSpPr>
        <p:spPr>
          <a:xfrm>
            <a:off x="642938" y="1748433"/>
            <a:ext cx="8115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89CFF0"/>
                </a:solidFill>
              </a:rPr>
              <a:t>Pehelysúlyú: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642938" y="1748433"/>
            <a:ext cx="2380571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Minimális erőforrásigény, tökéletes Raspberry Pi-ra.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42938" y="2312789"/>
            <a:ext cx="6614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89CFF0"/>
                </a:solidFill>
              </a:rPr>
              <a:t>Hatékony: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642938" y="2312789"/>
            <a:ext cx="2438307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Több ezer egyidejű kapcsolat kezelése alacsony sávszélességgel.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642938" y="2877145"/>
            <a:ext cx="10432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89CFF0"/>
                </a:solidFill>
              </a:rPr>
              <a:t>Pub/Sub Modell: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642938" y="2877145"/>
            <a:ext cx="218612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Az eszközök nem közvetlenül kommunikálnak, hanem témákra (topics) iratkoznak fel.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642938" y="3634383"/>
            <a:ext cx="10993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89CFF0"/>
                </a:solidFill>
              </a:rPr>
              <a:t>Gyakorlati példa: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642938" y="3634383"/>
            <a:ext cx="2399714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Szenzorok küldik az adatot a Pi-nek, a Home Assistant pedig olvassa azt.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3500438" y="1752005"/>
            <a:ext cx="857250" cy="857250"/>
          </a:xfrm>
          <a:prstGeom prst="rect">
            <a:avLst/>
          </a:prstGeom>
          <a:solidFill>
            <a:srgbClr val="003B73">
              <a:alpha val="90000"/>
            </a:srgbClr>
          </a:solidFill>
          <a:ln w="18288">
            <a:solidFill>
              <a:srgbClr val="89CFF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766" y="1885950"/>
            <a:ext cx="178594" cy="2857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37452" y="2243138"/>
            <a:ext cx="583192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ESP32 Szenzor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(Publisher)</a:t>
            </a:r>
            <a:endParaRPr lang="en-US" sz="621" dirty="0"/>
          </a:p>
        </p:txBody>
      </p:sp>
      <p:sp>
        <p:nvSpPr>
          <p:cNvPr id="19" name="Shape 15"/>
          <p:cNvSpPr/>
          <p:nvPr/>
        </p:nvSpPr>
        <p:spPr>
          <a:xfrm>
            <a:off x="3500438" y="3466505"/>
            <a:ext cx="857250" cy="857250"/>
          </a:xfrm>
          <a:prstGeom prst="rect">
            <a:avLst/>
          </a:prstGeom>
          <a:solidFill>
            <a:srgbClr val="003B73">
              <a:alpha val="90000"/>
            </a:srgbClr>
          </a:solidFill>
          <a:ln w="18288">
            <a:solidFill>
              <a:srgbClr val="89CFF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906" y="3600450"/>
            <a:ext cx="214313" cy="2857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61339" y="3957638"/>
            <a:ext cx="53544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Tasmota Relé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(Publisher)</a:t>
            </a:r>
            <a:endParaRPr lang="en-US" sz="621" dirty="0"/>
          </a:p>
        </p:txBody>
      </p:sp>
      <p:sp>
        <p:nvSpPr>
          <p:cNvPr id="22" name="Shape 17"/>
          <p:cNvSpPr/>
          <p:nvPr/>
        </p:nvSpPr>
        <p:spPr>
          <a:xfrm>
            <a:off x="5357813" y="2609255"/>
            <a:ext cx="857250" cy="857250"/>
          </a:xfrm>
          <a:prstGeom prst="rect">
            <a:avLst/>
          </a:prstGeom>
          <a:solidFill>
            <a:srgbClr val="003B73">
              <a:alpha val="90000"/>
            </a:srgbClr>
          </a:solidFill>
          <a:ln w="18288">
            <a:solidFill>
              <a:srgbClr val="FFD70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91" y="2743200"/>
            <a:ext cx="222266" cy="2857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08042" y="3100388"/>
            <a:ext cx="75679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Raspberry Pi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(Mosquitto Broker)</a:t>
            </a:r>
            <a:endParaRPr lang="en-US" sz="621" dirty="0"/>
          </a:p>
        </p:txBody>
      </p:sp>
      <p:sp>
        <p:nvSpPr>
          <p:cNvPr id="25" name="Shape 19"/>
          <p:cNvSpPr/>
          <p:nvPr/>
        </p:nvSpPr>
        <p:spPr>
          <a:xfrm>
            <a:off x="7643813" y="2609255"/>
            <a:ext cx="857250" cy="857250"/>
          </a:xfrm>
          <a:prstGeom prst="rect">
            <a:avLst/>
          </a:prstGeom>
          <a:solidFill>
            <a:srgbClr val="003B73">
              <a:alpha val="90000"/>
            </a:srgbClr>
          </a:solidFill>
          <a:ln w="18288">
            <a:solidFill>
              <a:srgbClr val="89CFF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1703" y="2743200"/>
            <a:ext cx="321469" cy="2857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57806" y="3100388"/>
            <a:ext cx="62923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Home Assistant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(Subscriber)</a:t>
            </a:r>
            <a:endParaRPr lang="en-US" sz="621" dirty="0"/>
          </a:p>
        </p:txBody>
      </p:sp>
      <p:sp>
        <p:nvSpPr>
          <p:cNvPr id="28" name="Shape 21"/>
          <p:cNvSpPr/>
          <p:nvPr/>
        </p:nvSpPr>
        <p:spPr>
          <a:xfrm>
            <a:off x="4786313" y="2287786"/>
            <a:ext cx="457702" cy="141089"/>
          </a:xfrm>
          <a:prstGeom prst="rect">
            <a:avLst/>
          </a:prstGeom>
          <a:solidFill>
            <a:srgbClr val="003B73"/>
          </a:solidFill>
          <a:ln w="9144">
            <a:solidFill>
              <a:srgbClr val="FFD70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786313" y="2287786"/>
            <a:ext cx="457702" cy="141089"/>
          </a:xfrm>
          <a:prstGeom prst="rect">
            <a:avLst/>
          </a:prstGeom>
          <a:noFill/>
          <a:ln/>
        </p:spPr>
        <p:txBody>
          <a:bodyPr wrap="square" lIns="42545" tIns="17018" rIns="42545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temp: 22°C</a:t>
            </a:r>
            <a:endParaRPr lang="en-US" sz="516" dirty="0"/>
          </a:p>
        </p:txBody>
      </p:sp>
      <p:sp>
        <p:nvSpPr>
          <p:cNvPr id="30" name="Shape 23"/>
          <p:cNvSpPr/>
          <p:nvPr/>
        </p:nvSpPr>
        <p:spPr>
          <a:xfrm>
            <a:off x="4786313" y="3645098"/>
            <a:ext cx="399715" cy="141089"/>
          </a:xfrm>
          <a:prstGeom prst="rect">
            <a:avLst/>
          </a:prstGeom>
          <a:solidFill>
            <a:srgbClr val="003B73"/>
          </a:solidFill>
          <a:ln w="9144">
            <a:solidFill>
              <a:srgbClr val="FFD70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786313" y="3645098"/>
            <a:ext cx="399715" cy="141089"/>
          </a:xfrm>
          <a:prstGeom prst="rect">
            <a:avLst/>
          </a:prstGeom>
          <a:noFill/>
          <a:ln/>
        </p:spPr>
        <p:txBody>
          <a:bodyPr wrap="square" lIns="42545" tIns="17018" rIns="42545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state: ON</a:t>
            </a:r>
            <a:endParaRPr lang="en-US" sz="516" dirty="0"/>
          </a:p>
        </p:txBody>
      </p:sp>
      <p:sp>
        <p:nvSpPr>
          <p:cNvPr id="32" name="Shape 25"/>
          <p:cNvSpPr/>
          <p:nvPr/>
        </p:nvSpPr>
        <p:spPr>
          <a:xfrm>
            <a:off x="6929438" y="2895005"/>
            <a:ext cx="556292" cy="141089"/>
          </a:xfrm>
          <a:prstGeom prst="rect">
            <a:avLst/>
          </a:prstGeom>
          <a:solidFill>
            <a:srgbClr val="003B73"/>
          </a:solidFill>
          <a:ln w="9144">
            <a:solidFill>
              <a:srgbClr val="FFD70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929438" y="2895005"/>
            <a:ext cx="556292" cy="141089"/>
          </a:xfrm>
          <a:prstGeom prst="rect">
            <a:avLst/>
          </a:prstGeom>
          <a:noFill/>
          <a:ln/>
        </p:spPr>
        <p:txBody>
          <a:bodyPr wrap="square" lIns="42545" tIns="17018" rIns="42545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topic: home/#</a:t>
            </a:r>
            <a:endParaRPr lang="en-US" sz="516" dirty="0"/>
          </a:p>
        </p:txBody>
      </p:sp>
      <p:sp>
        <p:nvSpPr>
          <p:cNvPr id="34" name="Shape 27"/>
          <p:cNvSpPr/>
          <p:nvPr/>
        </p:nvSpPr>
        <p:spPr>
          <a:xfrm>
            <a:off x="4643438" y="2037755"/>
            <a:ext cx="383418" cy="144661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5" name="Text 28"/>
          <p:cNvSpPr/>
          <p:nvPr/>
        </p:nvSpPr>
        <p:spPr>
          <a:xfrm>
            <a:off x="4643438" y="2037755"/>
            <a:ext cx="383418" cy="144661"/>
          </a:xfrm>
          <a:prstGeom prst="rect">
            <a:avLst/>
          </a:prstGeom>
          <a:noFill/>
          <a:ln/>
        </p:spPr>
        <p:txBody>
          <a:bodyPr wrap="none" lIns="17018" tIns="17018" rIns="17018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9CFF0"/>
                </a:solidFill>
              </a:rPr>
              <a:t>PUBLISH</a:t>
            </a:r>
            <a:endParaRPr lang="en-US" sz="621" dirty="0"/>
          </a:p>
        </p:txBody>
      </p:sp>
      <p:sp>
        <p:nvSpPr>
          <p:cNvPr id="36" name="Shape 29"/>
          <p:cNvSpPr/>
          <p:nvPr/>
        </p:nvSpPr>
        <p:spPr>
          <a:xfrm>
            <a:off x="4643438" y="3895130"/>
            <a:ext cx="383418" cy="144661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7" name="Text 30"/>
          <p:cNvSpPr/>
          <p:nvPr/>
        </p:nvSpPr>
        <p:spPr>
          <a:xfrm>
            <a:off x="4643438" y="3895130"/>
            <a:ext cx="383418" cy="144661"/>
          </a:xfrm>
          <a:prstGeom prst="rect">
            <a:avLst/>
          </a:prstGeom>
          <a:noFill/>
          <a:ln/>
        </p:spPr>
        <p:txBody>
          <a:bodyPr wrap="none" lIns="17018" tIns="17018" rIns="17018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9CFF0"/>
                </a:solidFill>
              </a:rPr>
              <a:t>PUBLISH</a:t>
            </a:r>
            <a:endParaRPr lang="en-US" sz="621" dirty="0"/>
          </a:p>
        </p:txBody>
      </p:sp>
      <p:sp>
        <p:nvSpPr>
          <p:cNvPr id="38" name="Shape 31"/>
          <p:cNvSpPr/>
          <p:nvPr/>
        </p:nvSpPr>
        <p:spPr>
          <a:xfrm>
            <a:off x="6929438" y="3109317"/>
            <a:ext cx="481059" cy="144661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9" name="Text 32"/>
          <p:cNvSpPr/>
          <p:nvPr/>
        </p:nvSpPr>
        <p:spPr>
          <a:xfrm>
            <a:off x="6929438" y="3109317"/>
            <a:ext cx="481059" cy="144661"/>
          </a:xfrm>
          <a:prstGeom prst="rect">
            <a:avLst/>
          </a:prstGeom>
          <a:noFill/>
          <a:ln/>
        </p:spPr>
        <p:txBody>
          <a:bodyPr wrap="none" lIns="17018" tIns="17018" rIns="17018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9CFF0"/>
                </a:solidFill>
              </a:rPr>
              <a:t>SUBSCRIBE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1037630"/>
            <a:ext cx="7858125" cy="142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88532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Home Assistant Platform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8304916" y="66079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D700"/>
                </a:solidFill>
              </a:rPr>
              <a:t>05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642938" y="1323380"/>
            <a:ext cx="3929063" cy="27324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89CFF0"/>
                </a:solidFill>
              </a:rPr>
              <a:t>Képességek</a:t>
            </a:r>
            <a:endParaRPr lang="en-US" sz="1486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16" y="1766292"/>
            <a:ext cx="107156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4406" y="1739503"/>
            <a:ext cx="161136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2000+ Eszköz Integráció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27" y="2068116"/>
            <a:ext cx="160734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4406" y="2041327"/>
            <a:ext cx="16696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Helyi Vezérlés (No Cloud)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97" y="2369939"/>
            <a:ext cx="178594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4406" y="2343150"/>
            <a:ext cx="169279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Automatizálási Szabályok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2671763"/>
            <a:ext cx="142875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4406" y="2644973"/>
            <a:ext cx="24161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Add-on Rendszer (MQTT, Node-RED)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642938" y="3125391"/>
            <a:ext cx="3929063" cy="27324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89CFF0"/>
                </a:solidFill>
              </a:rPr>
              <a:t>Telepítési Módok</a:t>
            </a:r>
            <a:endParaRPr lang="en-US" sz="1486" dirty="0"/>
          </a:p>
        </p:txBody>
      </p:sp>
      <p:sp>
        <p:nvSpPr>
          <p:cNvPr id="17" name="Shape 10"/>
          <p:cNvSpPr/>
          <p:nvPr/>
        </p:nvSpPr>
        <p:spPr>
          <a:xfrm>
            <a:off x="642938" y="3541514"/>
            <a:ext cx="3929063" cy="1101923"/>
          </a:xfrm>
          <a:prstGeom prst="rect">
            <a:avLst/>
          </a:prstGeom>
          <a:solidFill>
            <a:srgbClr val="003B73">
              <a:alpha val="50000"/>
            </a:srgbClr>
          </a:solidFill>
          <a:ln w="9144">
            <a:solidFill>
              <a:srgbClr val="89CFF0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785813" y="3684389"/>
            <a:ext cx="10789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Home Assistant OS</a:t>
            </a:r>
            <a:endParaRPr lang="en-US" sz="784" dirty="0"/>
          </a:p>
        </p:txBody>
      </p:sp>
      <p:sp>
        <p:nvSpPr>
          <p:cNvPr id="19" name="Text 12"/>
          <p:cNvSpPr/>
          <p:nvPr/>
        </p:nvSpPr>
        <p:spPr>
          <a:xfrm>
            <a:off x="3742627" y="3684389"/>
            <a:ext cx="6864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9CFF0"/>
                </a:solidFill>
              </a:rPr>
              <a:t>Ajánlott (RPi)</a:t>
            </a:r>
            <a:endParaRPr lang="en-US" sz="834" dirty="0"/>
          </a:p>
        </p:txBody>
      </p:sp>
      <p:sp>
        <p:nvSpPr>
          <p:cNvPr id="20" name="Text 13"/>
          <p:cNvSpPr/>
          <p:nvPr/>
        </p:nvSpPr>
        <p:spPr>
          <a:xfrm>
            <a:off x="785813" y="3954066"/>
            <a:ext cx="9390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Docker Container</a:t>
            </a:r>
            <a:endParaRPr lang="en-US" sz="834" dirty="0"/>
          </a:p>
        </p:txBody>
      </p:sp>
      <p:sp>
        <p:nvSpPr>
          <p:cNvPr id="21" name="Text 14"/>
          <p:cNvSpPr/>
          <p:nvPr/>
        </p:nvSpPr>
        <p:spPr>
          <a:xfrm>
            <a:off x="4047241" y="3954066"/>
            <a:ext cx="3818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9CFF0"/>
                </a:solidFill>
              </a:rPr>
              <a:t>Haladó</a:t>
            </a:r>
            <a:endParaRPr lang="en-US" sz="834" dirty="0"/>
          </a:p>
        </p:txBody>
      </p:sp>
      <p:sp>
        <p:nvSpPr>
          <p:cNvPr id="22" name="Text 15"/>
          <p:cNvSpPr/>
          <p:nvPr/>
        </p:nvSpPr>
        <p:spPr>
          <a:xfrm>
            <a:off x="785813" y="4223742"/>
            <a:ext cx="5924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Supervised</a:t>
            </a:r>
            <a:endParaRPr lang="en-US" sz="834" dirty="0"/>
          </a:p>
        </p:txBody>
      </p:sp>
      <p:sp>
        <p:nvSpPr>
          <p:cNvPr id="23" name="Text 16"/>
          <p:cNvSpPr/>
          <p:nvPr/>
        </p:nvSpPr>
        <p:spPr>
          <a:xfrm>
            <a:off x="4081872" y="4223742"/>
            <a:ext cx="3472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9CFF0"/>
                </a:solidFill>
              </a:rPr>
              <a:t>Expert</a:t>
            </a:r>
            <a:endParaRPr lang="en-US" sz="834" dirty="0"/>
          </a:p>
        </p:txBody>
      </p:sp>
      <p:sp>
        <p:nvSpPr>
          <p:cNvPr id="24" name="Shape 17"/>
          <p:cNvSpPr/>
          <p:nvPr/>
        </p:nvSpPr>
        <p:spPr>
          <a:xfrm>
            <a:off x="6286500" y="2680692"/>
            <a:ext cx="857250" cy="857250"/>
          </a:xfrm>
          <a:prstGeom prst="ellipse">
            <a:avLst/>
          </a:prstGeom>
          <a:solidFill>
            <a:srgbClr val="003B73"/>
          </a:solidFill>
          <a:ln w="18288">
            <a:solidFill>
              <a:srgbClr val="FFD70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4207" y="2930723"/>
            <a:ext cx="401836" cy="35718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429375" y="1466255"/>
            <a:ext cx="571500" cy="571500"/>
          </a:xfrm>
          <a:prstGeom prst="rect">
            <a:avLst/>
          </a:prstGeom>
          <a:solidFill>
            <a:srgbClr val="003B73"/>
          </a:solidFill>
          <a:ln w="18288">
            <a:solidFill>
              <a:srgbClr val="89CFF0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0831" y="1599307"/>
            <a:ext cx="128588" cy="1714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542838" y="1806476"/>
            <a:ext cx="34454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Világítás</a:t>
            </a:r>
            <a:endParaRPr lang="en-US" sz="516" dirty="0"/>
          </a:p>
        </p:txBody>
      </p:sp>
      <p:sp>
        <p:nvSpPr>
          <p:cNvPr id="29" name="Shape 20"/>
          <p:cNvSpPr/>
          <p:nvPr/>
        </p:nvSpPr>
        <p:spPr>
          <a:xfrm>
            <a:off x="7786688" y="2823567"/>
            <a:ext cx="571500" cy="571500"/>
          </a:xfrm>
          <a:prstGeom prst="rect">
            <a:avLst/>
          </a:prstGeom>
          <a:solidFill>
            <a:srgbClr val="003B73"/>
          </a:solidFill>
          <a:ln w="18288">
            <a:solidFill>
              <a:srgbClr val="89CFF0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8859" y="2956620"/>
            <a:ext cx="107156" cy="17145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865185" y="3163788"/>
            <a:ext cx="41450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Szenzorok</a:t>
            </a:r>
            <a:endParaRPr lang="en-US" sz="516" dirty="0"/>
          </a:p>
        </p:txBody>
      </p:sp>
      <p:sp>
        <p:nvSpPr>
          <p:cNvPr id="32" name="Shape 22"/>
          <p:cNvSpPr/>
          <p:nvPr/>
        </p:nvSpPr>
        <p:spPr>
          <a:xfrm>
            <a:off x="6429375" y="4180880"/>
            <a:ext cx="571500" cy="571500"/>
          </a:xfrm>
          <a:prstGeom prst="rect">
            <a:avLst/>
          </a:prstGeom>
          <a:solidFill>
            <a:srgbClr val="003B73"/>
          </a:solidFill>
          <a:ln w="18288">
            <a:solidFill>
              <a:srgbClr val="89CFF0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8684" y="4313932"/>
            <a:ext cx="192881" cy="17145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550763" y="4521101"/>
            <a:ext cx="32869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Kamerák</a:t>
            </a:r>
            <a:endParaRPr lang="en-US" sz="516" dirty="0"/>
          </a:p>
        </p:txBody>
      </p:sp>
      <p:sp>
        <p:nvSpPr>
          <p:cNvPr id="35" name="Shape 24"/>
          <p:cNvSpPr/>
          <p:nvPr/>
        </p:nvSpPr>
        <p:spPr>
          <a:xfrm>
            <a:off x="5072063" y="2823567"/>
            <a:ext cx="571500" cy="571500"/>
          </a:xfrm>
          <a:prstGeom prst="rect">
            <a:avLst/>
          </a:prstGeom>
          <a:solidFill>
            <a:srgbClr val="003B73"/>
          </a:solidFill>
          <a:ln w="18288">
            <a:solidFill>
              <a:srgbClr val="89CFF0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2803" y="2956620"/>
            <a:ext cx="150019" cy="17145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160132" y="3163788"/>
            <a:ext cx="39536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Biztonság</a:t>
            </a:r>
            <a:endParaRPr lang="en-US" sz="51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1037630"/>
            <a:ext cx="7858125" cy="142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39840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Helyi Adatfeldolgozás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8304916" y="66079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D700"/>
                </a:solidFill>
              </a:rPr>
              <a:t>06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537692"/>
            <a:ext cx="1428750" cy="1285875"/>
          </a:xfrm>
          <a:prstGeom prst="rect">
            <a:avLst/>
          </a:prstGeom>
          <a:solidFill>
            <a:srgbClr val="003B73">
              <a:alpha val="80000"/>
            </a:srgbClr>
          </a:solidFill>
          <a:ln w="18288">
            <a:solidFill>
              <a:srgbClr val="89CF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5813" y="1680567"/>
            <a:ext cx="1143000" cy="23753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9CFF0"/>
                </a:solidFill>
              </a:rPr>
              <a:t>Bemenet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719" y="2025253"/>
            <a:ext cx="357188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5813" y="2418159"/>
            <a:ext cx="1143000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Nyers Szenzoradatok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 (Zajos, Nagy 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mennyiség)</a:t>
            </a:r>
            <a:endParaRPr lang="en-US" sz="727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496" y="2073473"/>
            <a:ext cx="133945" cy="214313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43250" y="1394817"/>
            <a:ext cx="2857500" cy="1571625"/>
          </a:xfrm>
          <a:prstGeom prst="rect">
            <a:avLst/>
          </a:prstGeom>
          <a:solidFill>
            <a:srgbClr val="003B73">
              <a:alpha val="80000"/>
            </a:srgbClr>
          </a:solidFill>
          <a:ln w="18288">
            <a:solidFill>
              <a:srgbClr val="FFD7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86125" y="1537692"/>
            <a:ext cx="2571750" cy="23753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D700"/>
                </a:solidFill>
              </a:rPr>
              <a:t>Raspberry Pi Edge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5" y="1917204"/>
            <a:ext cx="85725" cy="857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43288" y="1882378"/>
            <a:ext cx="10910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Zajszűrés és tisztítás</a:t>
            </a:r>
            <a:endParaRPr lang="en-US" sz="834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25" y="2144018"/>
            <a:ext cx="64294" cy="857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421856" y="2109192"/>
            <a:ext cx="15172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Aggregálás (Átlag, Min/Max)</a:t>
            </a:r>
            <a:endParaRPr lang="en-US" sz="834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6125" y="2370832"/>
            <a:ext cx="85725" cy="857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443288" y="2336006"/>
            <a:ext cx="10622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Anomáliadetektálás</a:t>
            </a:r>
            <a:endParaRPr lang="en-US" sz="834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6125" y="2597646"/>
            <a:ext cx="85725" cy="857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443288" y="2562820"/>
            <a:ext cx="7753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Előfeldolgozás</a:t>
            </a:r>
            <a:endParaRPr lang="en-US" sz="834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9559" y="2073473"/>
            <a:ext cx="133945" cy="214313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7072313" y="1537692"/>
            <a:ext cx="1428750" cy="1285875"/>
          </a:xfrm>
          <a:prstGeom prst="rect">
            <a:avLst/>
          </a:prstGeom>
          <a:solidFill>
            <a:srgbClr val="003B73">
              <a:alpha val="80000"/>
            </a:srgbClr>
          </a:solidFill>
          <a:ln w="18288">
            <a:solidFill>
              <a:srgbClr val="89CFF0"/>
            </a:solidFill>
            <a:prstDash val="solid"/>
          </a:ln>
        </p:spPr>
      </p:sp>
      <p:sp>
        <p:nvSpPr>
          <p:cNvPr id="24" name="Text 14"/>
          <p:cNvSpPr/>
          <p:nvPr/>
        </p:nvSpPr>
        <p:spPr>
          <a:xfrm>
            <a:off x="7215188" y="1680567"/>
            <a:ext cx="1143000" cy="23753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9CFF0"/>
                </a:solidFill>
              </a:rPr>
              <a:t>Kimenet</a:t>
            </a:r>
            <a:endParaRPr lang="en-US" sz="10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5953" y="2025253"/>
            <a:ext cx="321469" cy="28575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331273" y="2418159"/>
            <a:ext cx="91082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Tisztított Adat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 Valós idejű Riasztás</a:t>
            </a:r>
            <a:endParaRPr lang="en-US" sz="727" dirty="0"/>
          </a:p>
        </p:txBody>
      </p:sp>
      <p:sp>
        <p:nvSpPr>
          <p:cNvPr id="27" name="Shape 16"/>
          <p:cNvSpPr/>
          <p:nvPr/>
        </p:nvSpPr>
        <p:spPr>
          <a:xfrm>
            <a:off x="642938" y="3395067"/>
            <a:ext cx="2476481" cy="1135856"/>
          </a:xfrm>
          <a:prstGeom prst="rect">
            <a:avLst/>
          </a:prstGeom>
          <a:solidFill>
            <a:srgbClr val="89CFF0">
              <a:alpha val="5000"/>
            </a:srgbClr>
          </a:solidFill>
          <a:ln w="9144">
            <a:solidFill>
              <a:srgbClr val="89CFF0"/>
            </a:solidFill>
            <a:prstDash val="dash"/>
          </a:ln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813" y="3559373"/>
            <a:ext cx="128588" cy="17145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1021556" y="3537942"/>
            <a:ext cx="1243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D700"/>
                </a:solidFill>
              </a:rPr>
              <a:t>Azonnali Reakció</a:t>
            </a:r>
            <a:endParaRPr lang="en-US" sz="1159" dirty="0"/>
          </a:p>
        </p:txBody>
      </p:sp>
      <p:sp>
        <p:nvSpPr>
          <p:cNvPr id="30" name="Text 18"/>
          <p:cNvSpPr/>
          <p:nvPr/>
        </p:nvSpPr>
        <p:spPr>
          <a:xfrm>
            <a:off x="785813" y="3859411"/>
            <a:ext cx="21907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Kritikus események kezelése késleltetés nélkül (pl. vészleállítás), internetkapcsolattól függetlenül.</a:t>
            </a:r>
            <a:endParaRPr lang="en-US" sz="834" dirty="0"/>
          </a:p>
        </p:txBody>
      </p:sp>
      <p:sp>
        <p:nvSpPr>
          <p:cNvPr id="31" name="Shape 19"/>
          <p:cNvSpPr/>
          <p:nvPr/>
        </p:nvSpPr>
        <p:spPr>
          <a:xfrm>
            <a:off x="3333731" y="3395067"/>
            <a:ext cx="2476509" cy="1135856"/>
          </a:xfrm>
          <a:prstGeom prst="rect">
            <a:avLst/>
          </a:prstGeom>
          <a:solidFill>
            <a:srgbClr val="89CFF0">
              <a:alpha val="5000"/>
            </a:srgbClr>
          </a:solidFill>
          <a:ln w="9144">
            <a:solidFill>
              <a:srgbClr val="89CFF0"/>
            </a:solidFill>
            <a:prstDash val="dash"/>
          </a:ln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6606" y="3559373"/>
            <a:ext cx="214313" cy="17145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3798075" y="3537942"/>
            <a:ext cx="9571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D700"/>
                </a:solidFill>
              </a:rPr>
              <a:t>Sávszélesség</a:t>
            </a:r>
            <a:endParaRPr lang="en-US" sz="1159" dirty="0"/>
          </a:p>
        </p:txBody>
      </p:sp>
      <p:sp>
        <p:nvSpPr>
          <p:cNvPr id="34" name="Text 21"/>
          <p:cNvSpPr/>
          <p:nvPr/>
        </p:nvSpPr>
        <p:spPr>
          <a:xfrm>
            <a:off x="3476606" y="3859411"/>
            <a:ext cx="21907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Csak a releváns, feldolgozott adatok kerülnek továbbításra, csökkentve a hálózati terhelést.</a:t>
            </a:r>
            <a:endParaRPr lang="en-US" sz="834" dirty="0"/>
          </a:p>
        </p:txBody>
      </p:sp>
      <p:sp>
        <p:nvSpPr>
          <p:cNvPr id="35" name="Shape 22"/>
          <p:cNvSpPr/>
          <p:nvPr/>
        </p:nvSpPr>
        <p:spPr>
          <a:xfrm>
            <a:off x="6024553" y="3395067"/>
            <a:ext cx="2476481" cy="1135856"/>
          </a:xfrm>
          <a:prstGeom prst="rect">
            <a:avLst/>
          </a:prstGeom>
          <a:solidFill>
            <a:srgbClr val="89CFF0">
              <a:alpha val="5000"/>
            </a:srgbClr>
          </a:solidFill>
          <a:ln w="9144">
            <a:solidFill>
              <a:srgbClr val="89CFF0"/>
            </a:solidFill>
            <a:prstDash val="dash"/>
          </a:ln>
        </p:spPr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7428" y="3559373"/>
            <a:ext cx="214313" cy="17145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488897" y="3537942"/>
            <a:ext cx="9719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D700"/>
                </a:solidFill>
              </a:rPr>
              <a:t>Adatvédelem</a:t>
            </a:r>
            <a:endParaRPr lang="en-US" sz="1159" dirty="0"/>
          </a:p>
        </p:txBody>
      </p:sp>
      <p:sp>
        <p:nvSpPr>
          <p:cNvPr id="38" name="Text 24"/>
          <p:cNvSpPr/>
          <p:nvPr/>
        </p:nvSpPr>
        <p:spPr>
          <a:xfrm>
            <a:off x="6167428" y="3859411"/>
            <a:ext cx="21907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Az érzékeny nyers adatok (pl. kamerakép, hang) nem hagyják el a helyi hálózatot.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1037630"/>
            <a:ext cx="7858125" cy="142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52732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Gépi Tanulás az Edge-en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8304916" y="66079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D700"/>
                </a:solidFill>
              </a:rPr>
              <a:t>07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180505"/>
            <a:ext cx="7858125" cy="3893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42938" y="1180505"/>
            <a:ext cx="28575" cy="389334"/>
          </a:xfrm>
          <a:prstGeom prst="rect">
            <a:avLst/>
          </a:prstGeom>
          <a:solidFill>
            <a:srgbClr val="89CFF0"/>
          </a:solidFill>
          <a:ln/>
        </p:spPr>
      </p:sp>
      <p:sp>
        <p:nvSpPr>
          <p:cNvPr id="9" name="Text 6"/>
          <p:cNvSpPr/>
          <p:nvPr/>
        </p:nvSpPr>
        <p:spPr>
          <a:xfrm>
            <a:off x="642938" y="1180505"/>
            <a:ext cx="7858125" cy="3893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A Raspberry Pi 4 elegendő számítási teljesítménnyel rendelkezik ahhoz, hogy gépi tanulási (ML) modelleket futtasson közvetlenül az eszközön, felhőkapcsolat nélkül.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2938" y="1784152"/>
            <a:ext cx="7858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FFD700"/>
                </a:solidFill>
              </a:rPr>
              <a:t>Platformok és Eszközök</a:t>
            </a:r>
            <a:endParaRPr lang="en-US" sz="1269" dirty="0"/>
          </a:p>
        </p:txBody>
      </p:sp>
      <p:sp>
        <p:nvSpPr>
          <p:cNvPr id="11" name="Shape 8"/>
          <p:cNvSpPr/>
          <p:nvPr/>
        </p:nvSpPr>
        <p:spPr>
          <a:xfrm>
            <a:off x="642938" y="2089547"/>
            <a:ext cx="1603353" cy="1640105"/>
          </a:xfrm>
          <a:prstGeom prst="rect">
            <a:avLst/>
          </a:prstGeom>
          <a:solidFill>
            <a:srgbClr val="003B73">
              <a:alpha val="60000"/>
            </a:srgbClr>
          </a:solidFill>
          <a:ln w="18288">
            <a:solidFill>
              <a:srgbClr val="89CFF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2368153"/>
            <a:ext cx="157163" cy="15716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14413" y="2232422"/>
            <a:ext cx="108900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TensorFlow Lite</a:t>
            </a:r>
            <a:endParaRPr lang="en-US" sz="1159" dirty="0"/>
          </a:p>
        </p:txBody>
      </p:sp>
      <p:sp>
        <p:nvSpPr>
          <p:cNvPr id="14" name="Text 10"/>
          <p:cNvSpPr/>
          <p:nvPr/>
        </p:nvSpPr>
        <p:spPr>
          <a:xfrm>
            <a:off x="785813" y="2718197"/>
            <a:ext cx="1317603" cy="84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9CFF0"/>
                </a:solidFill>
              </a:rPr>
              <a:t>Optimalizált ML modellek futtatása alacsony erőforrásigényű eszközökön. Gyors inferencia CPU-n vagy GPU-n.</a:t>
            </a:r>
            <a:endParaRPr lang="en-US" sz="727" dirty="0"/>
          </a:p>
        </p:txBody>
      </p:sp>
      <p:sp>
        <p:nvSpPr>
          <p:cNvPr id="15" name="Shape 11"/>
          <p:cNvSpPr/>
          <p:nvPr/>
        </p:nvSpPr>
        <p:spPr>
          <a:xfrm>
            <a:off x="2389166" y="2089547"/>
            <a:ext cx="1603381" cy="1611530"/>
          </a:xfrm>
          <a:prstGeom prst="rect">
            <a:avLst/>
          </a:prstGeom>
          <a:solidFill>
            <a:srgbClr val="003B73">
              <a:alpha val="60000"/>
            </a:srgbClr>
          </a:solidFill>
          <a:ln w="18288">
            <a:solidFill>
              <a:srgbClr val="89CFF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041" y="2260997"/>
            <a:ext cx="196453" cy="15716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99931" y="2232422"/>
            <a:ext cx="100869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Edge Impulse</a:t>
            </a:r>
            <a:endParaRPr lang="en-US" sz="1159" dirty="0"/>
          </a:p>
        </p:txBody>
      </p:sp>
      <p:sp>
        <p:nvSpPr>
          <p:cNvPr id="18" name="Text 13"/>
          <p:cNvSpPr/>
          <p:nvPr/>
        </p:nvSpPr>
        <p:spPr>
          <a:xfrm>
            <a:off x="2532041" y="2503884"/>
            <a:ext cx="1317631" cy="70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9CFF0"/>
                </a:solidFill>
              </a:rPr>
              <a:t>Teljes körű fejlesztői platform ML modellek gyűjtésére, tanítására és telepítésére beágyazott rendszerekre.</a:t>
            </a:r>
            <a:endParaRPr lang="en-US" sz="727" dirty="0"/>
          </a:p>
        </p:txBody>
      </p:sp>
      <p:sp>
        <p:nvSpPr>
          <p:cNvPr id="19" name="Shape 14"/>
          <p:cNvSpPr/>
          <p:nvPr/>
        </p:nvSpPr>
        <p:spPr>
          <a:xfrm>
            <a:off x="4135422" y="2089547"/>
            <a:ext cx="1603381" cy="1611530"/>
          </a:xfrm>
          <a:prstGeom prst="rect">
            <a:avLst/>
          </a:prstGeom>
          <a:solidFill>
            <a:srgbClr val="003B73">
              <a:alpha val="60000"/>
            </a:srgbClr>
          </a:solidFill>
          <a:ln w="18288">
            <a:solidFill>
              <a:srgbClr val="89CFF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8297" y="2368153"/>
            <a:ext cx="196453" cy="15716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46188" y="2232422"/>
            <a:ext cx="10497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Azure IoT Edge</a:t>
            </a:r>
            <a:endParaRPr lang="en-US" sz="1159" dirty="0"/>
          </a:p>
        </p:txBody>
      </p:sp>
      <p:sp>
        <p:nvSpPr>
          <p:cNvPr id="22" name="Text 16"/>
          <p:cNvSpPr/>
          <p:nvPr/>
        </p:nvSpPr>
        <p:spPr>
          <a:xfrm>
            <a:off x="4278297" y="2718197"/>
            <a:ext cx="1317631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9CFF0"/>
                </a:solidFill>
              </a:rPr>
              <a:t>Felhőben tanított modellek (pl. Vision AI) konténerizált futtatása a Raspberry Pi-n.</a:t>
            </a:r>
            <a:endParaRPr lang="en-US" sz="727" dirty="0"/>
          </a:p>
        </p:txBody>
      </p:sp>
      <p:sp>
        <p:nvSpPr>
          <p:cNvPr id="23" name="Text 17"/>
          <p:cNvSpPr/>
          <p:nvPr/>
        </p:nvSpPr>
        <p:spPr>
          <a:xfrm>
            <a:off x="5953116" y="2089547"/>
            <a:ext cx="254794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spc="1" kern="0" dirty="0">
                <a:solidFill>
                  <a:srgbClr val="FFD700"/>
                </a:solidFill>
              </a:rPr>
              <a:t>Alkalmazási Területek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953116" y="2369939"/>
            <a:ext cx="2547947" cy="801886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5953116" y="2369939"/>
            <a:ext cx="28575" cy="801886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841" y="2659261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81741" y="2455664"/>
            <a:ext cx="20335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Képfelismerés</a:t>
            </a:r>
            <a:endParaRPr lang="en-US" sz="987" dirty="0"/>
          </a:p>
        </p:txBody>
      </p:sp>
      <p:sp>
        <p:nvSpPr>
          <p:cNvPr id="28" name="Text 21"/>
          <p:cNvSpPr/>
          <p:nvPr/>
        </p:nvSpPr>
        <p:spPr>
          <a:xfrm>
            <a:off x="6381741" y="2678906"/>
            <a:ext cx="2033597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Arcfelismerés, objektumdetektálás, rendszámfelismerés biztonsági rendszerekben.</a:t>
            </a:r>
            <a:endParaRPr lang="en-US" sz="727" dirty="0"/>
          </a:p>
        </p:txBody>
      </p:sp>
      <p:sp>
        <p:nvSpPr>
          <p:cNvPr id="29" name="Shape 22"/>
          <p:cNvSpPr/>
          <p:nvPr/>
        </p:nvSpPr>
        <p:spPr>
          <a:xfrm>
            <a:off x="5953116" y="3257550"/>
            <a:ext cx="2547947" cy="66615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5953116" y="3257550"/>
            <a:ext cx="28575" cy="666155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033" y="3479006"/>
            <a:ext cx="17145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33003" y="3343275"/>
            <a:ext cx="19823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Hangfelismerés</a:t>
            </a:r>
            <a:endParaRPr lang="en-US" sz="987" dirty="0"/>
          </a:p>
        </p:txBody>
      </p:sp>
      <p:sp>
        <p:nvSpPr>
          <p:cNvPr id="33" name="Text 25"/>
          <p:cNvSpPr/>
          <p:nvPr/>
        </p:nvSpPr>
        <p:spPr>
          <a:xfrm>
            <a:off x="6433003" y="3566517"/>
            <a:ext cx="198233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Hangvezérlés, kulcsszó-felismerés, zajosztályozás (pl. üvegtörés).</a:t>
            </a:r>
            <a:endParaRPr lang="en-US" sz="727" dirty="0"/>
          </a:p>
        </p:txBody>
      </p:sp>
      <p:sp>
        <p:nvSpPr>
          <p:cNvPr id="34" name="Shape 26"/>
          <p:cNvSpPr/>
          <p:nvPr/>
        </p:nvSpPr>
        <p:spPr>
          <a:xfrm>
            <a:off x="5953116" y="4009430"/>
            <a:ext cx="2547947" cy="66615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5" name="Shape 27"/>
          <p:cNvSpPr/>
          <p:nvPr/>
        </p:nvSpPr>
        <p:spPr>
          <a:xfrm>
            <a:off x="5953116" y="4009430"/>
            <a:ext cx="28575" cy="666155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8841" y="4230886"/>
            <a:ext cx="28575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38891" y="4095155"/>
            <a:ext cx="197644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Prediktív Karbantartás</a:t>
            </a:r>
            <a:endParaRPr lang="en-US" sz="987" dirty="0"/>
          </a:p>
        </p:txBody>
      </p:sp>
      <p:sp>
        <p:nvSpPr>
          <p:cNvPr id="38" name="Text 29"/>
          <p:cNvSpPr/>
          <p:nvPr/>
        </p:nvSpPr>
        <p:spPr>
          <a:xfrm>
            <a:off x="6438891" y="4318397"/>
            <a:ext cx="197644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Vibráció és hangminták elemzése gépek meghibásodásának előrejelzésére.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1037630"/>
            <a:ext cx="7858125" cy="142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5274487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Webes Vezérlőfelület és API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8304916" y="66079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D700"/>
                </a:solidFill>
              </a:rPr>
              <a:t>08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323380"/>
            <a:ext cx="3214688" cy="1260872"/>
          </a:xfrm>
          <a:prstGeom prst="rect">
            <a:avLst/>
          </a:prstGeom>
          <a:solidFill>
            <a:srgbClr val="003B73">
              <a:alpha val="80000"/>
            </a:srgbClr>
          </a:solidFill>
          <a:ln w="18288">
            <a:solidFill>
              <a:srgbClr val="89CF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5813" y="1466255"/>
            <a:ext cx="2928938" cy="23753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D700"/>
                </a:solidFill>
              </a:rPr>
              <a:t>Frontend (Kliens)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795760"/>
            <a:ext cx="178594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35844" y="1775222"/>
            <a:ext cx="7151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React / Vue.js</a:t>
            </a:r>
            <a:endParaRPr lang="en-US" sz="834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008287"/>
            <a:ext cx="178594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5844" y="1987748"/>
            <a:ext cx="7422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HTML5 / CSS3</a:t>
            </a:r>
            <a:endParaRPr lang="en-US" sz="834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220813"/>
            <a:ext cx="178594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5844" y="2200275"/>
            <a:ext cx="10356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JavaScript / Chart.js</a:t>
            </a:r>
            <a:endParaRPr lang="en-US" sz="834" dirty="0"/>
          </a:p>
        </p:txBody>
      </p:sp>
      <p:sp>
        <p:nvSpPr>
          <p:cNvPr id="15" name="Shape 9"/>
          <p:cNvSpPr/>
          <p:nvPr/>
        </p:nvSpPr>
        <p:spPr>
          <a:xfrm>
            <a:off x="642938" y="2698552"/>
            <a:ext cx="3214688" cy="1260872"/>
          </a:xfrm>
          <a:prstGeom prst="rect">
            <a:avLst/>
          </a:prstGeom>
          <a:solidFill>
            <a:srgbClr val="003B73">
              <a:alpha val="80000"/>
            </a:srgbClr>
          </a:solidFill>
          <a:ln w="18288">
            <a:solidFill>
              <a:srgbClr val="89CFF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85813" y="2841427"/>
            <a:ext cx="2928938" cy="23753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D700"/>
                </a:solidFill>
              </a:rPr>
              <a:t>Backend (Szerver)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170932"/>
            <a:ext cx="178594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35844" y="3150394"/>
            <a:ext cx="12485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Python (Flask / FastAPI)</a:t>
            </a:r>
            <a:endParaRPr lang="en-US" sz="834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383459"/>
            <a:ext cx="178594" cy="1143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35844" y="3362920"/>
            <a:ext cx="4056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Node.js</a:t>
            </a:r>
            <a:endParaRPr lang="en-US" sz="834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3595985"/>
            <a:ext cx="178594" cy="1143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35844" y="3575447"/>
            <a:ext cx="11658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REST API / WebSocket</a:t>
            </a:r>
            <a:endParaRPr lang="en-US" sz="834" dirty="0"/>
          </a:p>
        </p:txBody>
      </p:sp>
      <p:sp>
        <p:nvSpPr>
          <p:cNvPr id="23" name="Shape 14"/>
          <p:cNvSpPr/>
          <p:nvPr/>
        </p:nvSpPr>
        <p:spPr>
          <a:xfrm>
            <a:off x="642938" y="4073723"/>
            <a:ext cx="3214688" cy="1260872"/>
          </a:xfrm>
          <a:prstGeom prst="rect">
            <a:avLst/>
          </a:prstGeom>
          <a:solidFill>
            <a:srgbClr val="003B73">
              <a:alpha val="80000"/>
            </a:srgbClr>
          </a:solidFill>
          <a:ln w="18288">
            <a:solidFill>
              <a:srgbClr val="89CFF0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785813" y="4216598"/>
            <a:ext cx="2928938" cy="23753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D700"/>
                </a:solidFill>
              </a:rPr>
              <a:t>Adatbázis</a:t>
            </a:r>
            <a:endParaRPr lang="en-US" sz="10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13" y="4546104"/>
            <a:ext cx="178594" cy="1143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35844" y="4525566"/>
            <a:ext cx="11393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SQLite (Könnyűsúlyú)</a:t>
            </a:r>
            <a:endParaRPr lang="en-US" sz="834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813" y="4758630"/>
            <a:ext cx="178594" cy="1143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035844" y="4738092"/>
            <a:ext cx="10362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InfluxDB (Idősoros)</a:t>
            </a:r>
            <a:endParaRPr lang="en-US" sz="834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813" y="4971157"/>
            <a:ext cx="178594" cy="1143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035844" y="4950619"/>
            <a:ext cx="7246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CSV Naplózás</a:t>
            </a:r>
            <a:endParaRPr lang="en-US" sz="834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36156" y="3514725"/>
            <a:ext cx="57150" cy="114300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4214813" y="1323380"/>
            <a:ext cx="4286250" cy="3214688"/>
          </a:xfrm>
          <a:prstGeom prst="rect">
            <a:avLst/>
          </a:prstGeom>
          <a:solidFill>
            <a:srgbClr val="000000">
              <a:alpha val="20000"/>
            </a:srgbClr>
          </a:solidFill>
          <a:ln w="18288">
            <a:solidFill>
              <a:srgbClr val="89CFF0"/>
            </a:solidFill>
            <a:prstDash val="solid"/>
          </a:ln>
        </p:spPr>
      </p:sp>
      <p:sp>
        <p:nvSpPr>
          <p:cNvPr id="33" name="Shape 20"/>
          <p:cNvSpPr/>
          <p:nvPr/>
        </p:nvSpPr>
        <p:spPr>
          <a:xfrm>
            <a:off x="4214813" y="1323380"/>
            <a:ext cx="4286250" cy="285750"/>
          </a:xfrm>
          <a:prstGeom prst="rect">
            <a:avLst/>
          </a:prstGeom>
          <a:solidFill>
            <a:srgbClr val="89CFF0">
              <a:alpha val="10000"/>
            </a:srgbClr>
          </a:solidFill>
          <a:ln/>
        </p:spPr>
      </p:sp>
      <p:sp>
        <p:nvSpPr>
          <p:cNvPr id="34" name="Shape 21"/>
          <p:cNvSpPr/>
          <p:nvPr/>
        </p:nvSpPr>
        <p:spPr>
          <a:xfrm>
            <a:off x="4214813" y="1594842"/>
            <a:ext cx="4286250" cy="14288"/>
          </a:xfrm>
          <a:prstGeom prst="rect">
            <a:avLst/>
          </a:prstGeom>
          <a:solidFill>
            <a:srgbClr val="89CFF0"/>
          </a:solidFill>
          <a:ln/>
        </p:spPr>
      </p:sp>
      <p:sp>
        <p:nvSpPr>
          <p:cNvPr id="35" name="Shape 22"/>
          <p:cNvSpPr/>
          <p:nvPr/>
        </p:nvSpPr>
        <p:spPr>
          <a:xfrm>
            <a:off x="4850606" y="1393924"/>
            <a:ext cx="2143125" cy="144661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36" name="Text 23"/>
          <p:cNvSpPr/>
          <p:nvPr/>
        </p:nvSpPr>
        <p:spPr>
          <a:xfrm>
            <a:off x="4850606" y="1393924"/>
            <a:ext cx="2143125" cy="144661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9CFF0"/>
                </a:solidFill>
              </a:rPr>
              <a:t>http://raspberrypi.local/dashboard</a:t>
            </a:r>
            <a:endParaRPr lang="en-US" sz="621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9586" y="2033290"/>
            <a:ext cx="142875" cy="228600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4982626" y="2333327"/>
            <a:ext cx="6967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Hőmérséklet</a:t>
            </a:r>
            <a:endParaRPr lang="en-US" sz="727" dirty="0"/>
          </a:p>
        </p:txBody>
      </p:sp>
      <p:sp>
        <p:nvSpPr>
          <p:cNvPr id="39" name="Text 25"/>
          <p:cNvSpPr/>
          <p:nvPr/>
        </p:nvSpPr>
        <p:spPr>
          <a:xfrm>
            <a:off x="5047785" y="2504777"/>
            <a:ext cx="56647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89CFF0"/>
                </a:solidFill>
              </a:rPr>
              <a:t>24.5 °C</a:t>
            </a:r>
            <a:endParaRPr lang="en-US" sz="1269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56264" y="2033290"/>
            <a:ext cx="257175" cy="228600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7143666" y="2333327"/>
            <a:ext cx="482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Világítás</a:t>
            </a:r>
            <a:endParaRPr lang="en-US" sz="727" dirty="0"/>
          </a:p>
        </p:txBody>
      </p:sp>
      <p:sp>
        <p:nvSpPr>
          <p:cNvPr id="42" name="Text 27"/>
          <p:cNvSpPr/>
          <p:nvPr/>
        </p:nvSpPr>
        <p:spPr>
          <a:xfrm>
            <a:off x="6807575" y="2504777"/>
            <a:ext cx="11545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89CFF0"/>
                </a:solidFill>
              </a:rPr>
              <a:t>BEKAPCSOLVA</a:t>
            </a:r>
            <a:endParaRPr lang="en-US" sz="1269" dirty="0"/>
          </a:p>
        </p:txBody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16723" y="3408462"/>
            <a:ext cx="228600" cy="228600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5032577" y="3708499"/>
            <a:ext cx="5968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Fogyasztás</a:t>
            </a:r>
            <a:endParaRPr lang="en-US" sz="727" dirty="0"/>
          </a:p>
        </p:txBody>
      </p:sp>
      <p:sp>
        <p:nvSpPr>
          <p:cNvPr id="45" name="Text 29"/>
          <p:cNvSpPr/>
          <p:nvPr/>
        </p:nvSpPr>
        <p:spPr>
          <a:xfrm>
            <a:off x="4915681" y="3879949"/>
            <a:ext cx="8306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89CFF0"/>
                </a:solidFill>
              </a:rPr>
              <a:t>Grafikon...</a:t>
            </a:r>
            <a:endParaRPr lang="en-US" sz="1269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84839" y="3408462"/>
            <a:ext cx="200025" cy="228600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7095055" y="3708499"/>
            <a:ext cx="5795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Riasztások</a:t>
            </a:r>
            <a:endParaRPr lang="en-US" sz="727" dirty="0"/>
          </a:p>
        </p:txBody>
      </p:sp>
      <p:sp>
        <p:nvSpPr>
          <p:cNvPr id="48" name="Text 31"/>
          <p:cNvSpPr/>
          <p:nvPr/>
        </p:nvSpPr>
        <p:spPr>
          <a:xfrm>
            <a:off x="7077503" y="3879949"/>
            <a:ext cx="6146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4444"/>
                </a:solidFill>
              </a:rPr>
              <a:t>1 AKTÍV</a:t>
            </a:r>
            <a:endParaRPr lang="en-US" sz="1269" dirty="0"/>
          </a:p>
        </p:txBody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82471" y="4663083"/>
            <a:ext cx="100013" cy="100013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5182484" y="4645223"/>
            <a:ext cx="24509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9CFF0"/>
                </a:solidFill>
              </a:rPr>
              <a:t>A Raspberry Pi web szerverként biztosítja a felületet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24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1037630"/>
            <a:ext cx="7858125" cy="142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280049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Összefoglalás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8304916" y="66079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D700"/>
                </a:solidFill>
              </a:rPr>
              <a:t>09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145679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0119" y="1109067"/>
            <a:ext cx="126017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FFD700"/>
                </a:solidFill>
              </a:rPr>
              <a:t>Főbb Előnyök</a:t>
            </a:r>
            <a:endParaRPr lang="en-US" sz="1486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618059"/>
            <a:ext cx="157163" cy="1571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7256" y="1603772"/>
            <a:ext cx="2970237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Költséghatékony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 Alacsony beszerzési és üzemeltetési költség.</a:t>
            </a:r>
            <a:endParaRPr lang="en-US" sz="987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135981"/>
            <a:ext cx="157163" cy="1571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07256" y="2121694"/>
            <a:ext cx="2748642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Sokoldalú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 Számos alkalmazási terület és integráció.</a:t>
            </a:r>
            <a:endParaRPr lang="en-US" sz="987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2653903"/>
            <a:ext cx="157163" cy="1571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07256" y="2639616"/>
            <a:ext cx="3307556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Nyílt Platform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 Hatalmas közösségi támogatás és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dokumentáció.</a:t>
            </a:r>
            <a:endParaRPr lang="en-US" sz="987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366492"/>
            <a:ext cx="157163" cy="15716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07256" y="3352205"/>
            <a:ext cx="3228417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Helyi Vezérlés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 Független a felhőszolgáltatásoktól, biztonságos.</a:t>
            </a:r>
            <a:endParaRPr lang="en-US" sz="987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235869"/>
            <a:ext cx="150019" cy="20002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186363" y="1199257"/>
            <a:ext cx="158901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FFD700"/>
                </a:solidFill>
              </a:rPr>
              <a:t>Ideális Használat</a:t>
            </a:r>
            <a:endParaRPr lang="en-US" sz="1486" dirty="0"/>
          </a:p>
        </p:txBody>
      </p:sp>
      <p:sp>
        <p:nvSpPr>
          <p:cNvPr id="19" name="Shape 10"/>
          <p:cNvSpPr/>
          <p:nvPr/>
        </p:nvSpPr>
        <p:spPr>
          <a:xfrm>
            <a:off x="4929188" y="1898452"/>
            <a:ext cx="3571875" cy="732234"/>
          </a:xfrm>
          <a:prstGeom prst="rect">
            <a:avLst/>
          </a:prstGeom>
          <a:solidFill>
            <a:srgbClr val="003B73">
              <a:alpha val="50000"/>
            </a:srgbClr>
          </a:solidFill>
          <a:ln w="9144">
            <a:solidFill>
              <a:srgbClr val="89CFF0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2778" y="2151162"/>
            <a:ext cx="257175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600700" y="2079724"/>
            <a:ext cx="18210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Otthonautomatizálás</a:t>
            </a:r>
            <a:endParaRPr lang="en-US" sz="987" dirty="0"/>
          </a:p>
        </p:txBody>
      </p:sp>
      <p:sp>
        <p:nvSpPr>
          <p:cNvPr id="22" name="Text 12"/>
          <p:cNvSpPr/>
          <p:nvPr/>
        </p:nvSpPr>
        <p:spPr>
          <a:xfrm>
            <a:off x="5600700" y="2310110"/>
            <a:ext cx="18210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9CFF0"/>
                </a:solidFill>
              </a:rPr>
              <a:t>Home Assistant központ, MQTT broker.</a:t>
            </a:r>
            <a:endParaRPr lang="en-US" sz="727" dirty="0"/>
          </a:p>
        </p:txBody>
      </p:sp>
      <p:sp>
        <p:nvSpPr>
          <p:cNvPr id="23" name="Shape 13"/>
          <p:cNvSpPr/>
          <p:nvPr/>
        </p:nvSpPr>
        <p:spPr>
          <a:xfrm>
            <a:off x="4929188" y="2737842"/>
            <a:ext cx="3571875" cy="735806"/>
          </a:xfrm>
          <a:prstGeom prst="rect">
            <a:avLst/>
          </a:prstGeom>
          <a:solidFill>
            <a:srgbClr val="003B73">
              <a:alpha val="50000"/>
            </a:srgbClr>
          </a:solidFill>
          <a:ln w="9144">
            <a:solidFill>
              <a:srgbClr val="89CFF0"/>
            </a:solidFill>
            <a:prstDash val="solid"/>
          </a:ln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2778" y="2995910"/>
            <a:ext cx="257175" cy="2286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600700" y="2924473"/>
            <a:ext cx="209766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Ipari IoT (IIoT)</a:t>
            </a:r>
            <a:endParaRPr lang="en-US" sz="987" dirty="0"/>
          </a:p>
        </p:txBody>
      </p:sp>
      <p:sp>
        <p:nvSpPr>
          <p:cNvPr id="26" name="Text 15"/>
          <p:cNvSpPr/>
          <p:nvPr/>
        </p:nvSpPr>
        <p:spPr>
          <a:xfrm>
            <a:off x="5600700" y="3154859"/>
            <a:ext cx="20976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9CFF0"/>
                </a:solidFill>
              </a:rPr>
              <a:t>Adatgyűjtés, monitorozás, gateway funkciók.</a:t>
            </a:r>
            <a:endParaRPr lang="en-US" sz="727" dirty="0"/>
          </a:p>
        </p:txBody>
      </p:sp>
      <p:sp>
        <p:nvSpPr>
          <p:cNvPr id="27" name="Shape 16"/>
          <p:cNvSpPr/>
          <p:nvPr/>
        </p:nvSpPr>
        <p:spPr>
          <a:xfrm>
            <a:off x="4929188" y="3584377"/>
            <a:ext cx="3571875" cy="739378"/>
          </a:xfrm>
          <a:prstGeom prst="rect">
            <a:avLst/>
          </a:prstGeom>
          <a:solidFill>
            <a:srgbClr val="003B73">
              <a:alpha val="50000"/>
            </a:srgbClr>
          </a:solidFill>
          <a:ln w="9144">
            <a:solidFill>
              <a:srgbClr val="89CFF0"/>
            </a:solidFill>
            <a:prstDash val="solid"/>
          </a:ln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1353" y="3847802"/>
            <a:ext cx="200025" cy="2286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600700" y="3776365"/>
            <a:ext cx="173813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Prototípusfejlesztés</a:t>
            </a:r>
            <a:endParaRPr lang="en-US" sz="987" dirty="0"/>
          </a:p>
        </p:txBody>
      </p:sp>
      <p:sp>
        <p:nvSpPr>
          <p:cNvPr id="30" name="Text 18"/>
          <p:cNvSpPr/>
          <p:nvPr/>
        </p:nvSpPr>
        <p:spPr>
          <a:xfrm>
            <a:off x="5600700" y="4006751"/>
            <a:ext cx="17381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9CFF0"/>
                </a:solidFill>
              </a:rPr>
              <a:t>Gyors tesztelés, oktatás, kísérletezés.</a:t>
            </a:r>
            <a:endParaRPr lang="en-US" sz="727" dirty="0"/>
          </a:p>
        </p:txBody>
      </p:sp>
      <p:sp>
        <p:nvSpPr>
          <p:cNvPr id="31" name="Shape 19"/>
          <p:cNvSpPr/>
          <p:nvPr/>
        </p:nvSpPr>
        <p:spPr>
          <a:xfrm>
            <a:off x="642938" y="4395192"/>
            <a:ext cx="7858125" cy="742950"/>
          </a:xfrm>
          <a:prstGeom prst="rect">
            <a:avLst/>
          </a:prstGeom>
          <a:solidFill>
            <a:srgbClr val="FFD700">
              <a:alpha val="10000"/>
            </a:srgbClr>
          </a:solidFill>
          <a:ln w="18288">
            <a:solidFill>
              <a:srgbClr val="FFD700"/>
            </a:solidFill>
            <a:prstDash val="solid"/>
          </a:ln>
        </p:spPr>
      </p:sp>
      <p:sp>
        <p:nvSpPr>
          <p:cNvPr id="32" name="Text 20"/>
          <p:cNvSpPr/>
          <p:nvPr/>
        </p:nvSpPr>
        <p:spPr>
          <a:xfrm>
            <a:off x="785813" y="4538067"/>
            <a:ext cx="7572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A Raspberry Pi a legrugalmasabb és legelérhetőbb eszköz saját Edge IoT megoldások építéséhez.</a:t>
            </a:r>
            <a:endParaRPr lang="en-US" sz="10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2026-01-09T17:15:30Z</dcterms:created>
  <dcterms:modified xsi:type="dcterms:W3CDTF">2026-01-09T17:15:30Z</dcterms:modified>
</cp:coreProperties>
</file>