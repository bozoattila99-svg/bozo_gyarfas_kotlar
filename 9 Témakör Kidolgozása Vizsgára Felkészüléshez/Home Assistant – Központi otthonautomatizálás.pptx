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image" Target="../media/image-5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image" Target="../media/image-7-9.png"/><Relationship Id="rId10" Type="http://schemas.openxmlformats.org/officeDocument/2006/relationships/image" Target="../media/image-7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395835" y="702766"/>
            <a:ext cx="4352330" cy="3737967"/>
          </a:xfrm>
          <a:prstGeom prst="rect">
            <a:avLst/>
          </a:prstGeom>
          <a:solidFill>
            <a:srgbClr val="1E293B">
              <a:alpha val="80000"/>
            </a:srgbClr>
          </a:solidFill>
          <a:ln w="9144">
            <a:solidFill>
              <a:srgbClr val="38BDF8">
                <a:alpha val="30000"/>
              </a:srgbClr>
            </a:solidFill>
            <a:prstDash val="solid"/>
          </a:ln>
        </p:spPr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50531" y="1249263"/>
            <a:ext cx="642938" cy="5715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2831604" y="2302966"/>
            <a:ext cx="3480792" cy="6232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4300"/>
              </a:lnSpc>
              <a:buNone/>
            </a:pPr>
            <a:r>
              <a:rPr lang="en-US" sz="3294" b="1" spc="-1" kern="0" dirty="0">
                <a:solidFill>
                  <a:srgbClr val="FFFFFF"/>
                </a:solidFill>
              </a:rPr>
              <a:t>Home Assistant</a:t>
            </a:r>
            <a:endParaRPr lang="en-US" sz="3294" dirty="0"/>
          </a:p>
        </p:txBody>
      </p:sp>
      <p:sp>
        <p:nvSpPr>
          <p:cNvPr id="6" name="Text 2"/>
          <p:cNvSpPr/>
          <p:nvPr/>
        </p:nvSpPr>
        <p:spPr>
          <a:xfrm>
            <a:off x="2831604" y="3069134"/>
            <a:ext cx="3480792" cy="2732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486" dirty="0">
                <a:solidFill>
                  <a:srgbClr val="38BDF8"/>
                </a:solidFill>
              </a:rPr>
              <a:t>Központi otthonautomatizálás</a:t>
            </a:r>
            <a:endParaRPr lang="en-US" sz="1486" dirty="0"/>
          </a:p>
        </p:txBody>
      </p:sp>
      <p:sp>
        <p:nvSpPr>
          <p:cNvPr id="7" name="Text 3"/>
          <p:cNvSpPr/>
          <p:nvPr/>
        </p:nvSpPr>
        <p:spPr>
          <a:xfrm>
            <a:off x="2831604" y="3699570"/>
            <a:ext cx="3480792" cy="305395"/>
          </a:xfrm>
          <a:prstGeom prst="rect">
            <a:avLst/>
          </a:prstGeom>
          <a:noFill/>
          <a:ln/>
        </p:spPr>
        <p:txBody>
          <a:bodyPr wrap="square" lIns="0" tIns="170053" rIns="0" bIns="0" rtlCol="0" anchor="t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834" spc="3" kern="0" dirty="0">
                <a:solidFill>
                  <a:srgbClr val="94A3B8"/>
                </a:solidFill>
              </a:rPr>
              <a:t>Vizsgafelkészítő // Témakör 07</a:t>
            </a:r>
            <a:endParaRPr lang="en-US" sz="834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42938" y="428625"/>
            <a:ext cx="7858125" cy="530423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642938" y="944761"/>
            <a:ext cx="7858125" cy="1428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5" name="Text 2"/>
          <p:cNvSpPr/>
          <p:nvPr/>
        </p:nvSpPr>
        <p:spPr>
          <a:xfrm>
            <a:off x="642938" y="428625"/>
            <a:ext cx="3610356" cy="4089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121" b="1" dirty="0">
                <a:solidFill>
                  <a:srgbClr val="FFFFFF"/>
                </a:solidFill>
              </a:rPr>
              <a:t>Mi az a Home Assistant?</a:t>
            </a:r>
            <a:endParaRPr lang="en-US" sz="2121" dirty="0"/>
          </a:p>
        </p:txBody>
      </p:sp>
      <p:sp>
        <p:nvSpPr>
          <p:cNvPr id="6" name="Text 3"/>
          <p:cNvSpPr/>
          <p:nvPr/>
        </p:nvSpPr>
        <p:spPr>
          <a:xfrm>
            <a:off x="8304916" y="603647"/>
            <a:ext cx="196146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59E0B"/>
                </a:solidFill>
              </a:rPr>
              <a:t>02</a:t>
            </a:r>
            <a:endParaRPr lang="en-US" sz="1193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938" y="1266230"/>
            <a:ext cx="175022" cy="20002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960834" y="1230511"/>
            <a:ext cx="3968353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38BDF8"/>
                </a:solidFill>
              </a:rPr>
              <a:t>Nyílt Forráskódú</a:t>
            </a:r>
            <a:endParaRPr lang="en-US" sz="1193" dirty="0"/>
          </a:p>
        </p:txBody>
      </p:sp>
      <p:sp>
        <p:nvSpPr>
          <p:cNvPr id="9" name="Text 5"/>
          <p:cNvSpPr/>
          <p:nvPr/>
        </p:nvSpPr>
        <p:spPr>
          <a:xfrm>
            <a:off x="960834" y="1535906"/>
            <a:ext cx="3968353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42" dirty="0">
                <a:solidFill>
                  <a:srgbClr val="94A3B8"/>
                </a:solidFill>
              </a:rPr>
              <a:t>Egy Python alapú, közösség által fejlesztett platform, amely nem függ egyetlen gyártótól sem.</a:t>
            </a:r>
            <a:endParaRPr lang="en-US" sz="942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938" y="2181690"/>
            <a:ext cx="250031" cy="200025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035844" y="2145971"/>
            <a:ext cx="3893344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38BDF8"/>
                </a:solidFill>
              </a:rPr>
              <a:t>Helyi Vezérlés</a:t>
            </a:r>
            <a:endParaRPr lang="en-US" sz="1193" dirty="0"/>
          </a:p>
        </p:txBody>
      </p:sp>
      <p:sp>
        <p:nvSpPr>
          <p:cNvPr id="12" name="Text 7"/>
          <p:cNvSpPr/>
          <p:nvPr/>
        </p:nvSpPr>
        <p:spPr>
          <a:xfrm>
            <a:off x="1035844" y="2451367"/>
            <a:ext cx="3893344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42" dirty="0">
                <a:solidFill>
                  <a:srgbClr val="94A3B8"/>
                </a:solidFill>
              </a:rPr>
              <a:t>Az adatok nem hagyják el az otthonát. Nincs szükség felhőre a működéshez, ami gyorsabb és biztonságosabb.</a:t>
            </a:r>
            <a:endParaRPr lang="en-US" sz="942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2938" y="3097150"/>
            <a:ext cx="200025" cy="200025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985838" y="3061432"/>
            <a:ext cx="3943350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38BDF8"/>
                </a:solidFill>
              </a:rPr>
              <a:t>Univerzális Integráció</a:t>
            </a:r>
            <a:endParaRPr lang="en-US" sz="1193" dirty="0"/>
          </a:p>
        </p:txBody>
      </p:sp>
      <p:sp>
        <p:nvSpPr>
          <p:cNvPr id="15" name="Text 9"/>
          <p:cNvSpPr/>
          <p:nvPr/>
        </p:nvSpPr>
        <p:spPr>
          <a:xfrm>
            <a:off x="985838" y="3366827"/>
            <a:ext cx="3943350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42" dirty="0">
                <a:solidFill>
                  <a:srgbClr val="94A3B8"/>
                </a:solidFill>
              </a:rPr>
              <a:t>Több mint 2500 különböző eszközt és szolgáltatást képes egyetlen felületen egyesíteni.</a:t>
            </a:r>
            <a:endParaRPr lang="en-US" sz="942" dirty="0"/>
          </a:p>
        </p:txBody>
      </p:sp>
      <p:sp>
        <p:nvSpPr>
          <p:cNvPr id="16" name="Shape 10"/>
          <p:cNvSpPr/>
          <p:nvPr/>
        </p:nvSpPr>
        <p:spPr>
          <a:xfrm>
            <a:off x="5643563" y="1230511"/>
            <a:ext cx="2857500" cy="2857500"/>
          </a:xfrm>
          <a:prstGeom prst="rect">
            <a:avLst/>
          </a:prstGeom>
          <a:solidFill>
            <a:srgbClr val="1E293B">
              <a:alpha val="50000"/>
            </a:srgbClr>
          </a:solidFill>
          <a:ln w="9144">
            <a:solidFill>
              <a:srgbClr val="38BDF8">
                <a:alpha val="30000"/>
              </a:srgbClr>
            </a:solidFill>
            <a:prstDash val="solid"/>
          </a:ln>
        </p:spPr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>
            <a:alphaModFix amt="80000"/>
          </a:blip>
          <a:stretch>
            <a:fillRect/>
          </a:stretch>
        </p:blipFill>
        <p:spPr>
          <a:xfrm>
            <a:off x="6715097" y="2029718"/>
            <a:ext cx="714375" cy="714375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6605178" y="2886968"/>
            <a:ext cx="934241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FFFFFF"/>
                </a:solidFill>
              </a:rPr>
              <a:t>LOCAL FIRST</a:t>
            </a:r>
            <a:endParaRPr lang="en-US" sz="987" dirty="0"/>
          </a:p>
        </p:txBody>
      </p:sp>
      <p:sp>
        <p:nvSpPr>
          <p:cNvPr id="19" name="Text 12"/>
          <p:cNvSpPr/>
          <p:nvPr/>
        </p:nvSpPr>
        <p:spPr>
          <a:xfrm>
            <a:off x="6605178" y="3153073"/>
            <a:ext cx="934241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38BDF8"/>
                </a:solidFill>
              </a:rPr>
              <a:t>PRIVACY BY DESIGN</a:t>
            </a:r>
            <a:endParaRPr lang="en-US" sz="727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42938" y="428625"/>
            <a:ext cx="7858125" cy="530423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642938" y="944761"/>
            <a:ext cx="7858125" cy="1428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5" name="Text 2"/>
          <p:cNvSpPr/>
          <p:nvPr/>
        </p:nvSpPr>
        <p:spPr>
          <a:xfrm>
            <a:off x="642938" y="428625"/>
            <a:ext cx="3731884" cy="4089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121" b="1" dirty="0">
                <a:solidFill>
                  <a:srgbClr val="FFFFFF"/>
                </a:solidFill>
              </a:rPr>
              <a:t>Architektúra és Telepítés</a:t>
            </a:r>
            <a:endParaRPr lang="en-US" sz="2121" dirty="0"/>
          </a:p>
        </p:txBody>
      </p:sp>
      <p:sp>
        <p:nvSpPr>
          <p:cNvPr id="6" name="Text 3"/>
          <p:cNvSpPr/>
          <p:nvPr/>
        </p:nvSpPr>
        <p:spPr>
          <a:xfrm>
            <a:off x="8304916" y="603647"/>
            <a:ext cx="196146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59E0B"/>
                </a:solidFill>
              </a:rPr>
              <a:t>03</a:t>
            </a:r>
            <a:endParaRPr lang="en-US" sz="1193" dirty="0"/>
          </a:p>
        </p:txBody>
      </p:sp>
      <p:sp>
        <p:nvSpPr>
          <p:cNvPr id="7" name="Shape 4"/>
          <p:cNvSpPr/>
          <p:nvPr/>
        </p:nvSpPr>
        <p:spPr>
          <a:xfrm>
            <a:off x="642938" y="1230511"/>
            <a:ext cx="3821906" cy="2478881"/>
          </a:xfrm>
          <a:prstGeom prst="rect">
            <a:avLst/>
          </a:prstGeom>
          <a:solidFill>
            <a:srgbClr val="1E293B">
              <a:alpha val="50000"/>
            </a:srgbClr>
          </a:solidFill>
          <a:ln w="9144">
            <a:solidFill>
              <a:srgbClr val="38BDF8">
                <a:alpha val="30000"/>
              </a:srgbClr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1531" y="1440359"/>
            <a:ext cx="171450" cy="17145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100138" y="1409105"/>
            <a:ext cx="1637872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69" dirty="0">
                <a:solidFill>
                  <a:srgbClr val="F59E0B"/>
                </a:solidFill>
              </a:rPr>
              <a:t>Telepítési Változatok</a:t>
            </a:r>
            <a:endParaRPr lang="en-US" sz="1269" dirty="0"/>
          </a:p>
        </p:txBody>
      </p:sp>
      <p:sp>
        <p:nvSpPr>
          <p:cNvPr id="10" name="Text 6"/>
          <p:cNvSpPr/>
          <p:nvPr/>
        </p:nvSpPr>
        <p:spPr>
          <a:xfrm>
            <a:off x="821531" y="1864519"/>
            <a:ext cx="1324245" cy="282178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38BDF8"/>
                </a:solidFill>
              </a:rPr>
              <a:t>Típus</a:t>
            </a:r>
            <a:endParaRPr lang="en-US" sz="683" dirty="0"/>
          </a:p>
        </p:txBody>
      </p:sp>
      <p:sp>
        <p:nvSpPr>
          <p:cNvPr id="11" name="Text 7"/>
          <p:cNvSpPr/>
          <p:nvPr/>
        </p:nvSpPr>
        <p:spPr>
          <a:xfrm>
            <a:off x="2145776" y="1864519"/>
            <a:ext cx="1050187" cy="282178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38BDF8"/>
                </a:solidFill>
              </a:rPr>
              <a:t>Add-ons</a:t>
            </a:r>
            <a:endParaRPr lang="en-US" sz="683" dirty="0"/>
          </a:p>
        </p:txBody>
      </p:sp>
      <p:sp>
        <p:nvSpPr>
          <p:cNvPr id="12" name="Text 8"/>
          <p:cNvSpPr/>
          <p:nvPr/>
        </p:nvSpPr>
        <p:spPr>
          <a:xfrm>
            <a:off x="3195963" y="1864519"/>
            <a:ext cx="1090287" cy="282178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38BDF8"/>
                </a:solidFill>
              </a:rPr>
              <a:t>Backup</a:t>
            </a:r>
            <a:endParaRPr lang="en-US" sz="683" dirty="0"/>
          </a:p>
        </p:txBody>
      </p:sp>
      <p:sp>
        <p:nvSpPr>
          <p:cNvPr id="13" name="Text 9"/>
          <p:cNvSpPr/>
          <p:nvPr/>
        </p:nvSpPr>
        <p:spPr>
          <a:xfrm>
            <a:off x="821531" y="2146697"/>
            <a:ext cx="1324245" cy="285750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HAOS</a:t>
            </a:r>
            <a:endParaRPr lang="en-US" sz="683" dirty="0"/>
          </a:p>
        </p:txBody>
      </p:sp>
      <p:sp>
        <p:nvSpPr>
          <p:cNvPr id="14" name="Text 10"/>
          <p:cNvSpPr/>
          <p:nvPr/>
        </p:nvSpPr>
        <p:spPr>
          <a:xfrm>
            <a:off x="2145776" y="2146697"/>
            <a:ext cx="1050187" cy="285750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10B981"/>
                </a:solidFill>
              </a:rPr>
              <a:t>Igen</a:t>
            </a:r>
            <a:endParaRPr lang="en-US" sz="727" dirty="0"/>
          </a:p>
        </p:txBody>
      </p:sp>
      <p:sp>
        <p:nvSpPr>
          <p:cNvPr id="15" name="Text 11"/>
          <p:cNvSpPr/>
          <p:nvPr/>
        </p:nvSpPr>
        <p:spPr>
          <a:xfrm>
            <a:off x="3195963" y="2146697"/>
            <a:ext cx="1090287" cy="285750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10B981"/>
                </a:solidFill>
              </a:rPr>
              <a:t>Teljes</a:t>
            </a:r>
            <a:endParaRPr lang="en-US" sz="727" dirty="0"/>
          </a:p>
        </p:txBody>
      </p:sp>
      <p:sp>
        <p:nvSpPr>
          <p:cNvPr id="16" name="Text 12"/>
          <p:cNvSpPr/>
          <p:nvPr/>
        </p:nvSpPr>
        <p:spPr>
          <a:xfrm>
            <a:off x="821531" y="2432447"/>
            <a:ext cx="1324245" cy="285750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Supervised</a:t>
            </a:r>
            <a:endParaRPr lang="en-US" sz="683" dirty="0"/>
          </a:p>
        </p:txBody>
      </p:sp>
      <p:sp>
        <p:nvSpPr>
          <p:cNvPr id="17" name="Text 13"/>
          <p:cNvSpPr/>
          <p:nvPr/>
        </p:nvSpPr>
        <p:spPr>
          <a:xfrm>
            <a:off x="2145776" y="2432447"/>
            <a:ext cx="1050187" cy="285750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10B981"/>
                </a:solidFill>
              </a:rPr>
              <a:t>Igen</a:t>
            </a:r>
            <a:endParaRPr lang="en-US" sz="727" dirty="0"/>
          </a:p>
        </p:txBody>
      </p:sp>
      <p:sp>
        <p:nvSpPr>
          <p:cNvPr id="18" name="Text 14"/>
          <p:cNvSpPr/>
          <p:nvPr/>
        </p:nvSpPr>
        <p:spPr>
          <a:xfrm>
            <a:off x="3195963" y="2432447"/>
            <a:ext cx="1090287" cy="285750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10B981"/>
                </a:solidFill>
              </a:rPr>
              <a:t>Teljes</a:t>
            </a:r>
            <a:endParaRPr lang="en-US" sz="727" dirty="0"/>
          </a:p>
        </p:txBody>
      </p:sp>
      <p:sp>
        <p:nvSpPr>
          <p:cNvPr id="19" name="Text 15"/>
          <p:cNvSpPr/>
          <p:nvPr/>
        </p:nvSpPr>
        <p:spPr>
          <a:xfrm>
            <a:off x="821531" y="2718197"/>
            <a:ext cx="1324245" cy="285750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Container</a:t>
            </a:r>
            <a:endParaRPr lang="en-US" sz="683" dirty="0"/>
          </a:p>
        </p:txBody>
      </p:sp>
      <p:sp>
        <p:nvSpPr>
          <p:cNvPr id="20" name="Text 16"/>
          <p:cNvSpPr/>
          <p:nvPr/>
        </p:nvSpPr>
        <p:spPr>
          <a:xfrm>
            <a:off x="2145776" y="2718197"/>
            <a:ext cx="1050187" cy="285750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EF4444"/>
                </a:solidFill>
              </a:rPr>
              <a:t>Nem</a:t>
            </a:r>
            <a:endParaRPr lang="en-US" sz="727" dirty="0"/>
          </a:p>
        </p:txBody>
      </p:sp>
      <p:sp>
        <p:nvSpPr>
          <p:cNvPr id="21" name="Text 17"/>
          <p:cNvSpPr/>
          <p:nvPr/>
        </p:nvSpPr>
        <p:spPr>
          <a:xfrm>
            <a:off x="3195963" y="2718197"/>
            <a:ext cx="1090287" cy="285750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F59E0B"/>
                </a:solidFill>
              </a:rPr>
              <a:t>Manuális</a:t>
            </a:r>
            <a:endParaRPr lang="en-US" sz="727" dirty="0"/>
          </a:p>
        </p:txBody>
      </p:sp>
      <p:sp>
        <p:nvSpPr>
          <p:cNvPr id="22" name="Text 18"/>
          <p:cNvSpPr/>
          <p:nvPr/>
        </p:nvSpPr>
        <p:spPr>
          <a:xfrm>
            <a:off x="821531" y="3003947"/>
            <a:ext cx="1324245" cy="285750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Core</a:t>
            </a:r>
            <a:endParaRPr lang="en-US" sz="683" dirty="0"/>
          </a:p>
        </p:txBody>
      </p:sp>
      <p:sp>
        <p:nvSpPr>
          <p:cNvPr id="23" name="Text 19"/>
          <p:cNvSpPr/>
          <p:nvPr/>
        </p:nvSpPr>
        <p:spPr>
          <a:xfrm>
            <a:off x="2145776" y="3003947"/>
            <a:ext cx="1050187" cy="285750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EF4444"/>
                </a:solidFill>
              </a:rPr>
              <a:t>Nem</a:t>
            </a:r>
            <a:endParaRPr lang="en-US" sz="727" dirty="0"/>
          </a:p>
        </p:txBody>
      </p:sp>
      <p:sp>
        <p:nvSpPr>
          <p:cNvPr id="24" name="Text 20"/>
          <p:cNvSpPr/>
          <p:nvPr/>
        </p:nvSpPr>
        <p:spPr>
          <a:xfrm>
            <a:off x="3195963" y="3003947"/>
            <a:ext cx="1090287" cy="285750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F59E0B"/>
                </a:solidFill>
              </a:rPr>
              <a:t>Manuális</a:t>
            </a:r>
            <a:endParaRPr lang="en-US" sz="727" dirty="0"/>
          </a:p>
        </p:txBody>
      </p:sp>
      <p:sp>
        <p:nvSpPr>
          <p:cNvPr id="25" name="Text 21"/>
          <p:cNvSpPr/>
          <p:nvPr/>
        </p:nvSpPr>
        <p:spPr>
          <a:xfrm>
            <a:off x="821531" y="3400425"/>
            <a:ext cx="3464719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i="1" dirty="0">
                <a:solidFill>
                  <a:srgbClr val="94A3B8"/>
                </a:solidFill>
              </a:rPr>
              <a:t>* A Home Assistant OS (HAOS) a javasolt módszer a legtöbb felhasználó számára.</a:t>
            </a:r>
            <a:endParaRPr lang="en-US" sz="621" dirty="0"/>
          </a:p>
        </p:txBody>
      </p:sp>
      <p:sp>
        <p:nvSpPr>
          <p:cNvPr id="26" name="Shape 22"/>
          <p:cNvSpPr/>
          <p:nvPr/>
        </p:nvSpPr>
        <p:spPr>
          <a:xfrm>
            <a:off x="4679156" y="1230511"/>
            <a:ext cx="3821906" cy="2469952"/>
          </a:xfrm>
          <a:prstGeom prst="rect">
            <a:avLst/>
          </a:prstGeom>
          <a:solidFill>
            <a:srgbClr val="1E293B">
              <a:alpha val="50000"/>
            </a:srgbClr>
          </a:solidFill>
          <a:ln w="9144">
            <a:solidFill>
              <a:srgbClr val="38BDF8">
                <a:alpha val="30000"/>
              </a:srgbClr>
            </a:solidFill>
            <a:prstDash val="solid"/>
          </a:ln>
        </p:spPr>
      </p:sp>
      <p:pic>
        <p:nvPicPr>
          <p:cNvPr id="2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7750" y="1440359"/>
            <a:ext cx="171450" cy="171450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5136356" y="1409105"/>
            <a:ext cx="1507750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69" dirty="0">
                <a:solidFill>
                  <a:srgbClr val="F59E0B"/>
                </a:solidFill>
              </a:rPr>
              <a:t>Ajánlott Hardverek</a:t>
            </a:r>
            <a:endParaRPr lang="en-US" sz="1269" dirty="0"/>
          </a:p>
        </p:txBody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6331" y="1935063"/>
            <a:ext cx="128588" cy="171450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5250656" y="1864519"/>
            <a:ext cx="2252095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FFFF"/>
                </a:solidFill>
              </a:rPr>
              <a:t>Raspberry Pi 4 / 5</a:t>
            </a:r>
            <a:endParaRPr lang="en-US" sz="885" dirty="0"/>
          </a:p>
        </p:txBody>
      </p:sp>
      <p:sp>
        <p:nvSpPr>
          <p:cNvPr id="31" name="Text 25"/>
          <p:cNvSpPr/>
          <p:nvPr/>
        </p:nvSpPr>
        <p:spPr>
          <a:xfrm>
            <a:off x="5250656" y="2039541"/>
            <a:ext cx="2252095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94A3B8"/>
                </a:solidFill>
              </a:rPr>
              <a:t>A legnépszerűbb választás, alacsony fogyasztás.</a:t>
            </a:r>
            <a:endParaRPr lang="en-US" sz="727" dirty="0"/>
          </a:p>
        </p:txBody>
      </p:sp>
      <p:pic>
        <p:nvPicPr>
          <p:cNvPr id="3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14900" y="2352973"/>
            <a:ext cx="171450" cy="171450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5250656" y="2282428"/>
            <a:ext cx="2324816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FFFF"/>
                </a:solidFill>
              </a:rPr>
              <a:t>Intel NUC / Mini PC</a:t>
            </a:r>
            <a:endParaRPr lang="en-US" sz="885" dirty="0"/>
          </a:p>
        </p:txBody>
      </p:sp>
      <p:sp>
        <p:nvSpPr>
          <p:cNvPr id="34" name="Text 27"/>
          <p:cNvSpPr/>
          <p:nvPr/>
        </p:nvSpPr>
        <p:spPr>
          <a:xfrm>
            <a:off x="5250656" y="2457450"/>
            <a:ext cx="2324816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94A3B8"/>
                </a:solidFill>
              </a:rPr>
              <a:t>Nagyobb teljesítmény, SSD alapú megbízhatóság.</a:t>
            </a:r>
            <a:endParaRPr lang="en-US" sz="727" dirty="0"/>
          </a:p>
        </p:txBody>
      </p:sp>
      <p:pic>
        <p:nvPicPr>
          <p:cNvPr id="3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14900" y="2770882"/>
            <a:ext cx="171450" cy="171450"/>
          </a:xfrm>
          <a:prstGeom prst="rect">
            <a:avLst/>
          </a:prstGeom>
        </p:spPr>
      </p:pic>
      <p:sp>
        <p:nvSpPr>
          <p:cNvPr id="36" name="Text 28"/>
          <p:cNvSpPr/>
          <p:nvPr/>
        </p:nvSpPr>
        <p:spPr>
          <a:xfrm>
            <a:off x="5250656" y="2700338"/>
            <a:ext cx="2214200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FFFF"/>
                </a:solidFill>
              </a:rPr>
              <a:t>Virtualizáció (VM)</a:t>
            </a:r>
            <a:endParaRPr lang="en-US" sz="885" dirty="0"/>
          </a:p>
        </p:txBody>
      </p:sp>
      <p:sp>
        <p:nvSpPr>
          <p:cNvPr id="37" name="Text 29"/>
          <p:cNvSpPr/>
          <p:nvPr/>
        </p:nvSpPr>
        <p:spPr>
          <a:xfrm>
            <a:off x="5250656" y="2875359"/>
            <a:ext cx="2214200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94A3B8"/>
                </a:solidFill>
              </a:rPr>
              <a:t>Proxmox, ESXi vagy NAS rendszereken futtatva.</a:t>
            </a:r>
            <a:endParaRPr lang="en-US" sz="727" dirty="0"/>
          </a:p>
        </p:txBody>
      </p:sp>
      <p:sp>
        <p:nvSpPr>
          <p:cNvPr id="38" name="Shape 30"/>
          <p:cNvSpPr/>
          <p:nvPr/>
        </p:nvSpPr>
        <p:spPr>
          <a:xfrm>
            <a:off x="4857750" y="3118247"/>
            <a:ext cx="3464719" cy="389334"/>
          </a:xfrm>
          <a:prstGeom prst="rect">
            <a:avLst/>
          </a:prstGeom>
          <a:solidFill>
            <a:srgbClr val="F59E0B">
              <a:alpha val="5000"/>
            </a:srgbClr>
          </a:solidFill>
          <a:ln w="9144">
            <a:solidFill>
              <a:srgbClr val="F59E0B"/>
            </a:solidFill>
            <a:prstDash val="solid"/>
          </a:ln>
        </p:spPr>
      </p:sp>
      <p:pic>
        <p:nvPicPr>
          <p:cNvPr id="3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29188" y="3203972"/>
            <a:ext cx="85725" cy="85725"/>
          </a:xfrm>
          <a:prstGeom prst="rect">
            <a:avLst/>
          </a:prstGeom>
        </p:spPr>
      </p:pic>
      <p:sp>
        <p:nvSpPr>
          <p:cNvPr id="40" name="Text 31"/>
          <p:cNvSpPr/>
          <p:nvPr/>
        </p:nvSpPr>
        <p:spPr>
          <a:xfrm>
            <a:off x="5014913" y="3189684"/>
            <a:ext cx="3147492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F59E0B"/>
                </a:solidFill>
              </a:rPr>
              <a:t>Fontos: Az SD kártya helyett SSD használata javasolt az adatvesztés elkerülése</a:t>
            </a:r>
            <a:endParaRPr lang="en-US" sz="621" dirty="0"/>
          </a:p>
        </p:txBody>
      </p:sp>
      <p:sp>
        <p:nvSpPr>
          <p:cNvPr id="41" name="Text 32"/>
          <p:cNvSpPr/>
          <p:nvPr/>
        </p:nvSpPr>
        <p:spPr>
          <a:xfrm>
            <a:off x="4929188" y="3305770"/>
            <a:ext cx="454354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F59E0B"/>
                </a:solidFill>
              </a:rPr>
              <a:t>érdekében!</a:t>
            </a:r>
            <a:endParaRPr lang="en-US" sz="621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9172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42938" y="428625"/>
            <a:ext cx="7858125" cy="530423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642938" y="944761"/>
            <a:ext cx="7858125" cy="1428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5" name="Text 2"/>
          <p:cNvSpPr/>
          <p:nvPr/>
        </p:nvSpPr>
        <p:spPr>
          <a:xfrm>
            <a:off x="642938" y="428625"/>
            <a:ext cx="3641861" cy="4089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121" b="1" dirty="0">
                <a:solidFill>
                  <a:srgbClr val="FFFFFF"/>
                </a:solidFill>
              </a:rPr>
              <a:t>Integrációk és Entitások</a:t>
            </a:r>
            <a:endParaRPr lang="en-US" sz="2121" dirty="0"/>
          </a:p>
        </p:txBody>
      </p:sp>
      <p:sp>
        <p:nvSpPr>
          <p:cNvPr id="6" name="Text 3"/>
          <p:cNvSpPr/>
          <p:nvPr/>
        </p:nvSpPr>
        <p:spPr>
          <a:xfrm>
            <a:off x="8304916" y="603647"/>
            <a:ext cx="196146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59E0B"/>
                </a:solidFill>
              </a:rPr>
              <a:t>04</a:t>
            </a:r>
            <a:endParaRPr lang="en-US" sz="1193" dirty="0"/>
          </a:p>
        </p:txBody>
      </p:sp>
      <p:sp>
        <p:nvSpPr>
          <p:cNvPr id="7" name="Shape 4"/>
          <p:cNvSpPr/>
          <p:nvPr/>
        </p:nvSpPr>
        <p:spPr>
          <a:xfrm>
            <a:off x="3929063" y="2266355"/>
            <a:ext cx="1285875" cy="1285875"/>
          </a:xfrm>
          <a:prstGeom prst="rect">
            <a:avLst/>
          </a:prstGeom>
          <a:solidFill>
            <a:srgbClr val="38BDF8">
              <a:alpha val="10000"/>
            </a:srgbClr>
          </a:solidFill>
          <a:ln w="18288">
            <a:solidFill>
              <a:srgbClr val="38BDF8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93406" y="2607469"/>
            <a:ext cx="357188" cy="35718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292445" y="3036094"/>
            <a:ext cx="559110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FFFF"/>
                </a:solidFill>
              </a:rPr>
              <a:t>HA CORE</a:t>
            </a:r>
            <a:endParaRPr lang="en-US" sz="885" dirty="0"/>
          </a:p>
        </p:txBody>
      </p:sp>
      <p:sp>
        <p:nvSpPr>
          <p:cNvPr id="10" name="Shape 6"/>
          <p:cNvSpPr/>
          <p:nvPr/>
        </p:nvSpPr>
        <p:spPr>
          <a:xfrm>
            <a:off x="1214438" y="1373386"/>
            <a:ext cx="1857375" cy="787208"/>
          </a:xfrm>
          <a:prstGeom prst="rect">
            <a:avLst/>
          </a:prstGeom>
          <a:solidFill>
            <a:srgbClr val="1E293B">
              <a:alpha val="80000"/>
            </a:srgbClr>
          </a:solidFill>
          <a:ln w="9144">
            <a:solidFill>
              <a:srgbClr val="F59E0B">
                <a:alpha val="40000"/>
              </a:srgbClr>
            </a:solidFill>
            <a:prstDash val="solid"/>
          </a:ln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1594" y="1662512"/>
            <a:ext cx="200025" cy="200025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628775" y="1480542"/>
            <a:ext cx="1335881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FFFF"/>
                </a:solidFill>
              </a:rPr>
              <a:t>MQTT</a:t>
            </a:r>
            <a:endParaRPr lang="en-US" sz="885" dirty="0"/>
          </a:p>
        </p:txBody>
      </p:sp>
      <p:sp>
        <p:nvSpPr>
          <p:cNvPr id="13" name="Text 8"/>
          <p:cNvSpPr/>
          <p:nvPr/>
        </p:nvSpPr>
        <p:spPr>
          <a:xfrm>
            <a:off x="1628775" y="1676995"/>
            <a:ext cx="1335881" cy="3621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74" dirty="0">
                <a:solidFill>
                  <a:srgbClr val="94A3B8"/>
                </a:solidFill>
              </a:rPr>
              <a:t>Tasmota, ESPHome, Zigbee2MQTT eszközök fogadása.</a:t>
            </a:r>
            <a:endParaRPr lang="en-US" sz="674" dirty="0"/>
          </a:p>
        </p:txBody>
      </p:sp>
      <p:sp>
        <p:nvSpPr>
          <p:cNvPr id="14" name="Shape 9"/>
          <p:cNvSpPr/>
          <p:nvPr/>
        </p:nvSpPr>
        <p:spPr>
          <a:xfrm>
            <a:off x="6072188" y="1373386"/>
            <a:ext cx="1857375" cy="666490"/>
          </a:xfrm>
          <a:prstGeom prst="rect">
            <a:avLst/>
          </a:prstGeom>
          <a:solidFill>
            <a:srgbClr val="1E293B">
              <a:alpha val="80000"/>
            </a:srgbClr>
          </a:solidFill>
          <a:ln w="9144">
            <a:solidFill>
              <a:srgbClr val="F59E0B">
                <a:alpha val="40000"/>
              </a:srgbClr>
            </a:solidFill>
            <a:prstDash val="solid"/>
          </a:ln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9344" y="1602153"/>
            <a:ext cx="225028" cy="200025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6511528" y="1480542"/>
            <a:ext cx="1310878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FFFF"/>
                </a:solidFill>
              </a:rPr>
              <a:t>Zigbee / Z-Wave</a:t>
            </a:r>
            <a:endParaRPr lang="en-US" sz="885" dirty="0"/>
          </a:p>
        </p:txBody>
      </p:sp>
      <p:sp>
        <p:nvSpPr>
          <p:cNvPr id="17" name="Text 11"/>
          <p:cNvSpPr/>
          <p:nvPr/>
        </p:nvSpPr>
        <p:spPr>
          <a:xfrm>
            <a:off x="6511528" y="1676995"/>
            <a:ext cx="1310878" cy="2414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74" dirty="0">
                <a:solidFill>
                  <a:srgbClr val="94A3B8"/>
                </a:solidFill>
              </a:rPr>
              <a:t>Közvetlen hardveres kapcsolat (ZHA, Z-Wave JS).</a:t>
            </a:r>
            <a:endParaRPr lang="en-US" sz="674" dirty="0"/>
          </a:p>
        </p:txBody>
      </p:sp>
      <p:sp>
        <p:nvSpPr>
          <p:cNvPr id="18" name="Shape 12"/>
          <p:cNvSpPr/>
          <p:nvPr/>
        </p:nvSpPr>
        <p:spPr>
          <a:xfrm>
            <a:off x="1214438" y="3778709"/>
            <a:ext cx="1857375" cy="666490"/>
          </a:xfrm>
          <a:prstGeom prst="rect">
            <a:avLst/>
          </a:prstGeom>
          <a:solidFill>
            <a:srgbClr val="1E293B">
              <a:alpha val="80000"/>
            </a:srgbClr>
          </a:solidFill>
          <a:ln w="9144">
            <a:solidFill>
              <a:srgbClr val="F59E0B">
                <a:alpha val="40000"/>
              </a:srgbClr>
            </a:solidFill>
            <a:prstDash val="solid"/>
          </a:ln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21594" y="4021764"/>
            <a:ext cx="250031" cy="200025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1678781" y="3900153"/>
            <a:ext cx="1285875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FFFF"/>
                </a:solidFill>
              </a:rPr>
              <a:t>Helyi API</a:t>
            </a:r>
            <a:endParaRPr lang="en-US" sz="885" dirty="0"/>
          </a:p>
        </p:txBody>
      </p:sp>
      <p:sp>
        <p:nvSpPr>
          <p:cNvPr id="21" name="Text 14"/>
          <p:cNvSpPr/>
          <p:nvPr/>
        </p:nvSpPr>
        <p:spPr>
          <a:xfrm>
            <a:off x="1678781" y="4096606"/>
            <a:ext cx="1285875" cy="2414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74" dirty="0">
                <a:solidFill>
                  <a:srgbClr val="94A3B8"/>
                </a:solidFill>
              </a:rPr>
              <a:t>Shelly, Philips Hue, WLED eszközök vezérlése.</a:t>
            </a:r>
            <a:endParaRPr lang="en-US" sz="674" dirty="0"/>
          </a:p>
        </p:txBody>
      </p:sp>
      <p:sp>
        <p:nvSpPr>
          <p:cNvPr id="22" name="Shape 15"/>
          <p:cNvSpPr/>
          <p:nvPr/>
        </p:nvSpPr>
        <p:spPr>
          <a:xfrm>
            <a:off x="6072188" y="3778709"/>
            <a:ext cx="1857375" cy="666490"/>
          </a:xfrm>
          <a:prstGeom prst="rect">
            <a:avLst/>
          </a:prstGeom>
          <a:solidFill>
            <a:srgbClr val="1E293B">
              <a:alpha val="80000"/>
            </a:srgbClr>
          </a:solidFill>
          <a:ln w="9144">
            <a:solidFill>
              <a:srgbClr val="F59E0B">
                <a:alpha val="40000"/>
              </a:srgbClr>
            </a:solidFill>
            <a:prstDash val="solid"/>
          </a:ln>
        </p:spPr>
      </p:sp>
      <p:pic>
        <p:nvPicPr>
          <p:cNvPr id="2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79344" y="4021764"/>
            <a:ext cx="250031" cy="200025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6536531" y="3900153"/>
            <a:ext cx="1285875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FFFF"/>
                </a:solidFill>
              </a:rPr>
              <a:t>Felhő alapú</a:t>
            </a:r>
            <a:endParaRPr lang="en-US" sz="885" dirty="0"/>
          </a:p>
        </p:txBody>
      </p:sp>
      <p:sp>
        <p:nvSpPr>
          <p:cNvPr id="25" name="Text 17"/>
          <p:cNvSpPr/>
          <p:nvPr/>
        </p:nvSpPr>
        <p:spPr>
          <a:xfrm>
            <a:off x="6536531" y="4096606"/>
            <a:ext cx="1285875" cy="2414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74" dirty="0">
                <a:solidFill>
                  <a:srgbClr val="94A3B8"/>
                </a:solidFill>
              </a:rPr>
              <a:t>Időjárás, Spotify, Tuya Cloud integrációk.</a:t>
            </a:r>
            <a:endParaRPr lang="en-US" sz="674" dirty="0"/>
          </a:p>
        </p:txBody>
      </p:sp>
      <p:sp>
        <p:nvSpPr>
          <p:cNvPr id="26" name="Shape 18"/>
          <p:cNvSpPr/>
          <p:nvPr/>
        </p:nvSpPr>
        <p:spPr>
          <a:xfrm>
            <a:off x="642938" y="4802386"/>
            <a:ext cx="7858125" cy="375047"/>
          </a:xfrm>
          <a:prstGeom prst="rect">
            <a:avLst/>
          </a:prstGeom>
          <a:solidFill>
            <a:srgbClr val="38BDF8">
              <a:alpha val="5000"/>
            </a:srgbClr>
          </a:solidFill>
          <a:ln w="9144">
            <a:solidFill>
              <a:srgbClr val="38BDF8"/>
            </a:solidFill>
            <a:prstDash val="solid"/>
          </a:ln>
        </p:spPr>
      </p:sp>
      <p:pic>
        <p:nvPicPr>
          <p:cNvPr id="2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27137" y="4930973"/>
            <a:ext cx="107156" cy="107156"/>
          </a:xfrm>
          <a:prstGeom prst="rect">
            <a:avLst/>
          </a:prstGeom>
        </p:spPr>
      </p:pic>
      <p:sp>
        <p:nvSpPr>
          <p:cNvPr id="28" name="Text 19"/>
          <p:cNvSpPr/>
          <p:nvPr/>
        </p:nvSpPr>
        <p:spPr>
          <a:xfrm>
            <a:off x="1205731" y="4909542"/>
            <a:ext cx="1255988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780" dirty="0">
                <a:solidFill>
                  <a:srgbClr val="CBD5E1"/>
                </a:solidFill>
              </a:rPr>
              <a:t>Minden integrált eszköz</a:t>
            </a:r>
            <a:endParaRPr lang="en-US" sz="780" dirty="0"/>
          </a:p>
        </p:txBody>
      </p:sp>
      <p:sp>
        <p:nvSpPr>
          <p:cNvPr id="29" name="Text 20"/>
          <p:cNvSpPr/>
          <p:nvPr/>
        </p:nvSpPr>
        <p:spPr>
          <a:xfrm>
            <a:off x="2461720" y="4909542"/>
            <a:ext cx="618102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734" b="1" dirty="0">
                <a:solidFill>
                  <a:srgbClr val="CBD5E1"/>
                </a:solidFill>
              </a:rPr>
              <a:t>Entitásokra</a:t>
            </a:r>
            <a:endParaRPr lang="en-US" sz="734" dirty="0"/>
          </a:p>
        </p:txBody>
      </p:sp>
      <p:sp>
        <p:nvSpPr>
          <p:cNvPr id="30" name="Text 21"/>
          <p:cNvSpPr/>
          <p:nvPr/>
        </p:nvSpPr>
        <p:spPr>
          <a:xfrm>
            <a:off x="3079821" y="4909542"/>
            <a:ext cx="210155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780" dirty="0">
                <a:solidFill>
                  <a:srgbClr val="CBD5E1"/>
                </a:solidFill>
              </a:rPr>
              <a:t>(pl.</a:t>
            </a:r>
            <a:endParaRPr lang="en-US" sz="780" dirty="0"/>
          </a:p>
        </p:txBody>
      </p:sp>
      <p:sp>
        <p:nvSpPr>
          <p:cNvPr id="31" name="Text 22"/>
          <p:cNvSpPr/>
          <p:nvPr/>
        </p:nvSpPr>
        <p:spPr>
          <a:xfrm>
            <a:off x="3289976" y="4909542"/>
            <a:ext cx="707231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780" dirty="0">
                <a:solidFill>
                  <a:srgbClr val="CBD5E1"/>
                </a:solidFill>
              </a:rPr>
              <a:t>sensor.temp</a:t>
            </a:r>
            <a:endParaRPr lang="en-US" sz="780" dirty="0"/>
          </a:p>
        </p:txBody>
      </p:sp>
      <p:sp>
        <p:nvSpPr>
          <p:cNvPr id="32" name="Text 23"/>
          <p:cNvSpPr/>
          <p:nvPr/>
        </p:nvSpPr>
        <p:spPr>
          <a:xfrm>
            <a:off x="3997207" y="4909542"/>
            <a:ext cx="56592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780" dirty="0">
                <a:solidFill>
                  <a:srgbClr val="CBD5E1"/>
                </a:solidFill>
              </a:rPr>
              <a:t>,</a:t>
            </a:r>
            <a:endParaRPr lang="en-US" sz="780" dirty="0"/>
          </a:p>
        </p:txBody>
      </p:sp>
      <p:sp>
        <p:nvSpPr>
          <p:cNvPr id="33" name="Text 24"/>
          <p:cNvSpPr/>
          <p:nvPr/>
        </p:nvSpPr>
        <p:spPr>
          <a:xfrm>
            <a:off x="4053799" y="4909542"/>
            <a:ext cx="1092994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780" dirty="0">
                <a:solidFill>
                  <a:srgbClr val="CBD5E1"/>
                </a:solidFill>
              </a:rPr>
              <a:t>light.living_room</a:t>
            </a:r>
            <a:endParaRPr lang="en-US" sz="780" dirty="0"/>
          </a:p>
        </p:txBody>
      </p:sp>
      <p:sp>
        <p:nvSpPr>
          <p:cNvPr id="34" name="Text 25"/>
          <p:cNvSpPr/>
          <p:nvPr/>
        </p:nvSpPr>
        <p:spPr>
          <a:xfrm>
            <a:off x="5146793" y="4909542"/>
            <a:ext cx="2970070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780" dirty="0">
                <a:solidFill>
                  <a:srgbClr val="CBD5E1"/>
                </a:solidFill>
              </a:rPr>
              <a:t>) bomlik le, amelyek egységesen kezelhetők a rendszerben.</a:t>
            </a:r>
            <a:endParaRPr lang="en-US" sz="78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42938" y="428625"/>
            <a:ext cx="7858125" cy="530423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642938" y="944761"/>
            <a:ext cx="7858125" cy="1428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5" name="Text 2"/>
          <p:cNvSpPr/>
          <p:nvPr/>
        </p:nvSpPr>
        <p:spPr>
          <a:xfrm>
            <a:off x="642938" y="428625"/>
            <a:ext cx="4836626" cy="4089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121" b="1" dirty="0">
                <a:solidFill>
                  <a:srgbClr val="FFFFFF"/>
                </a:solidFill>
              </a:rPr>
              <a:t>Lovelace Dashboard és Irányítás</a:t>
            </a:r>
            <a:endParaRPr lang="en-US" sz="2121" dirty="0"/>
          </a:p>
        </p:txBody>
      </p:sp>
      <p:sp>
        <p:nvSpPr>
          <p:cNvPr id="6" name="Text 3"/>
          <p:cNvSpPr/>
          <p:nvPr/>
        </p:nvSpPr>
        <p:spPr>
          <a:xfrm>
            <a:off x="8304916" y="603647"/>
            <a:ext cx="196146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59E0B"/>
                </a:solidFill>
              </a:rPr>
              <a:t>05</a:t>
            </a:r>
            <a:endParaRPr lang="en-US" sz="1193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938" y="1266230"/>
            <a:ext cx="171450" cy="17145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957263" y="1230511"/>
            <a:ext cx="3686175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38BDF8"/>
                </a:solidFill>
              </a:rPr>
              <a:t>Kártya-alapú Felépítés</a:t>
            </a:r>
            <a:endParaRPr lang="en-US" sz="1090" dirty="0"/>
          </a:p>
        </p:txBody>
      </p:sp>
      <p:sp>
        <p:nvSpPr>
          <p:cNvPr id="9" name="Text 5"/>
          <p:cNvSpPr/>
          <p:nvPr/>
        </p:nvSpPr>
        <p:spPr>
          <a:xfrm>
            <a:off x="957263" y="1501973"/>
            <a:ext cx="3686175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34" dirty="0">
                <a:solidFill>
                  <a:srgbClr val="94A3B8"/>
                </a:solidFill>
              </a:rPr>
              <a:t>A felület különböző típusú kártyákból (Cards) áll, amelyek egyedi funkciókat látnak el (pl. kapcsolók, grafikonok, kameraképek).</a:t>
            </a:r>
            <a:endParaRPr lang="en-US" sz="834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938" y="2036304"/>
            <a:ext cx="171450" cy="17145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957263" y="2000585"/>
            <a:ext cx="3686175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38BDF8"/>
                </a:solidFill>
              </a:rPr>
              <a:t>Teljes Testreszabhatóság</a:t>
            </a:r>
            <a:endParaRPr lang="en-US" sz="1090" dirty="0"/>
          </a:p>
        </p:txBody>
      </p:sp>
      <p:sp>
        <p:nvSpPr>
          <p:cNvPr id="12" name="Text 7"/>
          <p:cNvSpPr/>
          <p:nvPr/>
        </p:nvSpPr>
        <p:spPr>
          <a:xfrm>
            <a:off x="957263" y="2272047"/>
            <a:ext cx="3686175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34" dirty="0">
                <a:solidFill>
                  <a:srgbClr val="94A3B8"/>
                </a:solidFill>
              </a:rPr>
              <a:t>A vizuális szerkesztő mellett YAML kóddal is finomhangolható. Egyedi témák és CSS stílusok is alkalmazhatók.</a:t>
            </a:r>
            <a:endParaRPr lang="en-US" sz="834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2938" y="2806378"/>
            <a:ext cx="128588" cy="17145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914400" y="2770659"/>
            <a:ext cx="3729038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38BDF8"/>
                </a:solidFill>
              </a:rPr>
              <a:t>Reszponzív Megjelenés</a:t>
            </a:r>
            <a:endParaRPr lang="en-US" sz="1090" dirty="0"/>
          </a:p>
        </p:txBody>
      </p:sp>
      <p:sp>
        <p:nvSpPr>
          <p:cNvPr id="15" name="Text 9"/>
          <p:cNvSpPr/>
          <p:nvPr/>
        </p:nvSpPr>
        <p:spPr>
          <a:xfrm>
            <a:off x="914400" y="3042121"/>
            <a:ext cx="3729038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34" dirty="0">
                <a:solidFill>
                  <a:srgbClr val="94A3B8"/>
                </a:solidFill>
              </a:rPr>
              <a:t>A dashboard automatikusan alkalmazkodik a kijelző méretéhez, legyen szó fali tabletről, mobilról vagy asztali gépről.</a:t>
            </a:r>
            <a:endParaRPr lang="en-US" sz="834" dirty="0"/>
          </a:p>
        </p:txBody>
      </p:sp>
      <p:sp>
        <p:nvSpPr>
          <p:cNvPr id="16" name="Shape 10"/>
          <p:cNvSpPr/>
          <p:nvPr/>
        </p:nvSpPr>
        <p:spPr>
          <a:xfrm>
            <a:off x="4929188" y="1230511"/>
            <a:ext cx="3571875" cy="3214688"/>
          </a:xfrm>
          <a:prstGeom prst="rect">
            <a:avLst/>
          </a:prstGeom>
          <a:solidFill>
            <a:srgbClr val="1E293B">
              <a:alpha val="80000"/>
            </a:srgbClr>
          </a:solidFill>
          <a:ln w="18288">
            <a:solidFill>
              <a:srgbClr val="38BDF8">
                <a:alpha val="30000"/>
              </a:srgbClr>
            </a:solidFill>
            <a:prstDash val="solid"/>
          </a:ln>
        </p:spPr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43500" y="1462683"/>
            <a:ext cx="87511" cy="100013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5231011" y="1444823"/>
            <a:ext cx="360452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38BDF8"/>
                </a:solidFill>
              </a:rPr>
              <a:t>Otthon</a:t>
            </a:r>
            <a:endParaRPr lang="en-US" sz="727" dirty="0"/>
          </a:p>
        </p:txBody>
      </p:sp>
      <p:sp>
        <p:nvSpPr>
          <p:cNvPr id="19" name="Text 12"/>
          <p:cNvSpPr/>
          <p:nvPr/>
        </p:nvSpPr>
        <p:spPr>
          <a:xfrm>
            <a:off x="7905090" y="1444823"/>
            <a:ext cx="281648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38BDF8"/>
                </a:solidFill>
              </a:rPr>
              <a:t>12:45</a:t>
            </a:r>
            <a:endParaRPr lang="en-US" sz="727" dirty="0"/>
          </a:p>
        </p:txBody>
      </p:sp>
      <p:pic>
        <p:nvPicPr>
          <p:cNvPr id="2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86738" y="1462683"/>
            <a:ext cx="100013" cy="100013"/>
          </a:xfrm>
          <a:prstGeom prst="rect">
            <a:avLst/>
          </a:prstGeom>
        </p:spPr>
      </p:pic>
      <p:sp>
        <p:nvSpPr>
          <p:cNvPr id="21" name="Shape 13"/>
          <p:cNvSpPr/>
          <p:nvPr/>
        </p:nvSpPr>
        <p:spPr>
          <a:xfrm>
            <a:off x="5072063" y="1766292"/>
            <a:ext cx="1589484" cy="1214438"/>
          </a:xfrm>
          <a:prstGeom prst="rect">
            <a:avLst/>
          </a:prstGeom>
          <a:solidFill>
            <a:srgbClr val="0F172A">
              <a:alpha val="40000"/>
            </a:srgbClr>
          </a:solidFill>
          <a:ln w="9144">
            <a:solidFill>
              <a:srgbClr val="38BDF8">
                <a:alpha val="20000"/>
              </a:srgbClr>
            </a:solidFill>
            <a:prstDash val="solid"/>
          </a:ln>
        </p:spPr>
      </p:sp>
      <p:pic>
        <p:nvPicPr>
          <p:cNvPr id="2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02511" y="2088654"/>
            <a:ext cx="128588" cy="171450"/>
          </a:xfrm>
          <a:prstGeom prst="rect">
            <a:avLst/>
          </a:prstGeom>
        </p:spPr>
      </p:pic>
      <p:sp>
        <p:nvSpPr>
          <p:cNvPr id="23" name="Text 14"/>
          <p:cNvSpPr/>
          <p:nvPr/>
        </p:nvSpPr>
        <p:spPr>
          <a:xfrm>
            <a:off x="5605360" y="2331541"/>
            <a:ext cx="522861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CBD5E1"/>
                </a:solidFill>
              </a:rPr>
              <a:t>Nappali Fény</a:t>
            </a:r>
            <a:endParaRPr lang="en-US" sz="621" dirty="0"/>
          </a:p>
        </p:txBody>
      </p:sp>
      <p:sp>
        <p:nvSpPr>
          <p:cNvPr id="24" name="Text 15"/>
          <p:cNvSpPr/>
          <p:nvPr/>
        </p:nvSpPr>
        <p:spPr>
          <a:xfrm>
            <a:off x="5787582" y="2483346"/>
            <a:ext cx="158446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FFFF"/>
                </a:solidFill>
              </a:rPr>
              <a:t>BE</a:t>
            </a:r>
            <a:endParaRPr lang="en-US" sz="885" dirty="0"/>
          </a:p>
        </p:txBody>
      </p:sp>
      <p:sp>
        <p:nvSpPr>
          <p:cNvPr id="25" name="Shape 16"/>
          <p:cNvSpPr/>
          <p:nvPr/>
        </p:nvSpPr>
        <p:spPr>
          <a:xfrm>
            <a:off x="6768703" y="1766292"/>
            <a:ext cx="1589484" cy="1214438"/>
          </a:xfrm>
          <a:prstGeom prst="rect">
            <a:avLst/>
          </a:prstGeom>
          <a:solidFill>
            <a:srgbClr val="0F172A">
              <a:alpha val="40000"/>
            </a:srgbClr>
          </a:solidFill>
          <a:ln w="9144">
            <a:solidFill>
              <a:srgbClr val="38BDF8">
                <a:alpha val="20000"/>
              </a:srgbClr>
            </a:solidFill>
            <a:prstDash val="solid"/>
          </a:ln>
        </p:spPr>
      </p:sp>
      <p:pic>
        <p:nvPicPr>
          <p:cNvPr id="26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509867" y="2088654"/>
            <a:ext cx="107156" cy="171450"/>
          </a:xfrm>
          <a:prstGeom prst="rect">
            <a:avLst/>
          </a:prstGeom>
        </p:spPr>
      </p:pic>
      <p:sp>
        <p:nvSpPr>
          <p:cNvPr id="27" name="Text 17"/>
          <p:cNvSpPr/>
          <p:nvPr/>
        </p:nvSpPr>
        <p:spPr>
          <a:xfrm>
            <a:off x="7305489" y="2331541"/>
            <a:ext cx="515913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CBD5E1"/>
                </a:solidFill>
              </a:rPr>
              <a:t>Hőmérséklet</a:t>
            </a:r>
            <a:endParaRPr lang="en-US" sz="621" dirty="0"/>
          </a:p>
        </p:txBody>
      </p:sp>
      <p:sp>
        <p:nvSpPr>
          <p:cNvPr id="28" name="Text 18"/>
          <p:cNvSpPr/>
          <p:nvPr/>
        </p:nvSpPr>
        <p:spPr>
          <a:xfrm>
            <a:off x="7349579" y="2483346"/>
            <a:ext cx="427704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FFFF"/>
                </a:solidFill>
              </a:rPr>
              <a:t>22.5 °C</a:t>
            </a:r>
            <a:endParaRPr lang="en-US" sz="885" dirty="0"/>
          </a:p>
        </p:txBody>
      </p:sp>
      <p:sp>
        <p:nvSpPr>
          <p:cNvPr id="29" name="Shape 19"/>
          <p:cNvSpPr/>
          <p:nvPr/>
        </p:nvSpPr>
        <p:spPr>
          <a:xfrm>
            <a:off x="5072063" y="3087886"/>
            <a:ext cx="3286125" cy="1214438"/>
          </a:xfrm>
          <a:prstGeom prst="rect">
            <a:avLst/>
          </a:prstGeom>
          <a:solidFill>
            <a:srgbClr val="0F172A">
              <a:alpha val="40000"/>
            </a:srgbClr>
          </a:solidFill>
          <a:ln w="9144">
            <a:solidFill>
              <a:srgbClr val="38BDF8">
                <a:alpha val="20000"/>
              </a:srgbClr>
            </a:solidFill>
            <a:prstDash val="solid"/>
          </a:ln>
        </p:spPr>
      </p:sp>
      <p:pic>
        <p:nvPicPr>
          <p:cNvPr id="3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50831" y="3379887"/>
            <a:ext cx="128588" cy="171450"/>
          </a:xfrm>
          <a:prstGeom prst="rect">
            <a:avLst/>
          </a:prstGeom>
        </p:spPr>
      </p:pic>
      <p:sp>
        <p:nvSpPr>
          <p:cNvPr id="31" name="Text 20"/>
          <p:cNvSpPr/>
          <p:nvPr/>
        </p:nvSpPr>
        <p:spPr>
          <a:xfrm>
            <a:off x="6394159" y="3622774"/>
            <a:ext cx="641933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CBD5E1"/>
                </a:solidFill>
              </a:rPr>
              <a:t>Havi Fogyasztás</a:t>
            </a:r>
            <a:endParaRPr lang="en-US" sz="621" dirty="0"/>
          </a:p>
        </p:txBody>
      </p:sp>
      <p:sp>
        <p:nvSpPr>
          <p:cNvPr id="32" name="Shape 21"/>
          <p:cNvSpPr/>
          <p:nvPr/>
        </p:nvSpPr>
        <p:spPr>
          <a:xfrm>
            <a:off x="5486400" y="3810298"/>
            <a:ext cx="2457450" cy="28575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33" name="Text 22"/>
          <p:cNvSpPr/>
          <p:nvPr/>
        </p:nvSpPr>
        <p:spPr>
          <a:xfrm>
            <a:off x="6504077" y="3874591"/>
            <a:ext cx="422067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145 kWh</a:t>
            </a:r>
            <a:endParaRPr lang="en-US" sz="683" dirty="0"/>
          </a:p>
        </p:txBody>
      </p:sp>
      <p:sp>
        <p:nvSpPr>
          <p:cNvPr id="34" name="Text 23"/>
          <p:cNvSpPr/>
          <p:nvPr/>
        </p:nvSpPr>
        <p:spPr>
          <a:xfrm>
            <a:off x="4929188" y="4588073"/>
            <a:ext cx="3571875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727" i="1" dirty="0">
                <a:solidFill>
                  <a:srgbClr val="F59E0B"/>
                </a:solidFill>
              </a:rPr>
              <a:t>"A tökéletes irányítópult mindenki számára mást jelent."</a:t>
            </a:r>
            <a:endParaRPr lang="en-US" sz="727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42938" y="428625"/>
            <a:ext cx="7858125" cy="530423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642938" y="944761"/>
            <a:ext cx="7858125" cy="1428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5" name="Text 2"/>
          <p:cNvSpPr/>
          <p:nvPr/>
        </p:nvSpPr>
        <p:spPr>
          <a:xfrm>
            <a:off x="642938" y="428625"/>
            <a:ext cx="4434873" cy="4089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121" b="1" dirty="0">
                <a:solidFill>
                  <a:srgbClr val="FFFFFF"/>
                </a:solidFill>
              </a:rPr>
              <a:t>Automatizálások és Jelenetek</a:t>
            </a:r>
            <a:endParaRPr lang="en-US" sz="2121" dirty="0"/>
          </a:p>
        </p:txBody>
      </p:sp>
      <p:sp>
        <p:nvSpPr>
          <p:cNvPr id="6" name="Text 3"/>
          <p:cNvSpPr/>
          <p:nvPr/>
        </p:nvSpPr>
        <p:spPr>
          <a:xfrm>
            <a:off x="8304916" y="603647"/>
            <a:ext cx="196146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59E0B"/>
                </a:solidFill>
              </a:rPr>
              <a:t>06</a:t>
            </a:r>
            <a:endParaRPr lang="en-US" sz="1193" dirty="0"/>
          </a:p>
        </p:txBody>
      </p:sp>
      <p:sp>
        <p:nvSpPr>
          <p:cNvPr id="7" name="Shape 4"/>
          <p:cNvSpPr/>
          <p:nvPr/>
        </p:nvSpPr>
        <p:spPr>
          <a:xfrm>
            <a:off x="642938" y="1373386"/>
            <a:ext cx="2143125" cy="1714109"/>
          </a:xfrm>
          <a:prstGeom prst="rect">
            <a:avLst/>
          </a:prstGeom>
          <a:solidFill>
            <a:srgbClr val="1E293B">
              <a:alpha val="70000"/>
            </a:srgbClr>
          </a:solidFill>
          <a:ln w="9144">
            <a:solidFill>
              <a:srgbClr val="38BDF8">
                <a:alpha val="40000"/>
              </a:srgbClr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5913" y="1587698"/>
            <a:ext cx="257175" cy="3429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85813" y="2073473"/>
            <a:ext cx="1857375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38BDF8"/>
                </a:solidFill>
              </a:rPr>
              <a:t>Trigger</a:t>
            </a:r>
            <a:endParaRPr lang="en-US" sz="1193" dirty="0"/>
          </a:p>
        </p:txBody>
      </p:sp>
      <p:sp>
        <p:nvSpPr>
          <p:cNvPr id="10" name="Text 6"/>
          <p:cNvSpPr/>
          <p:nvPr/>
        </p:nvSpPr>
        <p:spPr>
          <a:xfrm>
            <a:off x="785813" y="2378869"/>
            <a:ext cx="1857375" cy="480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834" dirty="0">
                <a:solidFill>
                  <a:srgbClr val="CBD5E1"/>
                </a:solidFill>
              </a:rPr>
              <a:t>Az esemény, ami elindítja a folyamatot (pl. mozgás érzékelése).</a:t>
            </a:r>
            <a:endParaRPr lang="en-US" sz="834" dirty="0"/>
          </a:p>
        </p:txBody>
      </p:sp>
      <p:sp>
        <p:nvSpPr>
          <p:cNvPr id="11" name="Shape 7"/>
          <p:cNvSpPr/>
          <p:nvPr/>
        </p:nvSpPr>
        <p:spPr>
          <a:xfrm>
            <a:off x="2921124" y="2001841"/>
            <a:ext cx="444252" cy="158948"/>
          </a:xfrm>
          <a:prstGeom prst="rect">
            <a:avLst/>
          </a:prstGeom>
          <a:solidFill>
            <a:srgbClr val="1E293B"/>
          </a:solidFill>
          <a:ln w="9144">
            <a:solidFill>
              <a:srgbClr val="F59E0B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2921124" y="2001841"/>
            <a:ext cx="444252" cy="158948"/>
          </a:xfrm>
          <a:prstGeom prst="rect">
            <a:avLst/>
          </a:prstGeom>
          <a:noFill/>
          <a:ln/>
        </p:spPr>
        <p:txBody>
          <a:bodyPr wrap="square" lIns="68072" tIns="17018" rIns="68072" bIns="17018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F59E0B"/>
                </a:solidFill>
              </a:rPr>
              <a:t>Mikor?</a:t>
            </a:r>
            <a:endParaRPr lang="en-US" sz="621" dirty="0"/>
          </a:p>
        </p:txBody>
      </p:sp>
      <p:sp>
        <p:nvSpPr>
          <p:cNvPr id="13" name="Text 9"/>
          <p:cNvSpPr/>
          <p:nvPr/>
        </p:nvSpPr>
        <p:spPr>
          <a:xfrm>
            <a:off x="3411141" y="2144716"/>
            <a:ext cx="125016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F59E0B"/>
                </a:solidFill>
              </a:rPr>
              <a:t></a:t>
            </a:r>
            <a:endParaRPr lang="en-US" sz="987" dirty="0"/>
          </a:p>
        </p:txBody>
      </p:sp>
      <p:sp>
        <p:nvSpPr>
          <p:cNvPr id="14" name="Shape 10"/>
          <p:cNvSpPr/>
          <p:nvPr/>
        </p:nvSpPr>
        <p:spPr>
          <a:xfrm>
            <a:off x="3500438" y="1446247"/>
            <a:ext cx="2143125" cy="1554100"/>
          </a:xfrm>
          <a:prstGeom prst="rect">
            <a:avLst/>
          </a:prstGeom>
          <a:solidFill>
            <a:srgbClr val="1E293B">
              <a:alpha val="70000"/>
            </a:srgbClr>
          </a:solidFill>
          <a:ln w="9144">
            <a:solidFill>
              <a:srgbClr val="38BDF8">
                <a:alpha val="40000"/>
              </a:srgbClr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00550" y="1667703"/>
            <a:ext cx="342900" cy="34290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3643313" y="2153478"/>
            <a:ext cx="1857375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38BDF8"/>
                </a:solidFill>
              </a:rPr>
              <a:t>Condition</a:t>
            </a:r>
            <a:endParaRPr lang="en-US" sz="1193" dirty="0"/>
          </a:p>
        </p:txBody>
      </p:sp>
      <p:sp>
        <p:nvSpPr>
          <p:cNvPr id="17" name="Text 12"/>
          <p:cNvSpPr/>
          <p:nvPr/>
        </p:nvSpPr>
        <p:spPr>
          <a:xfrm>
            <a:off x="3643313" y="2458873"/>
            <a:ext cx="1857375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834" dirty="0">
                <a:solidFill>
                  <a:srgbClr val="CBD5E1"/>
                </a:solidFill>
              </a:rPr>
              <a:t>Feltételek, amiknek teljesülniük kell (pl. csak naplemente után).</a:t>
            </a:r>
            <a:endParaRPr lang="en-US" sz="834" dirty="0"/>
          </a:p>
        </p:txBody>
      </p:sp>
      <p:sp>
        <p:nvSpPr>
          <p:cNvPr id="18" name="Shape 13"/>
          <p:cNvSpPr/>
          <p:nvPr/>
        </p:nvSpPr>
        <p:spPr>
          <a:xfrm>
            <a:off x="5889087" y="2001841"/>
            <a:ext cx="223326" cy="158948"/>
          </a:xfrm>
          <a:prstGeom prst="rect">
            <a:avLst/>
          </a:prstGeom>
          <a:solidFill>
            <a:srgbClr val="1E293B"/>
          </a:solidFill>
          <a:ln w="9144">
            <a:solidFill>
              <a:srgbClr val="F59E0B"/>
            </a:solidFill>
            <a:prstDash val="solid"/>
          </a:ln>
        </p:spPr>
      </p:sp>
      <p:sp>
        <p:nvSpPr>
          <p:cNvPr id="19" name="Text 14"/>
          <p:cNvSpPr/>
          <p:nvPr/>
        </p:nvSpPr>
        <p:spPr>
          <a:xfrm>
            <a:off x="5889087" y="2001841"/>
            <a:ext cx="223326" cy="158948"/>
          </a:xfrm>
          <a:prstGeom prst="rect">
            <a:avLst/>
          </a:prstGeom>
          <a:noFill/>
          <a:ln/>
        </p:spPr>
        <p:txBody>
          <a:bodyPr wrap="square" lIns="68072" tIns="17018" rIns="68072" bIns="17018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F59E0B"/>
                </a:solidFill>
              </a:rPr>
              <a:t>És</a:t>
            </a:r>
            <a:endParaRPr lang="en-US" sz="621" dirty="0"/>
          </a:p>
        </p:txBody>
      </p:sp>
      <p:sp>
        <p:nvSpPr>
          <p:cNvPr id="20" name="Shape 15"/>
          <p:cNvSpPr/>
          <p:nvPr/>
        </p:nvSpPr>
        <p:spPr>
          <a:xfrm>
            <a:off x="5858698" y="2001841"/>
            <a:ext cx="284104" cy="158948"/>
          </a:xfrm>
          <a:prstGeom prst="rect">
            <a:avLst/>
          </a:prstGeom>
          <a:solidFill>
            <a:srgbClr val="1E293B"/>
          </a:solidFill>
          <a:ln w="9144">
            <a:solidFill>
              <a:srgbClr val="F59E0B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5858698" y="2001841"/>
            <a:ext cx="284104" cy="158948"/>
          </a:xfrm>
          <a:prstGeom prst="rect">
            <a:avLst/>
          </a:prstGeom>
          <a:noFill/>
          <a:ln/>
        </p:spPr>
        <p:txBody>
          <a:bodyPr wrap="square" lIns="68072" tIns="17018" rIns="68072" bIns="17018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F59E0B"/>
                </a:solidFill>
              </a:rPr>
              <a:t>ha?</a:t>
            </a:r>
            <a:endParaRPr lang="en-US" sz="621" dirty="0"/>
          </a:p>
        </p:txBody>
      </p:sp>
      <p:sp>
        <p:nvSpPr>
          <p:cNvPr id="22" name="Text 17"/>
          <p:cNvSpPr/>
          <p:nvPr/>
        </p:nvSpPr>
        <p:spPr>
          <a:xfrm>
            <a:off x="6268641" y="2144716"/>
            <a:ext cx="125016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F59E0B"/>
                </a:solidFill>
              </a:rPr>
              <a:t></a:t>
            </a:r>
            <a:endParaRPr lang="en-US" sz="987" dirty="0"/>
          </a:p>
        </p:txBody>
      </p:sp>
      <p:sp>
        <p:nvSpPr>
          <p:cNvPr id="23" name="Shape 18"/>
          <p:cNvSpPr/>
          <p:nvPr/>
        </p:nvSpPr>
        <p:spPr>
          <a:xfrm>
            <a:off x="6357938" y="1446247"/>
            <a:ext cx="2143125" cy="1554100"/>
          </a:xfrm>
          <a:prstGeom prst="rect">
            <a:avLst/>
          </a:prstGeom>
          <a:solidFill>
            <a:srgbClr val="1E293B">
              <a:alpha val="70000"/>
            </a:srgbClr>
          </a:solidFill>
          <a:ln w="9144">
            <a:solidFill>
              <a:srgbClr val="38BDF8">
                <a:alpha val="40000"/>
              </a:srgbClr>
            </a:solidFill>
            <a:prstDash val="solid"/>
          </a:ln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58050" y="1667703"/>
            <a:ext cx="342900" cy="34290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6500813" y="2153478"/>
            <a:ext cx="1857375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38BDF8"/>
                </a:solidFill>
              </a:rPr>
              <a:t>Action</a:t>
            </a:r>
            <a:endParaRPr lang="en-US" sz="1193" dirty="0"/>
          </a:p>
        </p:txBody>
      </p:sp>
      <p:sp>
        <p:nvSpPr>
          <p:cNvPr id="26" name="Text 20"/>
          <p:cNvSpPr/>
          <p:nvPr/>
        </p:nvSpPr>
        <p:spPr>
          <a:xfrm>
            <a:off x="6500813" y="2458873"/>
            <a:ext cx="1857375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834" dirty="0">
                <a:solidFill>
                  <a:srgbClr val="CBD5E1"/>
                </a:solidFill>
              </a:rPr>
              <a:t>A végrehajtandó feladat (pl. lámpa felkapcsolása).</a:t>
            </a:r>
            <a:endParaRPr lang="en-US" sz="834" dirty="0"/>
          </a:p>
        </p:txBody>
      </p:sp>
      <p:sp>
        <p:nvSpPr>
          <p:cNvPr id="27" name="Shape 21"/>
          <p:cNvSpPr/>
          <p:nvPr/>
        </p:nvSpPr>
        <p:spPr>
          <a:xfrm>
            <a:off x="642938" y="3644708"/>
            <a:ext cx="7858125" cy="757238"/>
          </a:xfrm>
          <a:prstGeom prst="rect">
            <a:avLst/>
          </a:prstGeom>
          <a:solidFill>
            <a:srgbClr val="F59E0B">
              <a:alpha val="5000"/>
            </a:srgbClr>
          </a:solidFill>
          <a:ln w="9144">
            <a:solidFill>
              <a:srgbClr val="F59E0B"/>
            </a:solidFill>
            <a:prstDash val="solid"/>
          </a:ln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1531" y="3901883"/>
            <a:ext cx="228600" cy="228600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1228725" y="3823302"/>
            <a:ext cx="6918247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FFFFFF"/>
                </a:solidFill>
              </a:rPr>
              <a:t>Jelenetek (Scenes)</a:t>
            </a:r>
            <a:endParaRPr lang="en-US" sz="987" dirty="0"/>
          </a:p>
        </p:txBody>
      </p:sp>
      <p:sp>
        <p:nvSpPr>
          <p:cNvPr id="30" name="Text 23"/>
          <p:cNvSpPr/>
          <p:nvPr/>
        </p:nvSpPr>
        <p:spPr>
          <a:xfrm>
            <a:off x="1228725" y="4053687"/>
            <a:ext cx="6918247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94A3B8"/>
                </a:solidFill>
              </a:rPr>
              <a:t>Több eszköz egyidejű állapotának rögzítése és előhívása egyetlen gombnyomással (pl. "Mozi mód": redőny le, fények 10%, TV be).</a:t>
            </a:r>
            <a:endParaRPr lang="en-US" sz="834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42938" y="428625"/>
            <a:ext cx="7858125" cy="530423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642938" y="944761"/>
            <a:ext cx="7858125" cy="1428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5" name="Text 2"/>
          <p:cNvSpPr/>
          <p:nvPr/>
        </p:nvSpPr>
        <p:spPr>
          <a:xfrm>
            <a:off x="642938" y="428625"/>
            <a:ext cx="2707565" cy="4089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121" b="1" dirty="0">
                <a:solidFill>
                  <a:srgbClr val="FFFFFF"/>
                </a:solidFill>
              </a:rPr>
              <a:t>HACS és Add-onok</a:t>
            </a:r>
            <a:endParaRPr lang="en-US" sz="2121" dirty="0"/>
          </a:p>
        </p:txBody>
      </p:sp>
      <p:sp>
        <p:nvSpPr>
          <p:cNvPr id="6" name="Text 3"/>
          <p:cNvSpPr/>
          <p:nvPr/>
        </p:nvSpPr>
        <p:spPr>
          <a:xfrm>
            <a:off x="8304916" y="603647"/>
            <a:ext cx="196146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59E0B"/>
                </a:solidFill>
              </a:rPr>
              <a:t>07</a:t>
            </a:r>
            <a:endParaRPr lang="en-US" sz="1193" dirty="0"/>
          </a:p>
        </p:txBody>
      </p:sp>
      <p:sp>
        <p:nvSpPr>
          <p:cNvPr id="7" name="Shape 4"/>
          <p:cNvSpPr/>
          <p:nvPr/>
        </p:nvSpPr>
        <p:spPr>
          <a:xfrm>
            <a:off x="642938" y="1230511"/>
            <a:ext cx="3786188" cy="3406090"/>
          </a:xfrm>
          <a:prstGeom prst="rect">
            <a:avLst/>
          </a:prstGeom>
          <a:solidFill>
            <a:srgbClr val="1E293B">
              <a:alpha val="50000"/>
            </a:srgbClr>
          </a:solidFill>
          <a:ln w="9144">
            <a:solidFill>
              <a:srgbClr val="38BDF8">
                <a:alpha val="30000"/>
              </a:srgbClr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7250" y="1476077"/>
            <a:ext cx="192881" cy="17145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157288" y="1444823"/>
            <a:ext cx="1567914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69" dirty="0">
                <a:solidFill>
                  <a:srgbClr val="F59E0B"/>
                </a:solidFill>
              </a:rPr>
              <a:t>Hivatalos Add-onok</a:t>
            </a:r>
            <a:endParaRPr lang="en-US" sz="1269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250" y="1957388"/>
            <a:ext cx="142875" cy="142875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107281" y="1935956"/>
            <a:ext cx="2568429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FFFF"/>
                </a:solidFill>
              </a:rPr>
              <a:t>Mosquitto Broker</a:t>
            </a:r>
            <a:endParaRPr lang="en-US" sz="885" dirty="0"/>
          </a:p>
        </p:txBody>
      </p:sp>
      <p:sp>
        <p:nvSpPr>
          <p:cNvPr id="12" name="Text 7"/>
          <p:cNvSpPr/>
          <p:nvPr/>
        </p:nvSpPr>
        <p:spPr>
          <a:xfrm>
            <a:off x="1107281" y="2146697"/>
            <a:ext cx="2568429" cy="14000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94A3B8"/>
                </a:solidFill>
              </a:rPr>
              <a:t>Központi MQTT üzenetkezelő az IoT eszközök számára.</a:t>
            </a:r>
            <a:endParaRPr lang="en-US" sz="727" dirty="0"/>
          </a:p>
        </p:txBody>
      </p:sp>
      <p:sp>
        <p:nvSpPr>
          <p:cNvPr id="13" name="Shape 8"/>
          <p:cNvSpPr/>
          <p:nvPr/>
        </p:nvSpPr>
        <p:spPr>
          <a:xfrm>
            <a:off x="1107281" y="2322416"/>
            <a:ext cx="705445" cy="141089"/>
          </a:xfrm>
          <a:prstGeom prst="rect">
            <a:avLst/>
          </a:prstGeom>
          <a:solidFill>
            <a:srgbClr val="38BDF8">
              <a:alpha val="10000"/>
            </a:srgbClr>
          </a:solidFill>
          <a:ln w="9144">
            <a:solidFill>
              <a:srgbClr val="38BDF8"/>
            </a:solidFill>
            <a:prstDash val="solid"/>
          </a:ln>
        </p:spPr>
      </p:sp>
      <p:sp>
        <p:nvSpPr>
          <p:cNvPr id="14" name="Text 9"/>
          <p:cNvSpPr/>
          <p:nvPr/>
        </p:nvSpPr>
        <p:spPr>
          <a:xfrm>
            <a:off x="1107281" y="2322416"/>
            <a:ext cx="705445" cy="141089"/>
          </a:xfrm>
          <a:prstGeom prst="rect">
            <a:avLst/>
          </a:prstGeom>
          <a:noFill/>
          <a:ln/>
        </p:spPr>
        <p:txBody>
          <a:bodyPr wrap="square" lIns="68072" tIns="17018" rIns="68072" bIns="17018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485" b="1" dirty="0">
                <a:solidFill>
                  <a:srgbClr val="38BDF8"/>
                </a:solidFill>
              </a:rPr>
              <a:t>System Service</a:t>
            </a:r>
            <a:endParaRPr lang="en-US" sz="485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" y="2613524"/>
            <a:ext cx="160734" cy="142875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125141" y="2592093"/>
            <a:ext cx="2174881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FFFF"/>
                </a:solidFill>
              </a:rPr>
              <a:t>Zigbee2MQTT</a:t>
            </a:r>
            <a:endParaRPr lang="en-US" sz="885" dirty="0"/>
          </a:p>
        </p:txBody>
      </p:sp>
      <p:sp>
        <p:nvSpPr>
          <p:cNvPr id="17" name="Text 11"/>
          <p:cNvSpPr/>
          <p:nvPr/>
        </p:nvSpPr>
        <p:spPr>
          <a:xfrm>
            <a:off x="1125141" y="2802834"/>
            <a:ext cx="2174881" cy="14000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94A3B8"/>
                </a:solidFill>
              </a:rPr>
              <a:t>Zigbee eszközök bridge-elése MQTT hálózatra.</a:t>
            </a:r>
            <a:endParaRPr lang="en-US" sz="727" dirty="0"/>
          </a:p>
        </p:txBody>
      </p:sp>
      <p:sp>
        <p:nvSpPr>
          <p:cNvPr id="18" name="Shape 12"/>
          <p:cNvSpPr/>
          <p:nvPr/>
        </p:nvSpPr>
        <p:spPr>
          <a:xfrm>
            <a:off x="1125141" y="2978553"/>
            <a:ext cx="660518" cy="141089"/>
          </a:xfrm>
          <a:prstGeom prst="rect">
            <a:avLst/>
          </a:prstGeom>
          <a:solidFill>
            <a:srgbClr val="38BDF8">
              <a:alpha val="10000"/>
            </a:srgbClr>
          </a:solidFill>
          <a:ln w="9144">
            <a:solidFill>
              <a:srgbClr val="38BDF8"/>
            </a:solidFill>
            <a:prstDash val="solid"/>
          </a:ln>
        </p:spPr>
      </p:sp>
      <p:sp>
        <p:nvSpPr>
          <p:cNvPr id="19" name="Text 13"/>
          <p:cNvSpPr/>
          <p:nvPr/>
        </p:nvSpPr>
        <p:spPr>
          <a:xfrm>
            <a:off x="1125141" y="2978553"/>
            <a:ext cx="660518" cy="141089"/>
          </a:xfrm>
          <a:prstGeom prst="rect">
            <a:avLst/>
          </a:prstGeom>
          <a:noFill/>
          <a:ln/>
        </p:spPr>
        <p:txBody>
          <a:bodyPr wrap="square" lIns="68072" tIns="17018" rIns="68072" bIns="17018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485" b="1" dirty="0">
                <a:solidFill>
                  <a:srgbClr val="38BDF8"/>
                </a:solidFill>
              </a:rPr>
              <a:t>Connectivity</a:t>
            </a:r>
            <a:endParaRPr lang="en-US" sz="485" dirty="0"/>
          </a:p>
        </p:txBody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250" y="3269661"/>
            <a:ext cx="178594" cy="142875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1143000" y="3248230"/>
            <a:ext cx="2705863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FFFF"/>
                </a:solidFill>
              </a:rPr>
              <a:t>Node-RED</a:t>
            </a:r>
            <a:endParaRPr lang="en-US" sz="885" dirty="0"/>
          </a:p>
        </p:txBody>
      </p:sp>
      <p:sp>
        <p:nvSpPr>
          <p:cNvPr id="22" name="Text 15"/>
          <p:cNvSpPr/>
          <p:nvPr/>
        </p:nvSpPr>
        <p:spPr>
          <a:xfrm>
            <a:off x="1143000" y="3458970"/>
            <a:ext cx="2705863" cy="14000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94A3B8"/>
                </a:solidFill>
              </a:rPr>
              <a:t>Vizuális folyamatszerkesztő komplex automatizálásokhoz.</a:t>
            </a:r>
            <a:endParaRPr lang="en-US" sz="727" dirty="0"/>
          </a:p>
        </p:txBody>
      </p:sp>
      <p:sp>
        <p:nvSpPr>
          <p:cNvPr id="23" name="Shape 16"/>
          <p:cNvSpPr/>
          <p:nvPr/>
        </p:nvSpPr>
        <p:spPr>
          <a:xfrm>
            <a:off x="1143000" y="3634690"/>
            <a:ext cx="624436" cy="141089"/>
          </a:xfrm>
          <a:prstGeom prst="rect">
            <a:avLst/>
          </a:prstGeom>
          <a:solidFill>
            <a:srgbClr val="38BDF8">
              <a:alpha val="10000"/>
            </a:srgbClr>
          </a:solidFill>
          <a:ln w="9144">
            <a:solidFill>
              <a:srgbClr val="38BDF8"/>
            </a:solidFill>
            <a:prstDash val="solid"/>
          </a:ln>
        </p:spPr>
      </p:sp>
      <p:sp>
        <p:nvSpPr>
          <p:cNvPr id="24" name="Text 17"/>
          <p:cNvSpPr/>
          <p:nvPr/>
        </p:nvSpPr>
        <p:spPr>
          <a:xfrm>
            <a:off x="1143000" y="3634690"/>
            <a:ext cx="624436" cy="141089"/>
          </a:xfrm>
          <a:prstGeom prst="rect">
            <a:avLst/>
          </a:prstGeom>
          <a:noFill/>
          <a:ln/>
        </p:spPr>
        <p:txBody>
          <a:bodyPr wrap="square" lIns="68072" tIns="17018" rIns="68072" bIns="17018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485" b="1" dirty="0">
                <a:solidFill>
                  <a:srgbClr val="38BDF8"/>
                </a:solidFill>
              </a:rPr>
              <a:t>Automation</a:t>
            </a:r>
            <a:endParaRPr lang="en-US" sz="485" dirty="0"/>
          </a:p>
        </p:txBody>
      </p:sp>
      <p:sp>
        <p:nvSpPr>
          <p:cNvPr id="25" name="Shape 18"/>
          <p:cNvSpPr/>
          <p:nvPr/>
        </p:nvSpPr>
        <p:spPr>
          <a:xfrm>
            <a:off x="4707731" y="1230511"/>
            <a:ext cx="3793331" cy="3406090"/>
          </a:xfrm>
          <a:prstGeom prst="rect">
            <a:avLst/>
          </a:prstGeom>
          <a:solidFill>
            <a:srgbClr val="1E293B">
              <a:alpha val="50000"/>
            </a:srgbClr>
          </a:solidFill>
          <a:ln w="9144">
            <a:solidFill>
              <a:srgbClr val="38BDF8">
                <a:alpha val="30000"/>
              </a:srgbClr>
            </a:solidFill>
            <a:prstDash val="solid"/>
          </a:ln>
        </p:spPr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29188" y="1476077"/>
            <a:ext cx="192881" cy="171450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5229225" y="1444823"/>
            <a:ext cx="1521284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69" dirty="0">
                <a:solidFill>
                  <a:srgbClr val="F59E0B"/>
                </a:solidFill>
              </a:rPr>
              <a:t>HACS (Community)</a:t>
            </a:r>
            <a:endParaRPr lang="en-US" sz="1269" dirty="0"/>
          </a:p>
        </p:txBody>
      </p:sp>
      <p:pic>
        <p:nvPicPr>
          <p:cNvPr id="2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29188" y="1957388"/>
            <a:ext cx="107156" cy="142875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5143500" y="1935956"/>
            <a:ext cx="2993789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FFFF"/>
                </a:solidFill>
              </a:rPr>
              <a:t>Egyedi Integrációk</a:t>
            </a:r>
            <a:endParaRPr lang="en-US" sz="885" dirty="0"/>
          </a:p>
        </p:txBody>
      </p:sp>
      <p:sp>
        <p:nvSpPr>
          <p:cNvPr id="30" name="Text 21"/>
          <p:cNvSpPr/>
          <p:nvPr/>
        </p:nvSpPr>
        <p:spPr>
          <a:xfrm>
            <a:off x="5143500" y="2146697"/>
            <a:ext cx="2993789" cy="14000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94A3B8"/>
                </a:solidFill>
              </a:rPr>
              <a:t>Közösség által írt illesztőprogramok (pl. Local Tuya, Sonoff LAN).</a:t>
            </a:r>
            <a:endParaRPr lang="en-US" sz="727" dirty="0"/>
          </a:p>
        </p:txBody>
      </p:sp>
      <p:sp>
        <p:nvSpPr>
          <p:cNvPr id="31" name="Shape 22"/>
          <p:cNvSpPr/>
          <p:nvPr/>
        </p:nvSpPr>
        <p:spPr>
          <a:xfrm>
            <a:off x="5143500" y="2322416"/>
            <a:ext cx="662443" cy="141089"/>
          </a:xfrm>
          <a:prstGeom prst="rect">
            <a:avLst/>
          </a:prstGeom>
          <a:solidFill>
            <a:srgbClr val="38BDF8">
              <a:alpha val="10000"/>
            </a:srgbClr>
          </a:solidFill>
          <a:ln w="9144">
            <a:solidFill>
              <a:srgbClr val="38BDF8"/>
            </a:solidFill>
            <a:prstDash val="solid"/>
          </a:ln>
        </p:spPr>
      </p:sp>
      <p:sp>
        <p:nvSpPr>
          <p:cNvPr id="32" name="Text 23"/>
          <p:cNvSpPr/>
          <p:nvPr/>
        </p:nvSpPr>
        <p:spPr>
          <a:xfrm>
            <a:off x="5143500" y="2322416"/>
            <a:ext cx="662443" cy="141089"/>
          </a:xfrm>
          <a:prstGeom prst="rect">
            <a:avLst/>
          </a:prstGeom>
          <a:noFill/>
          <a:ln/>
        </p:spPr>
        <p:txBody>
          <a:bodyPr wrap="square" lIns="68072" tIns="17018" rIns="68072" bIns="17018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485" b="1" dirty="0">
                <a:solidFill>
                  <a:srgbClr val="38BDF8"/>
                </a:solidFill>
              </a:rPr>
              <a:t>Integrations</a:t>
            </a:r>
            <a:endParaRPr lang="en-US" sz="485" dirty="0"/>
          </a:p>
        </p:txBody>
      </p:sp>
      <p:pic>
        <p:nvPicPr>
          <p:cNvPr id="3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29188" y="2613524"/>
            <a:ext cx="142875" cy="142875"/>
          </a:xfrm>
          <a:prstGeom prst="rect">
            <a:avLst/>
          </a:prstGeom>
        </p:spPr>
      </p:pic>
      <p:sp>
        <p:nvSpPr>
          <p:cNvPr id="34" name="Text 24"/>
          <p:cNvSpPr/>
          <p:nvPr/>
        </p:nvSpPr>
        <p:spPr>
          <a:xfrm>
            <a:off x="5179219" y="2592093"/>
            <a:ext cx="2617654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FFFF"/>
                </a:solidFill>
              </a:rPr>
              <a:t>Lovelace Kártyák</a:t>
            </a:r>
            <a:endParaRPr lang="en-US" sz="885" dirty="0"/>
          </a:p>
        </p:txBody>
      </p:sp>
      <p:sp>
        <p:nvSpPr>
          <p:cNvPr id="35" name="Text 25"/>
          <p:cNvSpPr/>
          <p:nvPr/>
        </p:nvSpPr>
        <p:spPr>
          <a:xfrm>
            <a:off x="5179219" y="2802834"/>
            <a:ext cx="2617654" cy="14000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94A3B8"/>
                </a:solidFill>
              </a:rPr>
              <a:t>Speciális vizuális elemek a dashboard testreszabásához.</a:t>
            </a:r>
            <a:endParaRPr lang="en-US" sz="727" dirty="0"/>
          </a:p>
        </p:txBody>
      </p:sp>
      <p:sp>
        <p:nvSpPr>
          <p:cNvPr id="36" name="Shape 26"/>
          <p:cNvSpPr/>
          <p:nvPr/>
        </p:nvSpPr>
        <p:spPr>
          <a:xfrm>
            <a:off x="5179219" y="2978553"/>
            <a:ext cx="522219" cy="141089"/>
          </a:xfrm>
          <a:prstGeom prst="rect">
            <a:avLst/>
          </a:prstGeom>
          <a:solidFill>
            <a:srgbClr val="38BDF8">
              <a:alpha val="10000"/>
            </a:srgbClr>
          </a:solidFill>
          <a:ln w="9144">
            <a:solidFill>
              <a:srgbClr val="38BDF8"/>
            </a:solidFill>
            <a:prstDash val="solid"/>
          </a:ln>
        </p:spPr>
      </p:sp>
      <p:sp>
        <p:nvSpPr>
          <p:cNvPr id="37" name="Text 27"/>
          <p:cNvSpPr/>
          <p:nvPr/>
        </p:nvSpPr>
        <p:spPr>
          <a:xfrm>
            <a:off x="5179219" y="2978553"/>
            <a:ext cx="522219" cy="141089"/>
          </a:xfrm>
          <a:prstGeom prst="rect">
            <a:avLst/>
          </a:prstGeom>
          <a:noFill/>
          <a:ln/>
        </p:spPr>
        <p:txBody>
          <a:bodyPr wrap="square" lIns="68072" tIns="17018" rIns="68072" bIns="17018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485" b="1" dirty="0">
                <a:solidFill>
                  <a:srgbClr val="38BDF8"/>
                </a:solidFill>
              </a:rPr>
              <a:t>Frontend</a:t>
            </a:r>
            <a:endParaRPr lang="en-US" sz="485" dirty="0"/>
          </a:p>
        </p:txBody>
      </p:sp>
      <p:pic>
        <p:nvPicPr>
          <p:cNvPr id="38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929188" y="3269661"/>
            <a:ext cx="142875" cy="142875"/>
          </a:xfrm>
          <a:prstGeom prst="rect">
            <a:avLst/>
          </a:prstGeom>
        </p:spPr>
      </p:pic>
      <p:sp>
        <p:nvSpPr>
          <p:cNvPr id="39" name="Text 28"/>
          <p:cNvSpPr/>
          <p:nvPr/>
        </p:nvSpPr>
        <p:spPr>
          <a:xfrm>
            <a:off x="5179219" y="3248230"/>
            <a:ext cx="2573341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FFFF"/>
                </a:solidFill>
              </a:rPr>
              <a:t>Témák</a:t>
            </a:r>
            <a:endParaRPr lang="en-US" sz="885" dirty="0"/>
          </a:p>
        </p:txBody>
      </p:sp>
      <p:sp>
        <p:nvSpPr>
          <p:cNvPr id="40" name="Text 29"/>
          <p:cNvSpPr/>
          <p:nvPr/>
        </p:nvSpPr>
        <p:spPr>
          <a:xfrm>
            <a:off x="5179219" y="3458970"/>
            <a:ext cx="2573341" cy="14000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94A3B8"/>
                </a:solidFill>
              </a:rPr>
              <a:t>A teljes felhasználói felület stílusának megváltoztatása.</a:t>
            </a:r>
            <a:endParaRPr lang="en-US" sz="727" dirty="0"/>
          </a:p>
        </p:txBody>
      </p:sp>
      <p:sp>
        <p:nvSpPr>
          <p:cNvPr id="41" name="Shape 30"/>
          <p:cNvSpPr/>
          <p:nvPr/>
        </p:nvSpPr>
        <p:spPr>
          <a:xfrm>
            <a:off x="5179219" y="3634690"/>
            <a:ext cx="411352" cy="141089"/>
          </a:xfrm>
          <a:prstGeom prst="rect">
            <a:avLst/>
          </a:prstGeom>
          <a:solidFill>
            <a:srgbClr val="38BDF8">
              <a:alpha val="10000"/>
            </a:srgbClr>
          </a:solidFill>
          <a:ln w="9144">
            <a:solidFill>
              <a:srgbClr val="38BDF8"/>
            </a:solidFill>
            <a:prstDash val="solid"/>
          </a:ln>
        </p:spPr>
      </p:sp>
      <p:sp>
        <p:nvSpPr>
          <p:cNvPr id="42" name="Text 31"/>
          <p:cNvSpPr/>
          <p:nvPr/>
        </p:nvSpPr>
        <p:spPr>
          <a:xfrm>
            <a:off x="5179219" y="3634690"/>
            <a:ext cx="411352" cy="141089"/>
          </a:xfrm>
          <a:prstGeom prst="rect">
            <a:avLst/>
          </a:prstGeom>
          <a:noFill/>
          <a:ln/>
        </p:spPr>
        <p:txBody>
          <a:bodyPr wrap="square" lIns="68072" tIns="17018" rIns="68072" bIns="17018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485" b="1" dirty="0">
                <a:solidFill>
                  <a:srgbClr val="38BDF8"/>
                </a:solidFill>
              </a:rPr>
              <a:t>Themes</a:t>
            </a:r>
            <a:endParaRPr lang="en-US" sz="485" dirty="0"/>
          </a:p>
        </p:txBody>
      </p:sp>
      <p:sp>
        <p:nvSpPr>
          <p:cNvPr id="43" name="Shape 32"/>
          <p:cNvSpPr/>
          <p:nvPr/>
        </p:nvSpPr>
        <p:spPr>
          <a:xfrm>
            <a:off x="4929188" y="3904366"/>
            <a:ext cx="3357563" cy="460772"/>
          </a:xfrm>
          <a:prstGeom prst="rect">
            <a:avLst/>
          </a:prstGeom>
          <a:solidFill>
            <a:srgbClr val="F59E0B">
              <a:alpha val="5000"/>
            </a:srgbClr>
          </a:solidFill>
          <a:ln w="9144">
            <a:solidFill>
              <a:srgbClr val="F59E0B"/>
            </a:solidFill>
            <a:prstDash val="dash"/>
          </a:ln>
        </p:spPr>
      </p:sp>
      <p:pic>
        <p:nvPicPr>
          <p:cNvPr id="44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036344" y="4025810"/>
            <a:ext cx="85725" cy="85725"/>
          </a:xfrm>
          <a:prstGeom prst="rect">
            <a:avLst/>
          </a:prstGeom>
        </p:spPr>
      </p:pic>
      <p:sp>
        <p:nvSpPr>
          <p:cNvPr id="45" name="Text 33"/>
          <p:cNvSpPr/>
          <p:nvPr/>
        </p:nvSpPr>
        <p:spPr>
          <a:xfrm>
            <a:off x="5122069" y="4011523"/>
            <a:ext cx="2828953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F59E0B"/>
                </a:solidFill>
              </a:rPr>
              <a:t>A HACS nem része az alaprendszernek, manuális telepítést igényel, de</a:t>
            </a:r>
            <a:endParaRPr lang="en-US" sz="621" dirty="0"/>
          </a:p>
        </p:txBody>
      </p:sp>
      <p:sp>
        <p:nvSpPr>
          <p:cNvPr id="46" name="Text 34"/>
          <p:cNvSpPr/>
          <p:nvPr/>
        </p:nvSpPr>
        <p:spPr>
          <a:xfrm>
            <a:off x="5036344" y="4127609"/>
            <a:ext cx="1939361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F59E0B"/>
                </a:solidFill>
              </a:rPr>
              <a:t>elengedhetetlen a haladó felhasználók számára.</a:t>
            </a:r>
            <a:endParaRPr lang="en-US" sz="621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42938" y="428625"/>
            <a:ext cx="7858125" cy="530423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642938" y="944761"/>
            <a:ext cx="7858125" cy="1428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5" name="Text 2"/>
          <p:cNvSpPr/>
          <p:nvPr/>
        </p:nvSpPr>
        <p:spPr>
          <a:xfrm>
            <a:off x="642938" y="428625"/>
            <a:ext cx="4549480" cy="4089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121" b="1" dirty="0">
                <a:solidFill>
                  <a:srgbClr val="FFFFFF"/>
                </a:solidFill>
              </a:rPr>
              <a:t>Adatvédelem és Helyi Vezérlés</a:t>
            </a:r>
            <a:endParaRPr lang="en-US" sz="2121" dirty="0"/>
          </a:p>
        </p:txBody>
      </p:sp>
      <p:sp>
        <p:nvSpPr>
          <p:cNvPr id="6" name="Text 3"/>
          <p:cNvSpPr/>
          <p:nvPr/>
        </p:nvSpPr>
        <p:spPr>
          <a:xfrm>
            <a:off x="8304916" y="603647"/>
            <a:ext cx="196146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59E0B"/>
                </a:solidFill>
              </a:rPr>
              <a:t>08</a:t>
            </a:r>
            <a:endParaRPr lang="en-US" sz="1193" dirty="0"/>
          </a:p>
        </p:txBody>
      </p:sp>
      <p:sp>
        <p:nvSpPr>
          <p:cNvPr id="7" name="Shape 4"/>
          <p:cNvSpPr/>
          <p:nvPr/>
        </p:nvSpPr>
        <p:spPr>
          <a:xfrm>
            <a:off x="642938" y="1230511"/>
            <a:ext cx="3786188" cy="2241352"/>
          </a:xfrm>
          <a:prstGeom prst="rect">
            <a:avLst/>
          </a:prstGeom>
          <a:solidFill>
            <a:srgbClr val="1E293B">
              <a:alpha val="50000"/>
            </a:srgbClr>
          </a:solidFill>
          <a:ln w="9144">
            <a:solidFill>
              <a:srgbClr val="EF4444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7250" y="1476077"/>
            <a:ext cx="214313" cy="17145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178719" y="1444823"/>
            <a:ext cx="1846018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69" dirty="0">
                <a:solidFill>
                  <a:srgbClr val="EF4444"/>
                </a:solidFill>
              </a:rPr>
              <a:t>Felhőalapú Kockázatok</a:t>
            </a:r>
            <a:endParaRPr lang="en-US" sz="1269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250" y="1957388"/>
            <a:ext cx="178594" cy="142875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143000" y="1935956"/>
            <a:ext cx="3064669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FFFF"/>
                </a:solidFill>
              </a:rPr>
              <a:t>Internetfüggőség</a:t>
            </a:r>
            <a:endParaRPr lang="en-US" sz="885" dirty="0"/>
          </a:p>
        </p:txBody>
      </p:sp>
      <p:sp>
        <p:nvSpPr>
          <p:cNvPr id="12" name="Text 7"/>
          <p:cNvSpPr/>
          <p:nvPr/>
        </p:nvSpPr>
        <p:spPr>
          <a:xfrm>
            <a:off x="1143000" y="2146697"/>
            <a:ext cx="3064669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80" dirty="0">
                <a:solidFill>
                  <a:srgbClr val="94A3B8"/>
                </a:solidFill>
              </a:rPr>
              <a:t>Ha megszakad az internet vagy leáll a gyártó szervere, az eszközök nem irányíthatóak.</a:t>
            </a:r>
            <a:endParaRPr lang="en-US" sz="78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" y="2611041"/>
            <a:ext cx="125016" cy="142875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089422" y="2589609"/>
            <a:ext cx="3118247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FFFF"/>
                </a:solidFill>
              </a:rPr>
              <a:t>Adatgyűjtés</a:t>
            </a:r>
            <a:endParaRPr lang="en-US" sz="885" dirty="0"/>
          </a:p>
        </p:txBody>
      </p:sp>
      <p:sp>
        <p:nvSpPr>
          <p:cNvPr id="15" name="Text 9"/>
          <p:cNvSpPr/>
          <p:nvPr/>
        </p:nvSpPr>
        <p:spPr>
          <a:xfrm>
            <a:off x="1089422" y="2800350"/>
            <a:ext cx="3118247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80" dirty="0">
                <a:solidFill>
                  <a:srgbClr val="94A3B8"/>
                </a:solidFill>
              </a:rPr>
              <a:t>A gyártók látják, mikor van otthon, mikor kapcsolja a lámpát, és ezeket az adatokat profilalkotásra használhatják.</a:t>
            </a:r>
            <a:endParaRPr lang="en-US" sz="780" dirty="0"/>
          </a:p>
        </p:txBody>
      </p:sp>
      <p:sp>
        <p:nvSpPr>
          <p:cNvPr id="16" name="Shape 10"/>
          <p:cNvSpPr/>
          <p:nvPr/>
        </p:nvSpPr>
        <p:spPr>
          <a:xfrm>
            <a:off x="4707731" y="1230511"/>
            <a:ext cx="3793331" cy="2241352"/>
          </a:xfrm>
          <a:prstGeom prst="rect">
            <a:avLst/>
          </a:prstGeom>
          <a:solidFill>
            <a:srgbClr val="1E293B">
              <a:alpha val="50000"/>
            </a:srgbClr>
          </a:solidFill>
          <a:ln w="9144">
            <a:solidFill>
              <a:srgbClr val="10B981"/>
            </a:solidFill>
            <a:prstDash val="solid"/>
          </a:ln>
        </p:spPr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29188" y="1476077"/>
            <a:ext cx="192881" cy="17145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5229225" y="1444823"/>
            <a:ext cx="1731997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69" dirty="0">
                <a:solidFill>
                  <a:srgbClr val="10B981"/>
                </a:solidFill>
              </a:rPr>
              <a:t>Helyi Vezérlés Előnyei</a:t>
            </a:r>
            <a:endParaRPr lang="en-US" sz="1269" dirty="0"/>
          </a:p>
        </p:txBody>
      </p:sp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29188" y="1957388"/>
            <a:ext cx="107156" cy="142875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5143500" y="1935956"/>
            <a:ext cx="3143250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FFFF"/>
                </a:solidFill>
              </a:rPr>
              <a:t>Azonnali Válaszidő</a:t>
            </a:r>
            <a:endParaRPr lang="en-US" sz="885" dirty="0"/>
          </a:p>
        </p:txBody>
      </p:sp>
      <p:sp>
        <p:nvSpPr>
          <p:cNvPr id="21" name="Text 13"/>
          <p:cNvSpPr/>
          <p:nvPr/>
        </p:nvSpPr>
        <p:spPr>
          <a:xfrm>
            <a:off x="5143500" y="2146697"/>
            <a:ext cx="3143250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80" dirty="0">
                <a:solidFill>
                  <a:srgbClr val="94A3B8"/>
                </a:solidFill>
              </a:rPr>
              <a:t>Nincs késleltetés, mert a parancsok nem járják meg a felhőt. A kapcsolás azonnali.</a:t>
            </a:r>
            <a:endParaRPr lang="en-US" sz="780" dirty="0"/>
          </a:p>
        </p:txBody>
      </p:sp>
      <p:pic>
        <p:nvPicPr>
          <p:cNvPr id="2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29188" y="2611041"/>
            <a:ext cx="142875" cy="142875"/>
          </a:xfrm>
          <a:prstGeom prst="rect">
            <a:avLst/>
          </a:prstGeom>
        </p:spPr>
      </p:pic>
      <p:sp>
        <p:nvSpPr>
          <p:cNvPr id="23" name="Text 14"/>
          <p:cNvSpPr/>
          <p:nvPr/>
        </p:nvSpPr>
        <p:spPr>
          <a:xfrm>
            <a:off x="5179219" y="2589609"/>
            <a:ext cx="3107531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FFFF"/>
                </a:solidFill>
              </a:rPr>
              <a:t>Maximális Biztonság</a:t>
            </a:r>
            <a:endParaRPr lang="en-US" sz="885" dirty="0"/>
          </a:p>
        </p:txBody>
      </p:sp>
      <p:sp>
        <p:nvSpPr>
          <p:cNvPr id="24" name="Text 15"/>
          <p:cNvSpPr/>
          <p:nvPr/>
        </p:nvSpPr>
        <p:spPr>
          <a:xfrm>
            <a:off x="5179219" y="2800350"/>
            <a:ext cx="3107531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80" dirty="0">
                <a:solidFill>
                  <a:srgbClr val="94A3B8"/>
                </a:solidFill>
              </a:rPr>
              <a:t>Minden adat a helyi hálózaton marad. Ön birtokolja az adatait, nem a gyártó.</a:t>
            </a:r>
            <a:endParaRPr lang="en-US" sz="780" dirty="0"/>
          </a:p>
        </p:txBody>
      </p:sp>
      <p:sp>
        <p:nvSpPr>
          <p:cNvPr id="25" name="Shape 16"/>
          <p:cNvSpPr/>
          <p:nvPr/>
        </p:nvSpPr>
        <p:spPr>
          <a:xfrm>
            <a:off x="642938" y="3743325"/>
            <a:ext cx="7858125" cy="1014413"/>
          </a:xfrm>
          <a:prstGeom prst="rect">
            <a:avLst/>
          </a:prstGeom>
          <a:solidFill>
            <a:srgbClr val="F59E0B">
              <a:alpha val="5000"/>
            </a:srgbClr>
          </a:solidFill>
          <a:ln w="18288">
            <a:solidFill>
              <a:srgbClr val="F59E0B"/>
            </a:solidFill>
            <a:prstDash val="solid"/>
          </a:ln>
        </p:spPr>
      </p:sp>
      <p:sp>
        <p:nvSpPr>
          <p:cNvPr id="26" name="Text 17"/>
          <p:cNvSpPr/>
          <p:nvPr/>
        </p:nvSpPr>
        <p:spPr>
          <a:xfrm>
            <a:off x="821531" y="3921919"/>
            <a:ext cx="7500938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FFFFFF"/>
                </a:solidFill>
              </a:rPr>
              <a:t>Miért fontos ez egy technikusnak?</a:t>
            </a:r>
            <a:endParaRPr lang="en-US" sz="1090" dirty="0"/>
          </a:p>
        </p:txBody>
      </p:sp>
      <p:sp>
        <p:nvSpPr>
          <p:cNvPr id="27" name="Text 18"/>
          <p:cNvSpPr/>
          <p:nvPr/>
        </p:nvSpPr>
        <p:spPr>
          <a:xfrm>
            <a:off x="821531" y="4207669"/>
            <a:ext cx="750093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CBD5E1"/>
                </a:solidFill>
              </a:rPr>
              <a:t>A rendszerüzemeltető felelőssége a megbízható és biztonságos infrastruktúra kiépítése. A Home Assistant lehetővé teszi olyan rendszerek tervezését, amelyek külső szolgáltatásoktól függetlenül, évtizedekig stabilan működnek.</a:t>
            </a:r>
            <a:endParaRPr lang="en-US" sz="834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223086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42938" y="428625"/>
            <a:ext cx="7858125" cy="530423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642938" y="944761"/>
            <a:ext cx="7858125" cy="1428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5" name="Text 2"/>
          <p:cNvSpPr/>
          <p:nvPr/>
        </p:nvSpPr>
        <p:spPr>
          <a:xfrm>
            <a:off x="642938" y="428625"/>
            <a:ext cx="3718378" cy="4089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121" b="1" dirty="0">
                <a:solidFill>
                  <a:srgbClr val="FFFFFF"/>
                </a:solidFill>
              </a:rPr>
              <a:t>Összefoglalás és Jövőkép</a:t>
            </a:r>
            <a:endParaRPr lang="en-US" sz="2121" dirty="0"/>
          </a:p>
        </p:txBody>
      </p:sp>
      <p:sp>
        <p:nvSpPr>
          <p:cNvPr id="6" name="Text 3"/>
          <p:cNvSpPr/>
          <p:nvPr/>
        </p:nvSpPr>
        <p:spPr>
          <a:xfrm>
            <a:off x="8304916" y="603647"/>
            <a:ext cx="196146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59E0B"/>
                </a:solidFill>
              </a:rPr>
              <a:t>09</a:t>
            </a:r>
            <a:endParaRPr lang="en-US" sz="1193" dirty="0"/>
          </a:p>
        </p:txBody>
      </p:sp>
      <p:sp>
        <p:nvSpPr>
          <p:cNvPr id="7" name="Shape 4"/>
          <p:cNvSpPr/>
          <p:nvPr/>
        </p:nvSpPr>
        <p:spPr>
          <a:xfrm>
            <a:off x="642938" y="1230511"/>
            <a:ext cx="3821906" cy="901898"/>
          </a:xfrm>
          <a:prstGeom prst="rect">
            <a:avLst/>
          </a:prstGeom>
          <a:solidFill>
            <a:srgbClr val="1E293B">
              <a:alpha val="60000"/>
            </a:srgbClr>
          </a:solidFill>
          <a:ln w="9144">
            <a:solidFill>
              <a:srgbClr val="38BDF8">
                <a:alpha val="30000"/>
              </a:srgbClr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1531" y="1567160"/>
            <a:ext cx="200025" cy="2286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164431" y="1416248"/>
            <a:ext cx="3121819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38BDF8"/>
                </a:solidFill>
              </a:rPr>
              <a:t>Gyártófüggetlenség</a:t>
            </a:r>
            <a:endParaRPr lang="en-US" sz="987" dirty="0"/>
          </a:p>
        </p:txBody>
      </p:sp>
      <p:sp>
        <p:nvSpPr>
          <p:cNvPr id="10" name="Text 6"/>
          <p:cNvSpPr/>
          <p:nvPr/>
        </p:nvSpPr>
        <p:spPr>
          <a:xfrm>
            <a:off x="1164431" y="1646634"/>
            <a:ext cx="3121819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80" dirty="0">
                <a:solidFill>
                  <a:srgbClr val="94A3B8"/>
                </a:solidFill>
              </a:rPr>
              <a:t>Megszünteti a vendor lock-in jelenséget, bármilyen eszközt integrálhat.</a:t>
            </a:r>
            <a:endParaRPr lang="en-US" sz="780" dirty="0"/>
          </a:p>
        </p:txBody>
      </p:sp>
      <p:sp>
        <p:nvSpPr>
          <p:cNvPr id="11" name="Shape 7"/>
          <p:cNvSpPr/>
          <p:nvPr/>
        </p:nvSpPr>
        <p:spPr>
          <a:xfrm>
            <a:off x="4679156" y="1230511"/>
            <a:ext cx="3821906" cy="901898"/>
          </a:xfrm>
          <a:prstGeom prst="rect">
            <a:avLst/>
          </a:prstGeom>
          <a:solidFill>
            <a:srgbClr val="1E293B">
              <a:alpha val="60000"/>
            </a:srgbClr>
          </a:solidFill>
          <a:ln w="9144">
            <a:solidFill>
              <a:srgbClr val="38BDF8">
                <a:alpha val="30000"/>
              </a:srgbClr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7750" y="1560016"/>
            <a:ext cx="228600" cy="22860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5229225" y="1409105"/>
            <a:ext cx="3093244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38BDF8"/>
                </a:solidFill>
              </a:rPr>
              <a:t>Adatbiztonság</a:t>
            </a:r>
            <a:endParaRPr lang="en-US" sz="987" dirty="0"/>
          </a:p>
        </p:txBody>
      </p:sp>
      <p:sp>
        <p:nvSpPr>
          <p:cNvPr id="14" name="Text 9"/>
          <p:cNvSpPr/>
          <p:nvPr/>
        </p:nvSpPr>
        <p:spPr>
          <a:xfrm>
            <a:off x="5229225" y="1639491"/>
            <a:ext cx="3093244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80" dirty="0">
                <a:solidFill>
                  <a:srgbClr val="94A3B8"/>
                </a:solidFill>
              </a:rPr>
              <a:t>A helyi vezérlés garantálja a magánélet védelmét és a rendszer stabilitását.</a:t>
            </a:r>
            <a:endParaRPr lang="en-US" sz="780" dirty="0"/>
          </a:p>
        </p:txBody>
      </p:sp>
      <p:sp>
        <p:nvSpPr>
          <p:cNvPr id="15" name="Shape 10"/>
          <p:cNvSpPr/>
          <p:nvPr/>
        </p:nvSpPr>
        <p:spPr>
          <a:xfrm>
            <a:off x="642938" y="2332434"/>
            <a:ext cx="3821906" cy="901898"/>
          </a:xfrm>
          <a:prstGeom prst="rect">
            <a:avLst/>
          </a:prstGeom>
          <a:solidFill>
            <a:srgbClr val="1E293B">
              <a:alpha val="60000"/>
            </a:srgbClr>
          </a:solidFill>
          <a:ln w="9144">
            <a:solidFill>
              <a:srgbClr val="38BDF8">
                <a:alpha val="30000"/>
              </a:srgbClr>
            </a:solidFill>
            <a:prstDash val="solid"/>
          </a:ln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1531" y="2669084"/>
            <a:ext cx="257175" cy="22860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221581" y="2518172"/>
            <a:ext cx="3064669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38BDF8"/>
                </a:solidFill>
              </a:rPr>
              <a:t>Skálázhatóság</a:t>
            </a:r>
            <a:endParaRPr lang="en-US" sz="987" dirty="0"/>
          </a:p>
        </p:txBody>
      </p:sp>
      <p:sp>
        <p:nvSpPr>
          <p:cNvPr id="18" name="Text 12"/>
          <p:cNvSpPr/>
          <p:nvPr/>
        </p:nvSpPr>
        <p:spPr>
          <a:xfrm>
            <a:off x="1221581" y="2748558"/>
            <a:ext cx="3064669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80" dirty="0">
                <a:solidFill>
                  <a:srgbClr val="94A3B8"/>
                </a:solidFill>
              </a:rPr>
              <a:t>Egyetlen lámpától a teljes épületautomatizálásig rugalmasan bővíthető.</a:t>
            </a:r>
            <a:endParaRPr lang="en-US" sz="780" dirty="0"/>
          </a:p>
        </p:txBody>
      </p:sp>
      <p:sp>
        <p:nvSpPr>
          <p:cNvPr id="19" name="Shape 13"/>
          <p:cNvSpPr/>
          <p:nvPr/>
        </p:nvSpPr>
        <p:spPr>
          <a:xfrm>
            <a:off x="4679156" y="2332434"/>
            <a:ext cx="3821906" cy="901898"/>
          </a:xfrm>
          <a:prstGeom prst="rect">
            <a:avLst/>
          </a:prstGeom>
          <a:solidFill>
            <a:srgbClr val="1E293B">
              <a:alpha val="60000"/>
            </a:srgbClr>
          </a:solidFill>
          <a:ln w="9144">
            <a:solidFill>
              <a:srgbClr val="38BDF8">
                <a:alpha val="30000"/>
              </a:srgbClr>
            </a:solidFill>
            <a:prstDash val="solid"/>
          </a:ln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57750" y="2661940"/>
            <a:ext cx="285750" cy="22860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5286375" y="2511028"/>
            <a:ext cx="3036094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38BDF8"/>
                </a:solidFill>
              </a:rPr>
              <a:t>Hatalmas Közösség</a:t>
            </a:r>
            <a:endParaRPr lang="en-US" sz="987" dirty="0"/>
          </a:p>
        </p:txBody>
      </p:sp>
      <p:sp>
        <p:nvSpPr>
          <p:cNvPr id="22" name="Text 15"/>
          <p:cNvSpPr/>
          <p:nvPr/>
        </p:nvSpPr>
        <p:spPr>
          <a:xfrm>
            <a:off x="5286375" y="2741414"/>
            <a:ext cx="3036094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80" dirty="0">
                <a:solidFill>
                  <a:srgbClr val="94A3B8"/>
                </a:solidFill>
              </a:rPr>
              <a:t>Folyamatos frissítések és támogatás a világ legnagyobb IoT közösségétől.</a:t>
            </a:r>
            <a:endParaRPr lang="en-US" sz="780" dirty="0"/>
          </a:p>
        </p:txBody>
      </p:sp>
      <p:sp>
        <p:nvSpPr>
          <p:cNvPr id="23" name="Shape 16"/>
          <p:cNvSpPr/>
          <p:nvPr/>
        </p:nvSpPr>
        <p:spPr>
          <a:xfrm>
            <a:off x="642938" y="3434358"/>
            <a:ext cx="7858125" cy="1415467"/>
          </a:xfrm>
          <a:prstGeom prst="rect">
            <a:avLst/>
          </a:prstGeom>
          <a:solidFill>
            <a:srgbClr val="F59E0B">
              <a:alpha val="5000"/>
            </a:srgbClr>
          </a:solidFill>
          <a:ln w="18288">
            <a:solidFill>
              <a:srgbClr val="F59E0B"/>
            </a:solidFill>
            <a:prstDash val="solid"/>
          </a:ln>
        </p:spPr>
      </p:sp>
      <p:sp>
        <p:nvSpPr>
          <p:cNvPr id="24" name="Text 17"/>
          <p:cNvSpPr/>
          <p:nvPr/>
        </p:nvSpPr>
        <p:spPr>
          <a:xfrm>
            <a:off x="857250" y="3648670"/>
            <a:ext cx="7429500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93" b="1" spc="2" kern="0" dirty="0">
                <a:solidFill>
                  <a:srgbClr val="FFFFFF"/>
                </a:solidFill>
              </a:rPr>
              <a:t>A Jövő Okosotthona</a:t>
            </a:r>
            <a:endParaRPr lang="en-US" sz="1193" dirty="0"/>
          </a:p>
        </p:txBody>
      </p:sp>
      <p:sp>
        <p:nvSpPr>
          <p:cNvPr id="25" name="Text 18"/>
          <p:cNvSpPr/>
          <p:nvPr/>
        </p:nvSpPr>
        <p:spPr>
          <a:xfrm>
            <a:off x="1357313" y="3989784"/>
            <a:ext cx="6429375" cy="617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CBD5E1"/>
                </a:solidFill>
              </a:rPr>
              <a:t>A Home Assistant nem csupán egy szoftver, hanem egy szabvány a professzionális épületautomatizálásban. Rendszerüzemeltetőként a HA ismerete képessé teszi Önt arra, hogy fenntartható, biztonságos és valóban intelligens környezeteket hozzon létre.</a:t>
            </a:r>
            <a:endParaRPr lang="en-US" sz="942" dirty="0"/>
          </a:p>
        </p:txBody>
      </p:sp>
      <p:sp>
        <p:nvSpPr>
          <p:cNvPr id="26" name="Text 19"/>
          <p:cNvSpPr/>
          <p:nvPr/>
        </p:nvSpPr>
        <p:spPr>
          <a:xfrm>
            <a:off x="1979823" y="5035562"/>
            <a:ext cx="5184325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spc="2" kern="0" dirty="0">
                <a:solidFill>
                  <a:srgbClr val="64748B"/>
                </a:solidFill>
              </a:rPr>
              <a:t>System Architecture: Verified // Local Control: Active // Privacy: Guaranteed</a:t>
            </a:r>
            <a:endParaRPr lang="en-US" sz="621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2026-01-09T18:12:42Z</dcterms:created>
  <dcterms:modified xsi:type="dcterms:W3CDTF">2026-01-09T18:12:42Z</dcterms:modified>
</cp:coreProperties>
</file>