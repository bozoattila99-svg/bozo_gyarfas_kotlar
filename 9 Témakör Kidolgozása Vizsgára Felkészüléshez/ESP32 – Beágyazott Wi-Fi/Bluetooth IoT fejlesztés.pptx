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51267" y="749201"/>
            <a:ext cx="5841439" cy="3645098"/>
          </a:xfrm>
          <a:prstGeom prst="rect">
            <a:avLst/>
          </a:prstGeom>
          <a:solidFill>
            <a:srgbClr val="0F172A">
              <a:alpha val="80000"/>
            </a:srgbClr>
          </a:solidFill>
          <a:ln w="18288">
            <a:solidFill>
              <a:srgbClr val="22D3EE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22" y="1302841"/>
            <a:ext cx="571500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79929" y="2185095"/>
            <a:ext cx="4384114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2" kern="0" dirty="0">
                <a:solidFill>
                  <a:srgbClr val="FFFFFF"/>
                </a:solidFill>
              </a:rPr>
              <a:t>ESP32</a:t>
            </a:r>
            <a:endParaRPr lang="en-US" sz="3731" dirty="0"/>
          </a:p>
        </p:txBody>
      </p:sp>
      <p:sp>
        <p:nvSpPr>
          <p:cNvPr id="6" name="Text 2"/>
          <p:cNvSpPr/>
          <p:nvPr/>
        </p:nvSpPr>
        <p:spPr>
          <a:xfrm>
            <a:off x="2379929" y="3028057"/>
            <a:ext cx="438411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22D3EE"/>
                </a:solidFill>
              </a:rPr>
              <a:t>Beágyazott Wi-Fi/Bluetooth IoT fejlesztés</a:t>
            </a:r>
            <a:endParaRPr lang="en-US" sz="1704" dirty="0"/>
          </a:p>
        </p:txBody>
      </p:sp>
      <p:sp>
        <p:nvSpPr>
          <p:cNvPr id="7" name="Text 3"/>
          <p:cNvSpPr/>
          <p:nvPr/>
        </p:nvSpPr>
        <p:spPr>
          <a:xfrm>
            <a:off x="2379929" y="3626346"/>
            <a:ext cx="4384114" cy="32504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18CF8"/>
                </a:solidFill>
              </a:rPr>
              <a:t>&gt; SYSTEM_ADMIN_EXAM_PREP // TOPIC_03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51494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Az IoT Svájci Bicskája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02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5844" y="1230511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Beépített Wi-Fi &amp; BT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035844" y="1535906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Nincs szükség külső modulokra, minden egyetlen chipben található.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45971"/>
            <a:ext cx="150019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5831" y="2110253"/>
            <a:ext cx="39933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Nagy Teljesítmény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935831" y="2415648"/>
            <a:ext cx="39933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Dual-core processzor akár 240 MHz órajellel komplex feladatokhoz.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25713"/>
            <a:ext cx="225028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0841" y="2989994"/>
            <a:ext cx="39183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Alacsony Fogyasztás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1010841" y="3295390"/>
            <a:ext cx="39183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Fejlett energiagazdálkodás, ideális akkumulátoros IoT eszközökhöz.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643563" y="1230511"/>
            <a:ext cx="2857500" cy="2857500"/>
          </a:xfrm>
          <a:prstGeom prst="rect">
            <a:avLst/>
          </a:prstGeom>
          <a:solidFill>
            <a:srgbClr val="818CF8">
              <a:alpha val="5000"/>
            </a:srgbClr>
          </a:solidFill>
          <a:ln w="18288">
            <a:solidFill>
              <a:srgbClr val="818CF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179344" y="1626989"/>
            <a:ext cx="1785938" cy="1785938"/>
          </a:xfrm>
          <a:prstGeom prst="rect">
            <a:avLst/>
          </a:prstGeom>
          <a:solidFill>
            <a:srgbClr val="22D3EE">
              <a:alpha val="10000"/>
            </a:srgbClr>
          </a:solidFill>
          <a:ln w="18288">
            <a:solidFill>
              <a:srgbClr val="22D3E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250781" y="1698427"/>
            <a:ext cx="785813" cy="785813"/>
          </a:xfrm>
          <a:prstGeom prst="rect">
            <a:avLst/>
          </a:prstGeom>
          <a:solidFill>
            <a:srgbClr val="0F172A"/>
          </a:solidFill>
          <a:ln w="9144">
            <a:solidFill>
              <a:srgbClr val="22D3E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358579" y="2033290"/>
            <a:ext cx="1687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CPU</a:t>
            </a:r>
            <a:endParaRPr lang="en-US" sz="621" dirty="0"/>
          </a:p>
        </p:txBody>
      </p:sp>
      <p:sp>
        <p:nvSpPr>
          <p:cNvPr id="20" name="Text 14"/>
          <p:cNvSpPr/>
          <p:nvPr/>
        </p:nvSpPr>
        <p:spPr>
          <a:xfrm>
            <a:off x="6527295" y="2033290"/>
            <a:ext cx="4014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Dual-Core</a:t>
            </a:r>
            <a:endParaRPr lang="en-US" sz="621" dirty="0"/>
          </a:p>
        </p:txBody>
      </p:sp>
      <p:sp>
        <p:nvSpPr>
          <p:cNvPr id="21" name="Shape 15"/>
          <p:cNvSpPr/>
          <p:nvPr/>
        </p:nvSpPr>
        <p:spPr>
          <a:xfrm>
            <a:off x="7108031" y="1698427"/>
            <a:ext cx="785813" cy="785813"/>
          </a:xfrm>
          <a:prstGeom prst="rect">
            <a:avLst/>
          </a:prstGeom>
          <a:solidFill>
            <a:srgbClr val="0F172A"/>
          </a:solidFill>
          <a:ln w="9144">
            <a:solidFill>
              <a:srgbClr val="22D3E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146568" y="2033290"/>
            <a:ext cx="1960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Wi-Fi</a:t>
            </a:r>
            <a:endParaRPr lang="en-US" sz="621" dirty="0"/>
          </a:p>
        </p:txBody>
      </p:sp>
      <p:sp>
        <p:nvSpPr>
          <p:cNvPr id="23" name="Text 17"/>
          <p:cNvSpPr/>
          <p:nvPr/>
        </p:nvSpPr>
        <p:spPr>
          <a:xfrm>
            <a:off x="7342631" y="2033290"/>
            <a:ext cx="5126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802.11 b/g/n</a:t>
            </a:r>
            <a:endParaRPr lang="en-US" sz="621" dirty="0"/>
          </a:p>
        </p:txBody>
      </p:sp>
      <p:sp>
        <p:nvSpPr>
          <p:cNvPr id="24" name="Shape 18"/>
          <p:cNvSpPr/>
          <p:nvPr/>
        </p:nvSpPr>
        <p:spPr>
          <a:xfrm>
            <a:off x="6250781" y="2555677"/>
            <a:ext cx="785813" cy="785813"/>
          </a:xfrm>
          <a:prstGeom prst="rect">
            <a:avLst/>
          </a:prstGeom>
          <a:solidFill>
            <a:srgbClr val="0F172A"/>
          </a:solidFill>
          <a:ln w="9144">
            <a:solidFill>
              <a:srgbClr val="22D3E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250781" y="2890540"/>
            <a:ext cx="3977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Bluetooth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6648571" y="2832497"/>
            <a:ext cx="38802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BLE &amp; Classic</a:t>
            </a:r>
            <a:endParaRPr lang="en-US" sz="621" dirty="0"/>
          </a:p>
        </p:txBody>
      </p:sp>
      <p:sp>
        <p:nvSpPr>
          <p:cNvPr id="27" name="Shape 21"/>
          <p:cNvSpPr/>
          <p:nvPr/>
        </p:nvSpPr>
        <p:spPr>
          <a:xfrm>
            <a:off x="7108031" y="2555677"/>
            <a:ext cx="785813" cy="785813"/>
          </a:xfrm>
          <a:prstGeom prst="rect">
            <a:avLst/>
          </a:prstGeom>
          <a:solidFill>
            <a:srgbClr val="0F172A"/>
          </a:solidFill>
          <a:ln w="9144">
            <a:solidFill>
              <a:srgbClr val="22D3E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245381" y="2890540"/>
            <a:ext cx="2329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SRAM</a:t>
            </a:r>
            <a:endParaRPr lang="en-US" sz="621" dirty="0"/>
          </a:p>
        </p:txBody>
      </p:sp>
      <p:sp>
        <p:nvSpPr>
          <p:cNvPr id="29" name="Text 23"/>
          <p:cNvSpPr/>
          <p:nvPr/>
        </p:nvSpPr>
        <p:spPr>
          <a:xfrm>
            <a:off x="7478306" y="2890540"/>
            <a:ext cx="278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520 KB</a:t>
            </a:r>
            <a:endParaRPr lang="en-US" sz="621" dirty="0"/>
          </a:p>
        </p:txBody>
      </p:sp>
      <p:sp>
        <p:nvSpPr>
          <p:cNvPr id="30" name="Text 24"/>
          <p:cNvSpPr/>
          <p:nvPr/>
        </p:nvSpPr>
        <p:spPr>
          <a:xfrm>
            <a:off x="6525230" y="3555802"/>
            <a:ext cx="10941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2D3EE"/>
                </a:solidFill>
              </a:rPr>
              <a:t>ESP32 SoC Architektúra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98121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Technikai Specifikációk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03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862858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5856" y="1444823"/>
            <a:ext cx="19046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Processzor &amp; Memória</a:t>
            </a:r>
            <a:endParaRPr lang="en-US" sz="119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56" y="1978819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8719" y="1935956"/>
            <a:ext cx="1780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CPU</a:t>
            </a:r>
            <a:endParaRPr lang="en-US" sz="683" dirty="0"/>
          </a:p>
        </p:txBody>
      </p:sp>
      <p:sp>
        <p:nvSpPr>
          <p:cNvPr id="12" name="Text 7"/>
          <p:cNvSpPr/>
          <p:nvPr/>
        </p:nvSpPr>
        <p:spPr>
          <a:xfrm>
            <a:off x="1178719" y="2100263"/>
            <a:ext cx="17804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Xtensa® Dual-Core 32-bit LX6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3" y="2461022"/>
            <a:ext cx="128588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8719" y="2418159"/>
            <a:ext cx="8359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ÓRAJEL</a:t>
            </a:r>
            <a:endParaRPr lang="en-US" sz="683" dirty="0"/>
          </a:p>
        </p:txBody>
      </p:sp>
      <p:sp>
        <p:nvSpPr>
          <p:cNvPr id="15" name="Text 9"/>
          <p:cNvSpPr/>
          <p:nvPr/>
        </p:nvSpPr>
        <p:spPr>
          <a:xfrm>
            <a:off x="1178719" y="2582466"/>
            <a:ext cx="8359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Akár 240 MHz</a:t>
            </a:r>
            <a:endParaRPr lang="en-US" sz="942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3" y="2943225"/>
            <a:ext cx="128588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8719" y="2900363"/>
            <a:ext cx="13575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SRAM</a:t>
            </a:r>
            <a:endParaRPr lang="en-US" sz="683" dirty="0"/>
          </a:p>
        </p:txBody>
      </p:sp>
      <p:sp>
        <p:nvSpPr>
          <p:cNvPr id="18" name="Text 11"/>
          <p:cNvSpPr/>
          <p:nvPr/>
        </p:nvSpPr>
        <p:spPr>
          <a:xfrm>
            <a:off x="1178719" y="3064669"/>
            <a:ext cx="13575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520 KB belső memória</a:t>
            </a:r>
            <a:endParaRPr lang="en-US" sz="942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" y="3425428"/>
            <a:ext cx="114300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78719" y="3382566"/>
            <a:ext cx="16112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FLASH</a:t>
            </a:r>
            <a:endParaRPr lang="en-US" sz="683" dirty="0"/>
          </a:p>
        </p:txBody>
      </p:sp>
      <p:sp>
        <p:nvSpPr>
          <p:cNvPr id="21" name="Text 13"/>
          <p:cNvSpPr/>
          <p:nvPr/>
        </p:nvSpPr>
        <p:spPr>
          <a:xfrm>
            <a:off x="1178719" y="3546872"/>
            <a:ext cx="16112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Általában 4 MB külső Flash</a:t>
            </a:r>
            <a:endParaRPr lang="en-US" sz="942" dirty="0"/>
          </a:p>
        </p:txBody>
      </p:sp>
      <p:sp>
        <p:nvSpPr>
          <p:cNvPr id="22" name="Shape 14"/>
          <p:cNvSpPr/>
          <p:nvPr/>
        </p:nvSpPr>
        <p:spPr>
          <a:xfrm>
            <a:off x="4714875" y="1230511"/>
            <a:ext cx="3786188" cy="2862858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476077"/>
            <a:ext cx="128588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64931" y="1444823"/>
            <a:ext cx="13385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Perifériák &amp; I/O</a:t>
            </a:r>
            <a:endParaRPr lang="en-US" sz="1193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6338" y="1978819"/>
            <a:ext cx="100013" cy="1143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50656" y="1935956"/>
            <a:ext cx="1708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GPIO</a:t>
            </a:r>
            <a:endParaRPr lang="en-US" sz="683" dirty="0"/>
          </a:p>
        </p:txBody>
      </p:sp>
      <p:sp>
        <p:nvSpPr>
          <p:cNvPr id="27" name="Text 17"/>
          <p:cNvSpPr/>
          <p:nvPr/>
        </p:nvSpPr>
        <p:spPr>
          <a:xfrm>
            <a:off x="5250656" y="2100263"/>
            <a:ext cx="17080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34 programozható kivezetés</a:t>
            </a:r>
            <a:endParaRPr lang="en-US" sz="942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4906" y="2461022"/>
            <a:ext cx="142875" cy="1143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50656" y="2418159"/>
            <a:ext cx="22189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ADC / DAC</a:t>
            </a:r>
            <a:endParaRPr lang="en-US" sz="683" dirty="0"/>
          </a:p>
        </p:txBody>
      </p:sp>
      <p:sp>
        <p:nvSpPr>
          <p:cNvPr id="30" name="Text 19"/>
          <p:cNvSpPr/>
          <p:nvPr/>
        </p:nvSpPr>
        <p:spPr>
          <a:xfrm>
            <a:off x="5250656" y="2582466"/>
            <a:ext cx="22189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18 csat. 12-bit ADC / 2 csat. 8-bit DAC</a:t>
            </a:r>
            <a:endParaRPr lang="en-US" sz="942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4906" y="2943225"/>
            <a:ext cx="142875" cy="1143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250656" y="2900363"/>
            <a:ext cx="19304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INTERFÉSZEK</a:t>
            </a:r>
            <a:endParaRPr lang="en-US" sz="683" dirty="0"/>
          </a:p>
        </p:txBody>
      </p:sp>
      <p:sp>
        <p:nvSpPr>
          <p:cNvPr id="33" name="Text 21"/>
          <p:cNvSpPr/>
          <p:nvPr/>
        </p:nvSpPr>
        <p:spPr>
          <a:xfrm>
            <a:off x="5250656" y="3064669"/>
            <a:ext cx="19304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3× UART, 3× SPI, 2× I2C, CAN 2.0</a:t>
            </a:r>
            <a:endParaRPr lang="en-US" sz="942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9194" y="3425428"/>
            <a:ext cx="114300" cy="11430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250656" y="3382566"/>
            <a:ext cx="24172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18CF8"/>
                </a:solidFill>
              </a:rPr>
              <a:t>SZENZOROK</a:t>
            </a:r>
            <a:endParaRPr lang="en-US" sz="683" dirty="0"/>
          </a:p>
        </p:txBody>
      </p:sp>
      <p:sp>
        <p:nvSpPr>
          <p:cNvPr id="36" name="Text 23"/>
          <p:cNvSpPr/>
          <p:nvPr/>
        </p:nvSpPr>
        <p:spPr>
          <a:xfrm>
            <a:off x="5250656" y="3546872"/>
            <a:ext cx="24172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Beépített érintésérzékelő &amp; Hall-szenzor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86213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Alacsony Energiafogyasztás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04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5452104" cy="2300288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509" y="1234083"/>
            <a:ext cx="1189295" cy="382191"/>
          </a:xfrm>
          <a:prstGeom prst="rect">
            <a:avLst/>
          </a:prstGeom>
          <a:solidFill>
            <a:srgbClr val="22D3EE">
              <a:alpha val="1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509" y="1234083"/>
            <a:ext cx="1189295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D3EE"/>
                </a:solidFill>
              </a:rPr>
              <a:t>Üzemmód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1835804" y="1234083"/>
            <a:ext cx="2995826" cy="382191"/>
          </a:xfrm>
          <a:prstGeom prst="rect">
            <a:avLst/>
          </a:prstGeom>
          <a:solidFill>
            <a:srgbClr val="22D3EE">
              <a:alpha val="1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35804" y="1234083"/>
            <a:ext cx="2995826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D3EE"/>
                </a:solidFill>
              </a:rPr>
              <a:t>Leírás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831631" y="1234083"/>
            <a:ext cx="1259839" cy="382191"/>
          </a:xfrm>
          <a:prstGeom prst="rect">
            <a:avLst/>
          </a:prstGeom>
          <a:solidFill>
            <a:srgbClr val="22D3EE">
              <a:alpha val="10000"/>
            </a:srgbClr>
          </a:solidFill>
          <a:ln w="9144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31631" y="1234083"/>
            <a:ext cx="1259839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D3EE"/>
                </a:solidFill>
              </a:rPr>
              <a:t>Fogyasztás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46509" y="1609130"/>
            <a:ext cx="1189295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Aktív (Active)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835804" y="1609130"/>
            <a:ext cx="2995826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CPU és Wi-Fi/BT folyamatosan működik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831631" y="1609130"/>
            <a:ext cx="1259839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160 - 260 mA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46509" y="1991320"/>
            <a:ext cx="1189295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Modem-sleep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1835804" y="1991320"/>
            <a:ext cx="2995826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CPU aktív, Wi-Fi/BT kikapcsolva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831631" y="1991320"/>
            <a:ext cx="1259839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20 - 68 mA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646509" y="2373511"/>
            <a:ext cx="1189295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Light-sleep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835804" y="2373511"/>
            <a:ext cx="2995826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CPU felfüggesztve, RAM megőrizve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831631" y="2373511"/>
            <a:ext cx="1259839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~0.8 mA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46509" y="2755702"/>
            <a:ext cx="1189295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Deep-sleep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1835804" y="2755702"/>
            <a:ext cx="2995826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Csak az RTC és ULP processzor aktív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831631" y="2755702"/>
            <a:ext cx="1259839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~10 μA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46509" y="3137892"/>
            <a:ext cx="1189295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Hibernation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1835804" y="3137892"/>
            <a:ext cx="2995826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Minden kikapcsolva, kivéve 1 RTC időzítőt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831631" y="3137892"/>
            <a:ext cx="1259839" cy="38219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~5 μA</a:t>
            </a:r>
            <a:endParaRPr lang="en-US" sz="942" dirty="0"/>
          </a:p>
        </p:txBody>
      </p:sp>
      <p:sp>
        <p:nvSpPr>
          <p:cNvPr id="29" name="Shape 26"/>
          <p:cNvSpPr/>
          <p:nvPr/>
        </p:nvSpPr>
        <p:spPr>
          <a:xfrm>
            <a:off x="6380792" y="1230511"/>
            <a:ext cx="2120271" cy="2925142"/>
          </a:xfrm>
          <a:prstGeom prst="rect">
            <a:avLst/>
          </a:prstGeom>
          <a:solidFill>
            <a:srgbClr val="22D3EE">
              <a:alpha val="5000"/>
            </a:srgbClr>
          </a:solidFill>
          <a:ln w="18288">
            <a:solidFill>
              <a:srgbClr val="22D3EE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667" y="1521619"/>
            <a:ext cx="192881" cy="1714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802273" y="1373386"/>
            <a:ext cx="155591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Akkumulátoros Működés</a:t>
            </a:r>
            <a:endParaRPr lang="en-US" sz="1193" dirty="0"/>
          </a:p>
        </p:txBody>
      </p:sp>
      <p:sp>
        <p:nvSpPr>
          <p:cNvPr id="32" name="Text 28"/>
          <p:cNvSpPr/>
          <p:nvPr/>
        </p:nvSpPr>
        <p:spPr>
          <a:xfrm>
            <a:off x="6523667" y="1927027"/>
            <a:ext cx="1834521" cy="205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Deep-sleep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 mód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használatával egy ESP32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alapú szenzor, amely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óránként egyszer küld adatot,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akár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hónapokig vagy évekig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 is működhet egyetlen Li-ion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akkumulátorról vagy elemről.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Ez teszi alkalmassá távoli,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nehezen hozzáférhető IoT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telepítésekhez.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96172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Wi-Fi és Bluetooth Képességek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05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4338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02596" y="1301948"/>
            <a:ext cx="547948" cy="14108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2D3EE"/>
                </a:solidFill>
              </a:rPr>
              <a:t>802.11 b/g/n</a:t>
            </a:r>
            <a:endParaRPr lang="en-US" sz="516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81435"/>
            <a:ext cx="250031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4438" y="1444823"/>
            <a:ext cx="134277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22D3EE"/>
                </a:solidFill>
              </a:rPr>
              <a:t>Wi-Fi Funkciók</a:t>
            </a:r>
            <a:endParaRPr lang="en-US" sz="1486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09" y="2037755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8719" y="1975247"/>
            <a:ext cx="2338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18CF8"/>
                </a:solidFill>
              </a:rPr>
              <a:t>STATION (STA)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1178719" y="2159198"/>
            <a:ext cx="233893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Csatlakozás meglévő hálózathoz kliensként.</a:t>
            </a:r>
            <a:endParaRPr lang="en-US" sz="83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39" y="2524590"/>
            <a:ext cx="160734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8719" y="2462082"/>
            <a:ext cx="26214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18CF8"/>
                </a:solidFill>
              </a:rPr>
              <a:t>ACCESS POINT (AP)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1178719" y="2646034"/>
            <a:ext cx="262147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Saját Wi-Fi hálózat létrehozása más eszközöknek.</a:t>
            </a:r>
            <a:endParaRPr lang="en-US" sz="83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9" y="3011425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8719" y="2948918"/>
            <a:ext cx="23480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18CF8"/>
                </a:solidFill>
              </a:rPr>
              <a:t>BIZTONSÁG</a:t>
            </a:r>
            <a:endParaRPr lang="en-US" sz="784" dirty="0"/>
          </a:p>
        </p:txBody>
      </p:sp>
      <p:sp>
        <p:nvSpPr>
          <p:cNvPr id="19" name="Text 12"/>
          <p:cNvSpPr/>
          <p:nvPr/>
        </p:nvSpPr>
        <p:spPr>
          <a:xfrm>
            <a:off x="1178719" y="3132869"/>
            <a:ext cx="234806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WPA, WPA2, WPA3 és Enterprise támogatás.</a:t>
            </a:r>
            <a:endParaRPr lang="en-US" sz="834" dirty="0"/>
          </a:p>
        </p:txBody>
      </p:sp>
      <p:sp>
        <p:nvSpPr>
          <p:cNvPr id="20" name="Shape 13"/>
          <p:cNvSpPr/>
          <p:nvPr/>
        </p:nvSpPr>
        <p:spPr>
          <a:xfrm>
            <a:off x="4707731" y="1230511"/>
            <a:ext cx="3793331" cy="24338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807114" y="1301948"/>
            <a:ext cx="622511" cy="14108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2D3EE"/>
                </a:solidFill>
              </a:rPr>
              <a:t>Dual Mode BT</a:t>
            </a:r>
            <a:endParaRPr lang="en-US" sz="516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81435"/>
            <a:ext cx="125016" cy="2000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61359" y="1444823"/>
            <a:ext cx="163340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22D3EE"/>
                </a:solidFill>
              </a:rPr>
              <a:t>Bluetooth Módok</a:t>
            </a:r>
            <a:endParaRPr lang="en-US" sz="1486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2037755"/>
            <a:ext cx="142875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50656" y="1975247"/>
            <a:ext cx="28468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18CF8"/>
                </a:solidFill>
              </a:rPr>
              <a:t>CLASSIC BLUETOOTH</a:t>
            </a:r>
            <a:endParaRPr lang="en-US" sz="784" dirty="0"/>
          </a:p>
        </p:txBody>
      </p:sp>
      <p:sp>
        <p:nvSpPr>
          <p:cNvPr id="26" name="Text 17"/>
          <p:cNvSpPr/>
          <p:nvPr/>
        </p:nvSpPr>
        <p:spPr>
          <a:xfrm>
            <a:off x="5250656" y="2159198"/>
            <a:ext cx="284686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Hagyományos adatátvitel és audio streaming (A2DP).</a:t>
            </a:r>
            <a:endParaRPr lang="en-US" sz="834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906" y="2524590"/>
            <a:ext cx="142875" cy="14287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50656" y="2462082"/>
            <a:ext cx="22663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18CF8"/>
                </a:solidFill>
              </a:rPr>
              <a:t>BLUETOOTH LOW ENERGY</a:t>
            </a:r>
            <a:endParaRPr lang="en-US" sz="784" dirty="0"/>
          </a:p>
        </p:txBody>
      </p:sp>
      <p:sp>
        <p:nvSpPr>
          <p:cNvPr id="29" name="Text 19"/>
          <p:cNvSpPr/>
          <p:nvPr/>
        </p:nvSpPr>
        <p:spPr>
          <a:xfrm>
            <a:off x="5250656" y="2646034"/>
            <a:ext cx="226635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Rendkívül alacsony fogyasztású BLE (v4.2).</a:t>
            </a:r>
            <a:endParaRPr lang="en-US" sz="834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2766" y="3011425"/>
            <a:ext cx="107156" cy="14287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250656" y="2948918"/>
            <a:ext cx="27691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18CF8"/>
                </a:solidFill>
              </a:rPr>
              <a:t>BEACON / GATT</a:t>
            </a:r>
            <a:endParaRPr lang="en-US" sz="784" dirty="0"/>
          </a:p>
        </p:txBody>
      </p:sp>
      <p:sp>
        <p:nvSpPr>
          <p:cNvPr id="32" name="Text 21"/>
          <p:cNvSpPr/>
          <p:nvPr/>
        </p:nvSpPr>
        <p:spPr>
          <a:xfrm>
            <a:off x="5250656" y="3132869"/>
            <a:ext cx="276915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Közelségérzékelés és okostelefonos kommunikáció.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60852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MQTT az ESP32-n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06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814388" y="1230511"/>
            <a:ext cx="28289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Miért MQTT?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814388" y="1535906"/>
            <a:ext cx="28289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Pehelysúlyú protokoll, amely minimális sávszélességet és energiát igényel. Tökéletes az ESP32 korlátozott erőforrásaihoz.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814388" y="2328863"/>
            <a:ext cx="28289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Pub/Sub Modell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814388" y="2634258"/>
            <a:ext cx="28289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Az eszközök nem közvetlenül beszélnek, hanem "témákra" (topics) küldenek adatot vagy iratkoznak fel rájuk.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814388" y="3427214"/>
            <a:ext cx="28289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Kétirányú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814388" y="3732609"/>
            <a:ext cx="28289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Az ESP32 egyszerre tud adatot küldeni (pl. hőmérséklet) és parancsokat fogadni (pl. relé kapcsolás).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929063" y="1230511"/>
            <a:ext cx="4572000" cy="3214688"/>
          </a:xfrm>
          <a:prstGeom prst="rect">
            <a:avLst/>
          </a:prstGeom>
          <a:solidFill>
            <a:srgbClr val="818CF8">
              <a:alpha val="2000"/>
            </a:srgbClr>
          </a:solidFill>
          <a:ln w="9144">
            <a:solidFill>
              <a:srgbClr val="818CF8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4214813" y="2480667"/>
            <a:ext cx="1000125" cy="714375"/>
          </a:xfrm>
          <a:prstGeom prst="rect">
            <a:avLst/>
          </a:prstGeom>
          <a:solidFill>
            <a:srgbClr val="0F172A"/>
          </a:solidFill>
          <a:ln w="18288">
            <a:solidFill>
              <a:srgbClr val="818CF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75" y="2636937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7915" y="2922687"/>
            <a:ext cx="55389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ESP32 Kliens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5715000" y="2409230"/>
            <a:ext cx="1143000" cy="857250"/>
          </a:xfrm>
          <a:prstGeom prst="rect">
            <a:avLst/>
          </a:prstGeom>
          <a:solidFill>
            <a:srgbClr val="0F172A"/>
          </a:solidFill>
          <a:ln w="18288">
            <a:solidFill>
              <a:srgbClr val="22D3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57889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33387" y="2864644"/>
            <a:ext cx="70622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MQTT Broker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(pl. Mosquitto)</a:t>
            </a:r>
            <a:endParaRPr lang="en-US" sz="621" dirty="0"/>
          </a:p>
        </p:txBody>
      </p:sp>
      <p:sp>
        <p:nvSpPr>
          <p:cNvPr id="20" name="Shape 15"/>
          <p:cNvSpPr/>
          <p:nvPr/>
        </p:nvSpPr>
        <p:spPr>
          <a:xfrm>
            <a:off x="7215188" y="2480667"/>
            <a:ext cx="1000125" cy="714375"/>
          </a:xfrm>
          <a:prstGeom prst="rect">
            <a:avLst/>
          </a:prstGeom>
          <a:solidFill>
            <a:srgbClr val="0F172A"/>
          </a:solidFill>
          <a:ln w="18288">
            <a:solidFill>
              <a:srgbClr val="22D3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5" y="2636937"/>
            <a:ext cx="17145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7627" y="2922687"/>
            <a:ext cx="455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Mobil App</a:t>
            </a:r>
            <a:endParaRPr lang="en-US" sz="621" dirty="0"/>
          </a:p>
        </p:txBody>
      </p:sp>
      <p:sp>
        <p:nvSpPr>
          <p:cNvPr id="23" name="Shape 17"/>
          <p:cNvSpPr/>
          <p:nvPr/>
        </p:nvSpPr>
        <p:spPr>
          <a:xfrm>
            <a:off x="5250656" y="2659261"/>
            <a:ext cx="381409" cy="141089"/>
          </a:xfrm>
          <a:prstGeom prst="rect">
            <a:avLst/>
          </a:prstGeom>
          <a:solidFill>
            <a:srgbClr val="0F172A"/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250656" y="2659261"/>
            <a:ext cx="381409" cy="141089"/>
          </a:xfrm>
          <a:prstGeom prst="rect">
            <a:avLst/>
          </a:prstGeom>
          <a:noFill/>
          <a:ln/>
        </p:spPr>
        <p:txBody>
          <a:bodyPr wrap="squar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18CF8"/>
                </a:solidFill>
              </a:rPr>
              <a:t>PUBLISH</a:t>
            </a:r>
            <a:endParaRPr lang="en-US" sz="516" dirty="0"/>
          </a:p>
        </p:txBody>
      </p:sp>
      <p:sp>
        <p:nvSpPr>
          <p:cNvPr id="25" name="Shape 19"/>
          <p:cNvSpPr/>
          <p:nvPr/>
        </p:nvSpPr>
        <p:spPr>
          <a:xfrm>
            <a:off x="6893719" y="2659261"/>
            <a:ext cx="223605" cy="141089"/>
          </a:xfrm>
          <a:prstGeom prst="rect">
            <a:avLst/>
          </a:prstGeom>
          <a:solidFill>
            <a:srgbClr val="0F172A"/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893719" y="2659261"/>
            <a:ext cx="223605" cy="141089"/>
          </a:xfrm>
          <a:prstGeom prst="rect">
            <a:avLst/>
          </a:prstGeom>
          <a:noFill/>
          <a:ln/>
        </p:spPr>
        <p:txBody>
          <a:bodyPr wrap="squar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18CF8"/>
                </a:solidFill>
              </a:rPr>
              <a:t>SUB</a:t>
            </a:r>
            <a:endParaRPr lang="en-US" sz="516" dirty="0"/>
          </a:p>
        </p:txBody>
      </p:sp>
      <p:sp>
        <p:nvSpPr>
          <p:cNvPr id="27" name="Text 21"/>
          <p:cNvSpPr/>
          <p:nvPr/>
        </p:nvSpPr>
        <p:spPr>
          <a:xfrm>
            <a:off x="5786438" y="2159198"/>
            <a:ext cx="926734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D3EE"/>
                </a:solidFill>
              </a:rPr>
              <a:t>Topic: sensor/temp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84050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Web Szerver és Konfiguráció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07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571875" cy="1598414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390352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0131" y="1359098"/>
            <a:ext cx="10508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Web Szerver</a:t>
            </a:r>
            <a:endParaRPr lang="en-US" sz="119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737717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7263" y="1700213"/>
            <a:ext cx="18492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HTML/CSS oldalak kiszolgálása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984177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7263" y="1946672"/>
            <a:ext cx="13670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RESTful API végpontok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230636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7263" y="2193131"/>
            <a:ext cx="17210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WebSocket (valós idejű adat)</a:t>
            </a:r>
            <a:endParaRPr lang="en-US" sz="942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477095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57263" y="2439591"/>
            <a:ext cx="19020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JSON adatformátum támogatás</a:t>
            </a:r>
            <a:endParaRPr lang="en-US" sz="942" dirty="0"/>
          </a:p>
        </p:txBody>
      </p:sp>
      <p:sp>
        <p:nvSpPr>
          <p:cNvPr id="18" name="Shape 10"/>
          <p:cNvSpPr/>
          <p:nvPr/>
        </p:nvSpPr>
        <p:spPr>
          <a:xfrm>
            <a:off x="642938" y="2957513"/>
            <a:ext cx="3571875" cy="1126927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22D3EE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117354"/>
            <a:ext cx="128588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7269" y="3086100"/>
            <a:ext cx="70929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Vezérlés</a:t>
            </a:r>
            <a:endParaRPr lang="en-US" sz="1193" dirty="0"/>
          </a:p>
        </p:txBody>
      </p:sp>
      <p:sp>
        <p:nvSpPr>
          <p:cNvPr id="21" name="Text 12"/>
          <p:cNvSpPr/>
          <p:nvPr/>
        </p:nvSpPr>
        <p:spPr>
          <a:xfrm>
            <a:off x="771525" y="3427214"/>
            <a:ext cx="3314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Az ESP32 képes egy reszponzív webes felületet biztosítani, amellyel bármilyen okostelefonról vagy PC-ről vezérelhető az eszköz.</a:t>
            </a:r>
            <a:endParaRPr lang="en-US" sz="834" dirty="0"/>
          </a:p>
        </p:txBody>
      </p:sp>
      <p:sp>
        <p:nvSpPr>
          <p:cNvPr id="22" name="Shape 13"/>
          <p:cNvSpPr/>
          <p:nvPr/>
        </p:nvSpPr>
        <p:spPr>
          <a:xfrm>
            <a:off x="4572000" y="1230511"/>
            <a:ext cx="3929063" cy="3541514"/>
          </a:xfrm>
          <a:prstGeom prst="rect">
            <a:avLst/>
          </a:prstGeom>
          <a:solidFill>
            <a:srgbClr val="22D3EE">
              <a:alpha val="5000"/>
            </a:srgbClr>
          </a:solidFill>
          <a:ln w="18288">
            <a:solidFill>
              <a:srgbClr val="22D3EE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4679156" y="1337667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FFFF"/>
                </a:solidFill>
              </a:rPr>
              <a:t>Captive Portal Folyamat</a:t>
            </a:r>
            <a:endParaRPr lang="en-US" sz="1269" dirty="0"/>
          </a:p>
        </p:txBody>
      </p:sp>
      <p:sp>
        <p:nvSpPr>
          <p:cNvPr id="24" name="Shape 15"/>
          <p:cNvSpPr/>
          <p:nvPr/>
        </p:nvSpPr>
        <p:spPr>
          <a:xfrm>
            <a:off x="4679156" y="1714500"/>
            <a:ext cx="3714750" cy="371475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4750594" y="1785938"/>
            <a:ext cx="214313" cy="21431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17"/>
          <p:cNvSpPr/>
          <p:nvPr/>
        </p:nvSpPr>
        <p:spPr>
          <a:xfrm>
            <a:off x="4750594" y="178593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1</a:t>
            </a:r>
            <a:endParaRPr lang="en-US" sz="784" dirty="0"/>
          </a:p>
        </p:txBody>
      </p:sp>
      <p:sp>
        <p:nvSpPr>
          <p:cNvPr id="27" name="Text 18"/>
          <p:cNvSpPr/>
          <p:nvPr/>
        </p:nvSpPr>
        <p:spPr>
          <a:xfrm>
            <a:off x="5072063" y="1815405"/>
            <a:ext cx="21378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ESP32 elindul Access Point (AP) módban</a:t>
            </a:r>
            <a:endParaRPr lang="en-US" sz="834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023" y="2134195"/>
            <a:ext cx="125016" cy="142875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4679156" y="2337792"/>
            <a:ext cx="3714750" cy="371475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4750594" y="2409230"/>
            <a:ext cx="214313" cy="21431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1"/>
          <p:cNvSpPr/>
          <p:nvPr/>
        </p:nvSpPr>
        <p:spPr>
          <a:xfrm>
            <a:off x="4750594" y="240923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2</a:t>
            </a:r>
            <a:endParaRPr lang="en-US" sz="784" dirty="0"/>
          </a:p>
        </p:txBody>
      </p:sp>
      <p:sp>
        <p:nvSpPr>
          <p:cNvPr id="32" name="Text 22"/>
          <p:cNvSpPr/>
          <p:nvPr/>
        </p:nvSpPr>
        <p:spPr>
          <a:xfrm>
            <a:off x="5072063" y="2438698"/>
            <a:ext cx="22399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Felhasználó csatlakozik a Wi-Fi hálózathoz</a:t>
            </a:r>
            <a:endParaRPr lang="en-US" sz="834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4023" y="2757488"/>
            <a:ext cx="125016" cy="142875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679156" y="2961084"/>
            <a:ext cx="3714750" cy="371475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750594" y="3032522"/>
            <a:ext cx="214313" cy="21431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6" name="Text 25"/>
          <p:cNvSpPr/>
          <p:nvPr/>
        </p:nvSpPr>
        <p:spPr>
          <a:xfrm>
            <a:off x="4750594" y="3032522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3</a:t>
            </a:r>
            <a:endParaRPr lang="en-US" sz="784" dirty="0"/>
          </a:p>
        </p:txBody>
      </p:sp>
      <p:sp>
        <p:nvSpPr>
          <p:cNvPr id="37" name="Text 26"/>
          <p:cNvSpPr/>
          <p:nvPr/>
        </p:nvSpPr>
        <p:spPr>
          <a:xfrm>
            <a:off x="5072063" y="3061990"/>
            <a:ext cx="25953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Böngésző automatikusan a beállító oldalra ugrik</a:t>
            </a:r>
            <a:endParaRPr lang="en-US" sz="834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4023" y="3380780"/>
            <a:ext cx="125016" cy="142875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4679156" y="3584377"/>
            <a:ext cx="3714750" cy="371475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4750594" y="3655814"/>
            <a:ext cx="214313" cy="21431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1" name="Text 29"/>
          <p:cNvSpPr/>
          <p:nvPr/>
        </p:nvSpPr>
        <p:spPr>
          <a:xfrm>
            <a:off x="4750594" y="3655814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4</a:t>
            </a:r>
            <a:endParaRPr lang="en-US" sz="784" dirty="0"/>
          </a:p>
        </p:txBody>
      </p:sp>
      <p:sp>
        <p:nvSpPr>
          <p:cNvPr id="42" name="Text 30"/>
          <p:cNvSpPr/>
          <p:nvPr/>
        </p:nvSpPr>
        <p:spPr>
          <a:xfrm>
            <a:off x="5072063" y="3685282"/>
            <a:ext cx="1895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Wi-Fi adatok megadása és mentése</a:t>
            </a:r>
            <a:endParaRPr lang="en-US" sz="834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4023" y="4004072"/>
            <a:ext cx="125016" cy="142875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4679156" y="4207669"/>
            <a:ext cx="3714750" cy="371475"/>
          </a:xfrm>
          <a:prstGeom prst="rect">
            <a:avLst/>
          </a:prstGeom>
          <a:solidFill>
            <a:srgbClr val="22D3EE">
              <a:alpha val="10000"/>
            </a:srgbClr>
          </a:solidFill>
          <a:ln w="9144">
            <a:solidFill>
              <a:srgbClr val="22D3EE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4750594" y="4279106"/>
            <a:ext cx="214313" cy="21431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33"/>
          <p:cNvSpPr/>
          <p:nvPr/>
        </p:nvSpPr>
        <p:spPr>
          <a:xfrm>
            <a:off x="4750594" y="4279106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5</a:t>
            </a:r>
            <a:endParaRPr lang="en-US" sz="784" dirty="0"/>
          </a:p>
        </p:txBody>
      </p:sp>
      <p:sp>
        <p:nvSpPr>
          <p:cNvPr id="47" name="Text 34"/>
          <p:cNvSpPr/>
          <p:nvPr/>
        </p:nvSpPr>
        <p:spPr>
          <a:xfrm>
            <a:off x="5072063" y="4308574"/>
            <a:ext cx="17906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Újraindulás Station (STA) módban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94039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Fejlesztési Környezetek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08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2500313" cy="2537036"/>
          </a:xfrm>
          <a:prstGeom prst="rect">
            <a:avLst/>
          </a:prstGeom>
          <a:solidFill>
            <a:srgbClr val="0F172A">
              <a:alpha val="60000"/>
            </a:srgbClr>
          </a:solidFill>
          <a:ln w="18288">
            <a:solidFill>
              <a:srgbClr val="818C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35931" y="1159073"/>
            <a:ext cx="285750" cy="28575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81" y="1444823"/>
            <a:ext cx="428625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7679" y="1930598"/>
            <a:ext cx="11908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FFFF"/>
                </a:solidFill>
              </a:rPr>
              <a:t>Arduino IDE</a:t>
            </a:r>
            <a:endParaRPr lang="en-US" sz="1269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336006"/>
            <a:ext cx="42863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50" y="2307431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Legegyszerűbb belépési pont kezdőknek.</a:t>
            </a:r>
            <a:endParaRPr lang="en-US" sz="8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41749"/>
            <a:ext cx="42863" cy="857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1550" y="2713174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Hatalmas közösségi könyvtárgyűjtemény.</a:t>
            </a:r>
            <a:endParaRPr lang="en-US" sz="83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147492"/>
            <a:ext cx="42863" cy="857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1550" y="3118917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Gyors prototípusfejlesztés és tesztelés.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3321844" y="1230511"/>
            <a:ext cx="2500313" cy="2537036"/>
          </a:xfrm>
          <a:prstGeom prst="rect">
            <a:avLst/>
          </a:prstGeom>
          <a:solidFill>
            <a:srgbClr val="0F172A">
              <a:alpha val="60000"/>
            </a:srgbClr>
          </a:solidFill>
          <a:ln w="18288">
            <a:solidFill>
              <a:srgbClr val="818CF8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414838" y="1159073"/>
            <a:ext cx="285750" cy="28575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50" y="1444823"/>
            <a:ext cx="342900" cy="3429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236662" y="1930598"/>
            <a:ext cx="6706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FFFF"/>
                </a:solidFill>
              </a:rPr>
              <a:t>ESP-IDF</a:t>
            </a:r>
            <a:endParaRPr lang="en-US" sz="1269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6156" y="2336006"/>
            <a:ext cx="42863" cy="85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650456" y="2307431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Hivatalos, professzionális keretrendszer.</a:t>
            </a:r>
            <a:endParaRPr lang="en-US" sz="834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6156" y="2741749"/>
            <a:ext cx="42863" cy="8572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50456" y="2713174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C nyelv alapú, teljes hardver hozzáférés.</a:t>
            </a:r>
            <a:endParaRPr lang="en-US" sz="834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6156" y="3147492"/>
            <a:ext cx="42863" cy="8572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50456" y="3118917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Ipari termékekhez és optimalizáláshoz.</a:t>
            </a:r>
            <a:endParaRPr lang="en-US" sz="834" dirty="0"/>
          </a:p>
        </p:txBody>
      </p:sp>
      <p:sp>
        <p:nvSpPr>
          <p:cNvPr id="27" name="Shape 16"/>
          <p:cNvSpPr/>
          <p:nvPr/>
        </p:nvSpPr>
        <p:spPr>
          <a:xfrm>
            <a:off x="6000750" y="1230511"/>
            <a:ext cx="2500313" cy="2508461"/>
          </a:xfrm>
          <a:prstGeom prst="rect">
            <a:avLst/>
          </a:prstGeom>
          <a:solidFill>
            <a:srgbClr val="0F172A">
              <a:alpha val="60000"/>
            </a:srgbClr>
          </a:solidFill>
          <a:ln w="18288">
            <a:solidFill>
              <a:srgbClr val="818CF8"/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7093744" y="1159073"/>
            <a:ext cx="285750" cy="28575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888" y="1444823"/>
            <a:ext cx="300038" cy="3429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586677" y="1930598"/>
            <a:ext cx="132845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FFFF"/>
                </a:solidFill>
              </a:rPr>
              <a:t>MicroPython</a:t>
            </a:r>
            <a:endParaRPr lang="en-US" sz="1269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5063" y="2336006"/>
            <a:ext cx="42863" cy="8572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329363" y="2307431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Python 3 nyelv az ESP32 mikrokontrolleren.</a:t>
            </a:r>
            <a:endParaRPr lang="en-US" sz="834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5063" y="2741749"/>
            <a:ext cx="42863" cy="85725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329363" y="2713174"/>
            <a:ext cx="19573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Interaktív REPL és gyors kódmódosítás.</a:t>
            </a:r>
            <a:endParaRPr lang="en-US" sz="834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5063" y="3147492"/>
            <a:ext cx="42863" cy="85725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329363" y="3118917"/>
            <a:ext cx="187716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Ideális oktatáshoz és scripteléshez.</a:t>
            </a:r>
            <a:endParaRPr lang="en-US" sz="834" dirty="0"/>
          </a:p>
        </p:txBody>
      </p:sp>
      <p:sp>
        <p:nvSpPr>
          <p:cNvPr id="37" name="Shape 22"/>
          <p:cNvSpPr/>
          <p:nvPr/>
        </p:nvSpPr>
        <p:spPr>
          <a:xfrm>
            <a:off x="642938" y="3953284"/>
            <a:ext cx="7858125" cy="400050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dash"/>
          </a:ln>
        </p:spPr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9097" y="4060441"/>
            <a:ext cx="171450" cy="17145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2567704" y="4068477"/>
            <a:ext cx="42871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PlatformIO: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Professzionális IDE (VS Code plugin) projekt- és könyvtárkezeléssel.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37337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2D3EE"/>
                </a:solidFill>
              </a:rPr>
              <a:t>Összefoglalás és Előnyök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18CF8"/>
                </a:solidFill>
              </a:rPr>
              <a:t>09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5661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0131" y="1416248"/>
            <a:ext cx="26129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Integrált Wi-Fi és Dual-mode Bluetooth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79156" y="1230511"/>
            <a:ext cx="3821906" cy="5661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86350" y="1409105"/>
            <a:ext cx="28915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Dual-core 240 MHz processzor teljesítmény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2938" y="1996678"/>
            <a:ext cx="3821906" cy="5661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0131" y="2182416"/>
            <a:ext cx="293052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Ultra-alacsony fogyasztású Deep-sleep mód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79156" y="1996678"/>
            <a:ext cx="3821906" cy="5661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6350" y="2175272"/>
            <a:ext cx="28986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Hatalmas közösségi és könyvtár támogatás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2938" y="2762845"/>
            <a:ext cx="3821906" cy="5661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0131" y="2948583"/>
            <a:ext cx="28559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Hardveres titkosítás és biztonsági funkciók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79156" y="2762845"/>
            <a:ext cx="3821906" cy="566142"/>
          </a:xfrm>
          <a:prstGeom prst="rect">
            <a:avLst/>
          </a:prstGeom>
          <a:solidFill>
            <a:srgbClr val="818CF8">
              <a:alpha val="5000"/>
            </a:srgbClr>
          </a:solidFill>
          <a:ln w="9144">
            <a:solidFill>
              <a:srgbClr val="818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86350" y="2941439"/>
            <a:ext cx="27712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Kiváló ár-érték arány ipari projektekhez 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2938" y="3600450"/>
            <a:ext cx="7858125" cy="1454758"/>
          </a:xfrm>
          <a:prstGeom prst="rect">
            <a:avLst/>
          </a:prstGeom>
          <a:solidFill>
            <a:srgbClr val="22D3EE">
              <a:alpha val="10000"/>
            </a:srgbClr>
          </a:solidFill>
          <a:ln w="18288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7250" y="3814763"/>
            <a:ext cx="7429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spc="2" kern="0" dirty="0">
                <a:solidFill>
                  <a:srgbClr val="FFFFFF"/>
                </a:solidFill>
              </a:rPr>
              <a:t>Záró Gondolat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1357313" y="4195167"/>
            <a:ext cx="6429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Az ESP32 nem csupán egy mikrokontroller, hanem egy teljes értékű IoT platform. Rugalmassága, ereje és alacsony ára miatt az egyik legfontosabb eszköz a modern informatikai rendszerüzemeltetők és fejlesztők eszköztárában.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2026-01-09T18:12:43Z</dcterms:created>
  <dcterms:modified xsi:type="dcterms:W3CDTF">2026-01-09T18:12:43Z</dcterms:modified>
</cp:coreProperties>
</file>