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3" y="1174254"/>
            <a:ext cx="714375" cy="571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26885" y="2242245"/>
            <a:ext cx="3090230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731" b="1" spc="-2" kern="0" dirty="0">
                <a:solidFill>
                  <a:srgbClr val="CBD5E1"/>
                </a:solidFill>
              </a:rPr>
              <a:t>Tuya</a:t>
            </a:r>
            <a:endParaRPr lang="en-US" sz="3731" dirty="0"/>
          </a:p>
        </p:txBody>
      </p:sp>
      <p:sp>
        <p:nvSpPr>
          <p:cNvPr id="5" name="Text 1"/>
          <p:cNvSpPr/>
          <p:nvPr/>
        </p:nvSpPr>
        <p:spPr>
          <a:xfrm>
            <a:off x="3026885" y="3085207"/>
            <a:ext cx="309023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8B5CF6"/>
                </a:solidFill>
              </a:rPr>
              <a:t>Felhőalapú IoT ökoszisztéma</a:t>
            </a:r>
            <a:endParaRPr lang="en-US" sz="1704" dirty="0"/>
          </a:p>
        </p:txBody>
      </p:sp>
      <p:sp>
        <p:nvSpPr>
          <p:cNvPr id="6" name="Text 2"/>
          <p:cNvSpPr/>
          <p:nvPr/>
        </p:nvSpPr>
        <p:spPr>
          <a:xfrm>
            <a:off x="3026885" y="3754934"/>
            <a:ext cx="3090230" cy="32504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spc="3" kern="0" dirty="0">
                <a:solidFill>
                  <a:srgbClr val="94A3B8"/>
                </a:solidFill>
              </a:rPr>
              <a:t>Vizsgafelkészítő // Témakör 05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196827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Mi az a Tuya?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02</a:t>
            </a:r>
            <a:endParaRPr lang="en-US" sz="119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66230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5844" y="1230511"/>
            <a:ext cx="38933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</a:rPr>
              <a:t>IoT PaaS Platform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1035844" y="1535906"/>
            <a:ext cx="38933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A világ egyik vezető "Platform as a Service" szolgáltatója, amely hardver, felhő és app megoldásokat kínál.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181690"/>
            <a:ext cx="225028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10841" y="2145971"/>
            <a:ext cx="39183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</a:rPr>
              <a:t>Hatalmas Ökoszisztéma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1010841" y="2451367"/>
            <a:ext cx="39183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Több mint 500,000 különböző okoseszköz (SKU) érhető el a Tuya technológiájával.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097150"/>
            <a:ext cx="200025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85838" y="3061432"/>
            <a:ext cx="39433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</a:rPr>
              <a:t>Globális Infrastruktúra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985838" y="3366827"/>
            <a:ext cx="39433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Világszerte elosztott adatközpontok (AWS, Azure alapokon) a minimális késleltetésért.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5643563" y="1230511"/>
            <a:ext cx="2857500" cy="2857500"/>
          </a:xfrm>
          <a:prstGeom prst="rect">
            <a:avLst/>
          </a:prstGeom>
          <a:solidFill>
            <a:srgbClr val="8B5CF6">
              <a:alpha val="5000"/>
            </a:srgbClr>
          </a:solidFill>
          <a:ln w="9144">
            <a:solidFill>
              <a:srgbClr val="8B5CF6">
                <a:alpha val="2000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643688" y="2013645"/>
            <a:ext cx="857250" cy="8572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93402" y="3013770"/>
            <a:ext cx="95782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220+ Ország</a:t>
            </a:r>
            <a:endParaRPr lang="en-US" sz="784" dirty="0"/>
          </a:p>
        </p:txBody>
      </p:sp>
      <p:sp>
        <p:nvSpPr>
          <p:cNvPr id="19" name="Text 12"/>
          <p:cNvSpPr/>
          <p:nvPr/>
        </p:nvSpPr>
        <p:spPr>
          <a:xfrm>
            <a:off x="6593402" y="3169146"/>
            <a:ext cx="9578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Globális Lefedettség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269824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Tuya Architektúra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03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1000125" y="1230511"/>
            <a:ext cx="7143750" cy="735806"/>
          </a:xfrm>
          <a:prstGeom prst="rect">
            <a:avLst/>
          </a:prstGeom>
          <a:solidFill>
            <a:srgbClr val="F97316">
              <a:alpha val="5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2875" y="1523405"/>
            <a:ext cx="714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97316"/>
                </a:solidFill>
              </a:rPr>
              <a:t>Felhő</a:t>
            </a:r>
            <a:endParaRPr lang="en-US" sz="727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38" y="1373386"/>
            <a:ext cx="200025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7313" y="1673423"/>
            <a:ext cx="1285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Adattárolás</a:t>
            </a:r>
            <a:endParaRPr lang="en-US" sz="727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1373386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71813" y="1673423"/>
            <a:ext cx="1285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AI &amp; Automatizáció</a:t>
            </a:r>
            <a:endParaRPr lang="en-US" sz="727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950" y="1373386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86313" y="1673423"/>
            <a:ext cx="1285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Biztonsági Szolg.</a:t>
            </a:r>
            <a:endParaRPr lang="en-US" sz="727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75" y="1373386"/>
            <a:ext cx="28575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00813" y="1673423"/>
            <a:ext cx="1285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Open API</a:t>
            </a:r>
            <a:endParaRPr lang="en-US" sz="727" dirty="0"/>
          </a:p>
        </p:txBody>
      </p:sp>
      <p:sp>
        <p:nvSpPr>
          <p:cNvPr id="17" name="Shape 10"/>
          <p:cNvSpPr/>
          <p:nvPr/>
        </p:nvSpPr>
        <p:spPr>
          <a:xfrm>
            <a:off x="1000125" y="2594967"/>
            <a:ext cx="7143750" cy="735806"/>
          </a:xfrm>
          <a:prstGeom prst="rect">
            <a:avLst/>
          </a:prstGeom>
          <a:solidFill>
            <a:srgbClr val="8B5CF6">
              <a:alpha val="5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142875" y="2887861"/>
            <a:ext cx="714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97316"/>
                </a:solidFill>
              </a:rPr>
              <a:t>Hálózat</a:t>
            </a:r>
            <a:endParaRPr lang="en-US" sz="727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25" y="2737842"/>
            <a:ext cx="28575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643063" y="3037880"/>
            <a:ext cx="1285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Wi-Fi / MQTT</a:t>
            </a:r>
            <a:endParaRPr lang="en-US" sz="727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413" y="2737842"/>
            <a:ext cx="257175" cy="228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929063" y="3037880"/>
            <a:ext cx="1285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Zigbee Gateway</a:t>
            </a:r>
            <a:endParaRPr lang="en-US" sz="727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7988" y="2737842"/>
            <a:ext cx="200025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215063" y="3037880"/>
            <a:ext cx="1285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Bluetooth Mesh</a:t>
            </a:r>
            <a:endParaRPr lang="en-US" sz="727" dirty="0"/>
          </a:p>
        </p:txBody>
      </p:sp>
      <p:sp>
        <p:nvSpPr>
          <p:cNvPr id="25" name="Shape 15"/>
          <p:cNvSpPr/>
          <p:nvPr/>
        </p:nvSpPr>
        <p:spPr>
          <a:xfrm>
            <a:off x="1000125" y="3959423"/>
            <a:ext cx="7143750" cy="735806"/>
          </a:xfrm>
          <a:prstGeom prst="rect">
            <a:avLst/>
          </a:prstGeom>
          <a:solidFill>
            <a:srgbClr val="8B5CF6">
              <a:alpha val="5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142875" y="4252317"/>
            <a:ext cx="714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97316"/>
                </a:solidFill>
              </a:rPr>
              <a:t>Eszközök</a:t>
            </a:r>
            <a:endParaRPr lang="en-US" sz="727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4525" y="4102298"/>
            <a:ext cx="171450" cy="2286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357313" y="4402336"/>
            <a:ext cx="1285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Okos Világítás</a:t>
            </a:r>
            <a:endParaRPr lang="en-US" sz="727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3313" y="4102298"/>
            <a:ext cx="142875" cy="2286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071813" y="4402336"/>
            <a:ext cx="1285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Szenzorok</a:t>
            </a:r>
            <a:endParaRPr lang="en-US" sz="727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3525" y="4102298"/>
            <a:ext cx="171450" cy="22860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4786313" y="4402336"/>
            <a:ext cx="1285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Tuya Smart App</a:t>
            </a:r>
            <a:endParaRPr lang="en-US" sz="727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58025" y="4102298"/>
            <a:ext cx="171450" cy="22860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500813" y="4402336"/>
            <a:ext cx="1285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Konnektorok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595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01660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Kapcsolódási Technológiák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04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821906" cy="1950244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2938" y="1230511"/>
            <a:ext cx="3807619" cy="28575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578" y="1444823"/>
            <a:ext cx="428625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43931" y="1930598"/>
            <a:ext cx="4198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Wi-Fi</a:t>
            </a:r>
            <a:endParaRPr lang="en-US" sz="1269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300288"/>
            <a:ext cx="85725" cy="857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8700" y="2271713"/>
            <a:ext cx="18447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Közvetlen felhőkapcsolat (2.4GHz).</a:t>
            </a:r>
            <a:endParaRPr lang="en-US" sz="834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527102"/>
            <a:ext cx="85725" cy="857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8700" y="2498527"/>
            <a:ext cx="20618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Nagy sávszélesség, egyszerű telepítés.</a:t>
            </a:r>
            <a:endParaRPr lang="en-US" sz="834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753916"/>
            <a:ext cx="85725" cy="857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8700" y="2725341"/>
            <a:ext cx="22783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Nem igényel központi egységet (Gateway).</a:t>
            </a:r>
            <a:endParaRPr lang="en-US" sz="834" dirty="0"/>
          </a:p>
        </p:txBody>
      </p:sp>
      <p:sp>
        <p:nvSpPr>
          <p:cNvPr id="17" name="Shape 10"/>
          <p:cNvSpPr/>
          <p:nvPr/>
        </p:nvSpPr>
        <p:spPr>
          <a:xfrm>
            <a:off x="4679156" y="1230511"/>
            <a:ext cx="3821906" cy="1950244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4679156" y="1230511"/>
            <a:ext cx="3807619" cy="28575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228" y="1444823"/>
            <a:ext cx="385763" cy="3429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55206" y="1930598"/>
            <a:ext cx="8697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Zigbee 3.0</a:t>
            </a:r>
            <a:endParaRPr lang="en-US" sz="1269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2300288"/>
            <a:ext cx="85725" cy="857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64919" y="2271713"/>
            <a:ext cx="18052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Ultra-alacsony energiafogyasztás.</a:t>
            </a:r>
            <a:endParaRPr lang="en-US" sz="834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469" y="2527102"/>
            <a:ext cx="85725" cy="8572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64919" y="2498527"/>
            <a:ext cx="19751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Mesh hálózat (öngyógyító struktúra).</a:t>
            </a:r>
            <a:endParaRPr lang="en-US" sz="834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3469" y="2753916"/>
            <a:ext cx="85725" cy="8572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64919" y="2725341"/>
            <a:ext cx="20868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Tuya Zigbee Gateway szükséges hozzá.</a:t>
            </a:r>
            <a:endParaRPr lang="en-US" sz="834" dirty="0"/>
          </a:p>
        </p:txBody>
      </p:sp>
      <p:sp>
        <p:nvSpPr>
          <p:cNvPr id="27" name="Shape 16"/>
          <p:cNvSpPr/>
          <p:nvPr/>
        </p:nvSpPr>
        <p:spPr>
          <a:xfrm>
            <a:off x="642938" y="3380780"/>
            <a:ext cx="3821906" cy="1950244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642938" y="3380780"/>
            <a:ext cx="3807619" cy="28575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3872" y="3595092"/>
            <a:ext cx="300038" cy="3429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830530" y="4080867"/>
            <a:ext cx="144672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Bluetooth / BLE</a:t>
            </a:r>
            <a:endParaRPr lang="en-US" sz="1269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250" y="4450556"/>
            <a:ext cx="85725" cy="85725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1028700" y="4421981"/>
            <a:ext cx="21010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Gyors és egyszerű párosítás telefonnal.</a:t>
            </a:r>
            <a:endParaRPr lang="en-US" sz="834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250" y="4677370"/>
            <a:ext cx="85725" cy="85725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1028700" y="4648795"/>
            <a:ext cx="22614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BLE Mesh támogatás nagy rendszerekhez.</a:t>
            </a:r>
            <a:endParaRPr lang="en-US" sz="834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7250" y="4904184"/>
            <a:ext cx="85725" cy="85725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1028700" y="4875609"/>
            <a:ext cx="19225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Alacsony késleltetésű helyi vezérlés.</a:t>
            </a:r>
            <a:endParaRPr lang="en-US" sz="834" dirty="0"/>
          </a:p>
        </p:txBody>
      </p:sp>
      <p:sp>
        <p:nvSpPr>
          <p:cNvPr id="37" name="Shape 22"/>
          <p:cNvSpPr/>
          <p:nvPr/>
        </p:nvSpPr>
        <p:spPr>
          <a:xfrm>
            <a:off x="4679156" y="3380780"/>
            <a:ext cx="3821906" cy="1950244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38" name="Shape 23"/>
          <p:cNvSpPr/>
          <p:nvPr/>
        </p:nvSpPr>
        <p:spPr>
          <a:xfrm>
            <a:off x="4679156" y="3380780"/>
            <a:ext cx="3807619" cy="28575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7228" y="3595092"/>
            <a:ext cx="385763" cy="34290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009401" y="4080867"/>
            <a:ext cx="116141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NB-IoT / GPRS</a:t>
            </a:r>
            <a:endParaRPr lang="en-US" sz="1269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3469" y="4450556"/>
            <a:ext cx="85725" cy="85725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5064919" y="4421981"/>
            <a:ext cx="20865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Nagy távolságú, cellás alapú kapcsolat.</a:t>
            </a:r>
            <a:endParaRPr lang="en-US" sz="834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93469" y="4677370"/>
            <a:ext cx="85725" cy="85725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064919" y="4648795"/>
            <a:ext cx="17468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Ipari és kültéri alkalmazásokhoz.</a:t>
            </a:r>
            <a:endParaRPr lang="en-US" sz="834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93469" y="4904184"/>
            <a:ext cx="85725" cy="85725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5064919" y="4875609"/>
            <a:ext cx="23016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SIM kártyás, szolgáltatói hálózatot használ.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274147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App Ökoszisztéma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05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3208939"/>
          </a:xfrm>
          <a:prstGeom prst="rect">
            <a:avLst/>
          </a:prstGeom>
          <a:solidFill>
            <a:srgbClr val="8B5CF6">
              <a:alpha val="5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128588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2994" y="1444823"/>
            <a:ext cx="242312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Alapértelmezett Alkalmazások</a:t>
            </a:r>
            <a:endParaRPr lang="en-US" sz="126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89534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35856" y="1935956"/>
            <a:ext cx="30718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Tuya Smart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1135856" y="2146697"/>
            <a:ext cx="30718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A hivatalos alkalmazás, amely elsősorban a fejlesztőknek és a technikai felhasználóknak készült.</a:t>
            </a:r>
            <a:endParaRPr lang="en-US" sz="78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643188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35856" y="2589609"/>
            <a:ext cx="30718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Smart Life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1135856" y="2800350"/>
            <a:ext cx="30718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A legnépszerűbb, általános célú alkalmazás. Szélesebb körű integrációkat és közösségi támogatást kínál.</a:t>
            </a:r>
            <a:endParaRPr lang="en-US" sz="780" dirty="0"/>
          </a:p>
        </p:txBody>
      </p:sp>
      <p:sp>
        <p:nvSpPr>
          <p:cNvPr id="16" name="Text 10"/>
          <p:cNvSpPr/>
          <p:nvPr/>
        </p:nvSpPr>
        <p:spPr>
          <a:xfrm>
            <a:off x="857250" y="3243263"/>
            <a:ext cx="33504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8B5CF6"/>
                </a:solidFill>
              </a:rPr>
              <a:t>* Mindkét alkalmazás ugyanazt a Tuya felhőt használja, az eszközök keresztbe-kasul kompatibilisek.</a:t>
            </a:r>
            <a:endParaRPr lang="en-US" sz="727" dirty="0"/>
          </a:p>
        </p:txBody>
      </p:sp>
      <p:sp>
        <p:nvSpPr>
          <p:cNvPr id="17" name="Shape 11"/>
          <p:cNvSpPr/>
          <p:nvPr/>
        </p:nvSpPr>
        <p:spPr>
          <a:xfrm>
            <a:off x="4707731" y="1230511"/>
            <a:ext cx="3793331" cy="3208939"/>
          </a:xfrm>
          <a:prstGeom prst="rect">
            <a:avLst/>
          </a:prstGeom>
          <a:solidFill>
            <a:srgbClr val="8B5CF6">
              <a:alpha val="5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476077"/>
            <a:ext cx="171450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07794" y="1444823"/>
            <a:ext cx="19394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White-label Megoldások</a:t>
            </a:r>
            <a:endParaRPr lang="en-US" sz="1269" dirty="0"/>
          </a:p>
        </p:txBody>
      </p:sp>
      <p:sp>
        <p:nvSpPr>
          <p:cNvPr id="20" name="Text 13"/>
          <p:cNvSpPr/>
          <p:nvPr/>
        </p:nvSpPr>
        <p:spPr>
          <a:xfrm>
            <a:off x="4929188" y="1935956"/>
            <a:ext cx="33575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A Tuya lehetővé teszi a gyártók számára, hogy saját márkanevük alatt adják ki az alkalmazást (OEM App).</a:t>
            </a:r>
            <a:endParaRPr lang="en-US" sz="834" dirty="0"/>
          </a:p>
        </p:txBody>
      </p:sp>
      <p:sp>
        <p:nvSpPr>
          <p:cNvPr id="21" name="Shape 14"/>
          <p:cNvSpPr/>
          <p:nvPr/>
        </p:nvSpPr>
        <p:spPr>
          <a:xfrm>
            <a:off x="4929188" y="2515995"/>
            <a:ext cx="3357563" cy="1280517"/>
          </a:xfrm>
          <a:prstGeom prst="rect">
            <a:avLst/>
          </a:prstGeom>
          <a:solidFill>
            <a:srgbClr val="F97316">
              <a:alpha val="5000"/>
            </a:srgbClr>
          </a:solidFill>
          <a:ln w="9144">
            <a:solidFill>
              <a:srgbClr val="F97316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072063" y="2658870"/>
            <a:ext cx="30718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Példák:</a:t>
            </a:r>
            <a:endParaRPr lang="en-US" sz="987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063" y="2942834"/>
            <a:ext cx="50006" cy="10001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93506" y="2924975"/>
            <a:ext cx="10688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Lidl Home (Silvercrest)</a:t>
            </a:r>
            <a:endParaRPr lang="en-US" sz="727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3" y="3135716"/>
            <a:ext cx="50006" cy="100013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93506" y="3117856"/>
            <a:ext cx="77060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Nedis SmartLife</a:t>
            </a:r>
            <a:endParaRPr lang="en-US" sz="727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2063" y="3328597"/>
            <a:ext cx="50006" cy="100013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93506" y="3310737"/>
            <a:ext cx="5994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Woox Home</a:t>
            </a:r>
            <a:endParaRPr lang="en-US" sz="727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2063" y="3521478"/>
            <a:ext cx="50006" cy="100013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193506" y="3503619"/>
            <a:ext cx="10270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Hama Smart Solution</a:t>
            </a:r>
            <a:endParaRPr lang="en-US" sz="727" dirty="0"/>
          </a:p>
        </p:txBody>
      </p:sp>
      <p:sp>
        <p:nvSpPr>
          <p:cNvPr id="31" name="Text 20"/>
          <p:cNvSpPr/>
          <p:nvPr/>
        </p:nvSpPr>
        <p:spPr>
          <a:xfrm>
            <a:off x="4929188" y="3925100"/>
            <a:ext cx="33575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Ezek az alkalmazások valójában a Tuya Smart App átmárkázott változatai.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263584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Tuya Cloud és API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06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3295055"/>
          </a:xfrm>
          <a:prstGeom prst="rect">
            <a:avLst/>
          </a:prstGeom>
          <a:solidFill>
            <a:srgbClr val="8B5CF6">
              <a:alpha val="5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21431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8719" y="1444823"/>
            <a:ext cx="1570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IoT Fejlesztői Portál</a:t>
            </a:r>
            <a:endParaRPr lang="en-US" sz="126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57388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07281" y="1935956"/>
            <a:ext cx="31003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Eszközkezelés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1107281" y="2146697"/>
            <a:ext cx="31003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Termékek létrehozása, funkciók (DP-k) definiálása és virtuális eszközök tesztelése.</a:t>
            </a:r>
            <a:endParaRPr lang="en-US" sz="78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611041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07281" y="2589609"/>
            <a:ext cx="31003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Adatanalitika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1107281" y="2800350"/>
            <a:ext cx="31003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Valós idejű statisztikák az eszközök állapotáról, online létéről és használatáról.</a:t>
            </a:r>
            <a:endParaRPr lang="en-US" sz="78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264694"/>
            <a:ext cx="142875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07281" y="3243263"/>
            <a:ext cx="31003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OTA Frissítések</a:t>
            </a:r>
            <a:endParaRPr lang="en-US" sz="885" dirty="0"/>
          </a:p>
        </p:txBody>
      </p:sp>
      <p:sp>
        <p:nvSpPr>
          <p:cNvPr id="18" name="Text 11"/>
          <p:cNvSpPr/>
          <p:nvPr/>
        </p:nvSpPr>
        <p:spPr>
          <a:xfrm>
            <a:off x="1107281" y="3454003"/>
            <a:ext cx="31003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Firmware verziók kezelése és távoli frissítések ütemezése az eszközökre.</a:t>
            </a:r>
            <a:endParaRPr lang="en-US" sz="780" dirty="0"/>
          </a:p>
        </p:txBody>
      </p:sp>
      <p:sp>
        <p:nvSpPr>
          <p:cNvPr id="19" name="Shape 12"/>
          <p:cNvSpPr/>
          <p:nvPr/>
        </p:nvSpPr>
        <p:spPr>
          <a:xfrm>
            <a:off x="4707731" y="1230511"/>
            <a:ext cx="3793331" cy="3295055"/>
          </a:xfrm>
          <a:prstGeom prst="rect">
            <a:avLst/>
          </a:prstGeom>
          <a:solidFill>
            <a:srgbClr val="8B5CF6">
              <a:alpha val="5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476077"/>
            <a:ext cx="214313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50656" y="1444823"/>
            <a:ext cx="130610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Felhő Integráció</a:t>
            </a:r>
            <a:endParaRPr lang="en-US" sz="1269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957388"/>
            <a:ext cx="142875" cy="1428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79219" y="1935956"/>
            <a:ext cx="31075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RESTful API &amp; OAuth</a:t>
            </a:r>
            <a:endParaRPr lang="en-US" sz="885" dirty="0"/>
          </a:p>
        </p:txBody>
      </p:sp>
      <p:sp>
        <p:nvSpPr>
          <p:cNvPr id="24" name="Text 15"/>
          <p:cNvSpPr/>
          <p:nvPr/>
        </p:nvSpPr>
        <p:spPr>
          <a:xfrm>
            <a:off x="5179219" y="2146697"/>
            <a:ext cx="31075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Biztonságos hozzáférés az eszközökhöz külső alkalmazásokból OAuth 2.0 hitelesítéssel.</a:t>
            </a:r>
            <a:endParaRPr lang="en-US" sz="78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611041"/>
            <a:ext cx="142875" cy="14287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179219" y="2589609"/>
            <a:ext cx="31075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Cloud-to-Cloud (C2C)</a:t>
            </a:r>
            <a:endParaRPr lang="en-US" sz="885" dirty="0"/>
          </a:p>
        </p:txBody>
      </p:sp>
      <p:sp>
        <p:nvSpPr>
          <p:cNvPr id="27" name="Text 17"/>
          <p:cNvSpPr/>
          <p:nvPr/>
        </p:nvSpPr>
        <p:spPr>
          <a:xfrm>
            <a:off x="5179219" y="2800350"/>
            <a:ext cx="31075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Közvetlen kapcsolat más felhőplatformokkal (pl. Google, Alexa, IFTTT).</a:t>
            </a:r>
            <a:endParaRPr lang="en-US" sz="780" dirty="0"/>
          </a:p>
        </p:txBody>
      </p:sp>
      <p:sp>
        <p:nvSpPr>
          <p:cNvPr id="28" name="Shape 18"/>
          <p:cNvSpPr/>
          <p:nvPr/>
        </p:nvSpPr>
        <p:spPr>
          <a:xfrm>
            <a:off x="4929188" y="3243263"/>
            <a:ext cx="3357563" cy="692944"/>
          </a:xfrm>
          <a:prstGeom prst="rect">
            <a:avLst/>
          </a:prstGeom>
          <a:solidFill>
            <a:srgbClr val="000000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4929188" y="3243263"/>
            <a:ext cx="3357563" cy="6929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97316"/>
                </a:solidFill>
              </a:rPr>
              <a:t>GET /v1.0/devices/{device_id}/status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97316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97316"/>
                </a:solidFill>
              </a:rPr>
              <a:t> Host: openapi.tuyacn.com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97316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97316"/>
                </a:solidFill>
              </a:rPr>
              <a:t> sign: 89CFF0...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97316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97316"/>
                </a:solidFill>
              </a:rPr>
              <a:t> t: 162504...</a:t>
            </a:r>
            <a:endParaRPr lang="en-US" sz="621" dirty="0"/>
          </a:p>
        </p:txBody>
      </p:sp>
      <p:sp>
        <p:nvSpPr>
          <p:cNvPr id="30" name="Text 20"/>
          <p:cNvSpPr/>
          <p:nvPr/>
        </p:nvSpPr>
        <p:spPr>
          <a:xfrm>
            <a:off x="4929188" y="4029075"/>
            <a:ext cx="3357563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* A Tuya Open API lehetővé teszi a teljes ökoszisztéma programozott vezérlését.</a:t>
            </a:r>
            <a:endParaRPr lang="en-US" sz="67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142929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Biztonság és Tanúsítványok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07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3127177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21431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8719" y="1444823"/>
            <a:ext cx="149455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Technikai Védelem</a:t>
            </a:r>
            <a:endParaRPr lang="en-US" sz="126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57388"/>
            <a:ext cx="125016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9422" y="1935956"/>
            <a:ext cx="31182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Adattitkosítás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1089422" y="2146697"/>
            <a:ext cx="3118247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AES-128/256 titkosítás az eszközökön és TLS/SSL protokoll az adatátvitel során.</a:t>
            </a:r>
            <a:endParaRPr lang="en-US" sz="727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591005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07281" y="2569573"/>
            <a:ext cx="31003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Dinamikus Kulcskezelés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1107281" y="2780314"/>
            <a:ext cx="31003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Minden munkamenethez egyedi, dinamikusan generált kulcsok a feltörés megnehezítésére.</a:t>
            </a:r>
            <a:endParaRPr lang="en-US" sz="727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224622"/>
            <a:ext cx="160734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25141" y="3203191"/>
            <a:ext cx="30825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Eszköz Hitelesítés</a:t>
            </a:r>
            <a:endParaRPr lang="en-US" sz="885" dirty="0"/>
          </a:p>
        </p:txBody>
      </p:sp>
      <p:sp>
        <p:nvSpPr>
          <p:cNvPr id="18" name="Text 11"/>
          <p:cNvSpPr/>
          <p:nvPr/>
        </p:nvSpPr>
        <p:spPr>
          <a:xfrm>
            <a:off x="1125141" y="3413931"/>
            <a:ext cx="308252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Egyedi eszköz-ID és titkos tokenek az illetéktelen hozzáférés ellen.</a:t>
            </a:r>
            <a:endParaRPr lang="en-US" sz="727" dirty="0"/>
          </a:p>
        </p:txBody>
      </p:sp>
      <p:sp>
        <p:nvSpPr>
          <p:cNvPr id="19" name="Shape 12"/>
          <p:cNvSpPr/>
          <p:nvPr/>
        </p:nvSpPr>
        <p:spPr>
          <a:xfrm>
            <a:off x="4707731" y="1230511"/>
            <a:ext cx="3793331" cy="3127177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476077"/>
            <a:ext cx="128588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64931" y="1444823"/>
            <a:ext cx="108649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97316"/>
                </a:solidFill>
              </a:rPr>
              <a:t>Megfelelőség</a:t>
            </a:r>
            <a:endParaRPr lang="en-US" sz="1269" dirty="0"/>
          </a:p>
        </p:txBody>
      </p:sp>
      <p:sp>
        <p:nvSpPr>
          <p:cNvPr id="22" name="Text 14"/>
          <p:cNvSpPr/>
          <p:nvPr/>
        </p:nvSpPr>
        <p:spPr>
          <a:xfrm>
            <a:off x="4929188" y="1935956"/>
            <a:ext cx="33575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A Tuya megfelel a legszigorúbb nemzetközi adatvédelmi és biztonsági szabványoknak:</a:t>
            </a:r>
            <a:endParaRPr lang="en-US" sz="727" dirty="0"/>
          </a:p>
        </p:txBody>
      </p:sp>
      <p:sp>
        <p:nvSpPr>
          <p:cNvPr id="23" name="Shape 15"/>
          <p:cNvSpPr/>
          <p:nvPr/>
        </p:nvSpPr>
        <p:spPr>
          <a:xfrm>
            <a:off x="4929188" y="2350294"/>
            <a:ext cx="1625203" cy="573286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5036344" y="2612827"/>
            <a:ext cx="14108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GDPR (EU)</a:t>
            </a:r>
            <a:endParaRPr lang="en-US" sz="584" dirty="0"/>
          </a:p>
        </p:txBody>
      </p:sp>
      <p:sp>
        <p:nvSpPr>
          <p:cNvPr id="25" name="Shape 17"/>
          <p:cNvSpPr/>
          <p:nvPr/>
        </p:nvSpPr>
        <p:spPr>
          <a:xfrm>
            <a:off x="6661547" y="2350294"/>
            <a:ext cx="1625203" cy="573286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423" y="2457450"/>
            <a:ext cx="171450" cy="1714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768703" y="2686050"/>
            <a:ext cx="14108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ISO 27001</a:t>
            </a:r>
            <a:endParaRPr lang="en-US" sz="584" dirty="0"/>
          </a:p>
        </p:txBody>
      </p:sp>
      <p:sp>
        <p:nvSpPr>
          <p:cNvPr id="28" name="Shape 19"/>
          <p:cNvSpPr/>
          <p:nvPr/>
        </p:nvSpPr>
        <p:spPr>
          <a:xfrm>
            <a:off x="4929188" y="3016448"/>
            <a:ext cx="1625203" cy="573286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6064" y="3123605"/>
            <a:ext cx="171450" cy="17145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36344" y="3352205"/>
            <a:ext cx="14108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SOC 2 Type II</a:t>
            </a:r>
            <a:endParaRPr lang="en-US" sz="584" dirty="0"/>
          </a:p>
        </p:txBody>
      </p:sp>
      <p:sp>
        <p:nvSpPr>
          <p:cNvPr id="31" name="Shape 21"/>
          <p:cNvSpPr/>
          <p:nvPr/>
        </p:nvSpPr>
        <p:spPr>
          <a:xfrm>
            <a:off x="6661547" y="3016448"/>
            <a:ext cx="1625203" cy="573286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7708" y="3123605"/>
            <a:ext cx="192881" cy="17145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768703" y="3352205"/>
            <a:ext cx="14108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CCPA (USA)</a:t>
            </a:r>
            <a:endParaRPr lang="en-US" sz="584" dirty="0"/>
          </a:p>
        </p:txBody>
      </p:sp>
      <p:sp>
        <p:nvSpPr>
          <p:cNvPr id="34" name="Text 23"/>
          <p:cNvSpPr/>
          <p:nvPr/>
        </p:nvSpPr>
        <p:spPr>
          <a:xfrm>
            <a:off x="4929188" y="3868341"/>
            <a:ext cx="335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8B5CF6"/>
                </a:solidFill>
              </a:rPr>
              <a:t>* A Tuya rendszeresen végeztet külső biztonsági auditokat neves kiberbiztonsági cégekkel.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264095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Külső Integrációk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08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3857625" y="2302073"/>
            <a:ext cx="1428750" cy="1428750"/>
          </a:xfrm>
          <a:prstGeom prst="ellipse">
            <a:avLst/>
          </a:prstGeom>
          <a:solidFill>
            <a:srgbClr val="F97316">
              <a:alpha val="10000"/>
            </a:srgbClr>
          </a:solidFill>
          <a:ln w="18288">
            <a:solidFill>
              <a:srgbClr val="F9731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109" y="2669084"/>
            <a:ext cx="535781" cy="4286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20297" y="3169146"/>
            <a:ext cx="9034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TUYA CLOUD</a:t>
            </a:r>
            <a:endParaRPr lang="en-US" sz="987" dirty="0"/>
          </a:p>
        </p:txBody>
      </p:sp>
      <p:sp>
        <p:nvSpPr>
          <p:cNvPr id="10" name="Shape 6"/>
          <p:cNvSpPr/>
          <p:nvPr/>
        </p:nvSpPr>
        <p:spPr>
          <a:xfrm>
            <a:off x="1000125" y="1373386"/>
            <a:ext cx="2000250" cy="770799"/>
          </a:xfrm>
          <a:prstGeom prst="rect">
            <a:avLst/>
          </a:prstGeom>
          <a:solidFill>
            <a:srgbClr val="8B5CF6">
              <a:alpha val="10000"/>
            </a:srgbClr>
          </a:solidFill>
          <a:ln w="9144">
            <a:solidFill>
              <a:srgbClr val="8B5CF6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33" y="1640021"/>
            <a:ext cx="17145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7873" y="1516261"/>
            <a:ext cx="13896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Hangvezérlés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1467873" y="1727002"/>
            <a:ext cx="1389627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Google Home és Amazon Alexa natív támogatás.</a:t>
            </a:r>
            <a:endParaRPr lang="en-US" sz="727" dirty="0"/>
          </a:p>
        </p:txBody>
      </p:sp>
      <p:sp>
        <p:nvSpPr>
          <p:cNvPr id="14" name="Shape 9"/>
          <p:cNvSpPr/>
          <p:nvPr/>
        </p:nvSpPr>
        <p:spPr>
          <a:xfrm>
            <a:off x="6143625" y="1373386"/>
            <a:ext cx="2000250" cy="900810"/>
          </a:xfrm>
          <a:prstGeom prst="rect">
            <a:avLst/>
          </a:prstGeom>
          <a:solidFill>
            <a:srgbClr val="8B5CF6">
              <a:alpha val="10000"/>
            </a:srgbClr>
          </a:solidFill>
          <a:ln w="9144">
            <a:solidFill>
              <a:srgbClr val="8B5CF6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705012"/>
            <a:ext cx="257175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50831" y="1516261"/>
            <a:ext cx="13501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Okosotthon Hubok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6650831" y="1727002"/>
            <a:ext cx="1350169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Samsung SmartThings és Apple HomeKit (Matter-en keresztül).</a:t>
            </a:r>
            <a:endParaRPr lang="en-US" sz="727" dirty="0"/>
          </a:p>
        </p:txBody>
      </p:sp>
      <p:sp>
        <p:nvSpPr>
          <p:cNvPr id="18" name="Shape 12"/>
          <p:cNvSpPr/>
          <p:nvPr/>
        </p:nvSpPr>
        <p:spPr>
          <a:xfrm>
            <a:off x="1000125" y="3758701"/>
            <a:ext cx="2000250" cy="900810"/>
          </a:xfrm>
          <a:prstGeom prst="rect">
            <a:avLst/>
          </a:prstGeom>
          <a:solidFill>
            <a:srgbClr val="8B5CF6">
              <a:alpha val="10000"/>
            </a:srgbClr>
          </a:solidFill>
          <a:ln w="9144">
            <a:solidFill>
              <a:srgbClr val="8B5CF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104615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78756" y="3915863"/>
            <a:ext cx="13787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Professzionális</a:t>
            </a:r>
            <a:endParaRPr lang="en-US" sz="885" dirty="0"/>
          </a:p>
        </p:txBody>
      </p:sp>
      <p:sp>
        <p:nvSpPr>
          <p:cNvPr id="21" name="Text 14"/>
          <p:cNvSpPr/>
          <p:nvPr/>
        </p:nvSpPr>
        <p:spPr>
          <a:xfrm>
            <a:off x="1478756" y="4126604"/>
            <a:ext cx="1378744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IFTTT automatizációk és Tuya IoT Development Platform API.</a:t>
            </a:r>
            <a:endParaRPr lang="en-US" sz="727" dirty="0"/>
          </a:p>
        </p:txBody>
      </p:sp>
      <p:sp>
        <p:nvSpPr>
          <p:cNvPr id="22" name="Shape 15"/>
          <p:cNvSpPr/>
          <p:nvPr/>
        </p:nvSpPr>
        <p:spPr>
          <a:xfrm>
            <a:off x="6143625" y="3888711"/>
            <a:ext cx="2000250" cy="770799"/>
          </a:xfrm>
          <a:prstGeom prst="rect">
            <a:avLst/>
          </a:prstGeom>
          <a:solidFill>
            <a:srgbClr val="F97316">
              <a:alpha val="5000"/>
            </a:srgbClr>
          </a:solidFill>
          <a:ln w="9144">
            <a:solidFill>
              <a:srgbClr val="F97316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4169634"/>
            <a:ext cx="28575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679406" y="4045874"/>
            <a:ext cx="13215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Helyi Vezérlés</a:t>
            </a:r>
            <a:endParaRPr lang="en-US" sz="885" dirty="0"/>
          </a:p>
        </p:txBody>
      </p:sp>
      <p:sp>
        <p:nvSpPr>
          <p:cNvPr id="25" name="Text 17"/>
          <p:cNvSpPr/>
          <p:nvPr/>
        </p:nvSpPr>
        <p:spPr>
          <a:xfrm>
            <a:off x="6679406" y="4256615"/>
            <a:ext cx="1321594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Home Assistant integráció (Tuya Local / Local Tuya).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30104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Összefoglalás és Piaci Szerep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97316"/>
                </a:solidFill>
              </a:rPr>
              <a:t>09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821906" cy="1818754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2938" y="1230511"/>
            <a:ext cx="3821906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6"/>
          <p:cNvSpPr/>
          <p:nvPr/>
        </p:nvSpPr>
        <p:spPr>
          <a:xfrm>
            <a:off x="4457700" y="1230511"/>
            <a:ext cx="7144" cy="1818754"/>
          </a:xfrm>
          <a:prstGeom prst="rect">
            <a:avLst/>
          </a:prstGeom>
          <a:solidFill>
            <a:srgbClr val="E8DEFD"/>
          </a:solidFill>
          <a:ln/>
        </p:spPr>
      </p:sp>
      <p:sp>
        <p:nvSpPr>
          <p:cNvPr id="10" name="Shape 7"/>
          <p:cNvSpPr/>
          <p:nvPr/>
        </p:nvSpPr>
        <p:spPr>
          <a:xfrm>
            <a:off x="642938" y="3042121"/>
            <a:ext cx="3821906" cy="7144"/>
          </a:xfrm>
          <a:prstGeom prst="rect">
            <a:avLst/>
          </a:prstGeom>
          <a:solidFill>
            <a:srgbClr val="E8DEFD"/>
          </a:solidFill>
          <a:ln/>
        </p:spPr>
      </p:sp>
      <p:sp>
        <p:nvSpPr>
          <p:cNvPr id="11" name="Shape 8"/>
          <p:cNvSpPr/>
          <p:nvPr/>
        </p:nvSpPr>
        <p:spPr>
          <a:xfrm>
            <a:off x="642938" y="1230511"/>
            <a:ext cx="7144" cy="1818754"/>
          </a:xfrm>
          <a:prstGeom prst="rect">
            <a:avLst/>
          </a:prstGeom>
          <a:solidFill>
            <a:srgbClr val="E8DE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" y="1437680"/>
            <a:ext cx="157163" cy="1571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85850" y="1409105"/>
            <a:ext cx="579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10B981"/>
                </a:solidFill>
              </a:rPr>
              <a:t>Előnyök</a:t>
            </a:r>
            <a:endParaRPr lang="en-US" sz="1159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31" y="1794867"/>
            <a:ext cx="100013" cy="10001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7269" y="1766292"/>
            <a:ext cx="258068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Hatalmas eszközválaszték és gyártói támogatás.</a:t>
            </a:r>
            <a:endParaRPr lang="en-US" sz="834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" y="2062032"/>
            <a:ext cx="100013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7269" y="2033457"/>
            <a:ext cx="144465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Kiemelkedő ár-érték arány.</a:t>
            </a:r>
            <a:endParaRPr lang="en-US" sz="834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31" y="2329197"/>
            <a:ext cx="100013" cy="1000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7269" y="2300622"/>
            <a:ext cx="214186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Egyszerű, felhasználóbarát beüzemelés.</a:t>
            </a:r>
            <a:endParaRPr lang="en-US" sz="834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31" y="2596362"/>
            <a:ext cx="100013" cy="10001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07269" y="2567787"/>
            <a:ext cx="18525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Stabil, globális felhőinfrastruktúra.</a:t>
            </a:r>
            <a:endParaRPr lang="en-US" sz="834" dirty="0"/>
          </a:p>
        </p:txBody>
      </p:sp>
      <p:sp>
        <p:nvSpPr>
          <p:cNvPr id="22" name="Shape 14"/>
          <p:cNvSpPr/>
          <p:nvPr/>
        </p:nvSpPr>
        <p:spPr>
          <a:xfrm>
            <a:off x="4672013" y="1230511"/>
            <a:ext cx="3829050" cy="1818754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23" name="Shape 15"/>
          <p:cNvSpPr/>
          <p:nvPr/>
        </p:nvSpPr>
        <p:spPr>
          <a:xfrm>
            <a:off x="4672013" y="1230511"/>
            <a:ext cx="3829050" cy="285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16"/>
          <p:cNvSpPr/>
          <p:nvPr/>
        </p:nvSpPr>
        <p:spPr>
          <a:xfrm>
            <a:off x="8493919" y="1230511"/>
            <a:ext cx="7144" cy="1818754"/>
          </a:xfrm>
          <a:prstGeom prst="rect">
            <a:avLst/>
          </a:prstGeom>
          <a:solidFill>
            <a:srgbClr val="E8DEFD"/>
          </a:solidFill>
          <a:ln/>
        </p:spPr>
      </p:sp>
      <p:sp>
        <p:nvSpPr>
          <p:cNvPr id="25" name="Shape 17"/>
          <p:cNvSpPr/>
          <p:nvPr/>
        </p:nvSpPr>
        <p:spPr>
          <a:xfrm>
            <a:off x="4672013" y="3042121"/>
            <a:ext cx="3829050" cy="7144"/>
          </a:xfrm>
          <a:prstGeom prst="rect">
            <a:avLst/>
          </a:prstGeom>
          <a:solidFill>
            <a:srgbClr val="E8DEFD"/>
          </a:solidFill>
          <a:ln/>
        </p:spPr>
      </p:sp>
      <p:sp>
        <p:nvSpPr>
          <p:cNvPr id="26" name="Shape 18"/>
          <p:cNvSpPr/>
          <p:nvPr/>
        </p:nvSpPr>
        <p:spPr>
          <a:xfrm>
            <a:off x="4672013" y="1230511"/>
            <a:ext cx="7144" cy="1818754"/>
          </a:xfrm>
          <a:prstGeom prst="rect">
            <a:avLst/>
          </a:prstGeom>
          <a:solidFill>
            <a:srgbClr val="E8DEFD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1437680"/>
            <a:ext cx="157163" cy="15716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22069" y="1409105"/>
            <a:ext cx="76759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EF4444"/>
                </a:solidFill>
              </a:rPr>
              <a:t>Hátrányok</a:t>
            </a:r>
            <a:endParaRPr lang="en-US" sz="1159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1794867"/>
            <a:ext cx="62508" cy="100013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05983" y="1766292"/>
            <a:ext cx="27430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Erős függőség az internetkapcsolattól és a felhőtől.</a:t>
            </a:r>
            <a:endParaRPr lang="en-US" sz="834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2062032"/>
            <a:ext cx="62508" cy="100013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005983" y="2033457"/>
            <a:ext cx="267999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Adatvédelmi aggályok (adatok külső szervereken).</a:t>
            </a:r>
            <a:endParaRPr lang="en-US" sz="834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2329197"/>
            <a:ext cx="62508" cy="100013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005983" y="2300622"/>
            <a:ext cx="240465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Korlátozott helyi automatizálási lehetőségek.</a:t>
            </a:r>
            <a:endParaRPr lang="en-US" sz="834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0" y="2596362"/>
            <a:ext cx="62508" cy="100013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5005983" y="2567787"/>
            <a:ext cx="274880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Eltérő minőségű hardverek a különböző gyártóktól.</a:t>
            </a:r>
            <a:endParaRPr lang="en-US" sz="834" dirty="0"/>
          </a:p>
        </p:txBody>
      </p:sp>
      <p:sp>
        <p:nvSpPr>
          <p:cNvPr id="37" name="Shape 24"/>
          <p:cNvSpPr/>
          <p:nvPr/>
        </p:nvSpPr>
        <p:spPr>
          <a:xfrm>
            <a:off x="642938" y="3299296"/>
            <a:ext cx="7858125" cy="1216223"/>
          </a:xfrm>
          <a:prstGeom prst="rect">
            <a:avLst/>
          </a:prstGeom>
          <a:solidFill>
            <a:srgbClr val="F97316">
              <a:alpha val="5000"/>
            </a:srgbClr>
          </a:solidFill>
          <a:ln w="18288">
            <a:solidFill>
              <a:srgbClr val="F97316"/>
            </a:solidFill>
            <a:prstDash val="solid"/>
          </a:ln>
        </p:spPr>
      </p:sp>
      <p:sp>
        <p:nvSpPr>
          <p:cNvPr id="38" name="Text 25"/>
          <p:cNvSpPr/>
          <p:nvPr/>
        </p:nvSpPr>
        <p:spPr>
          <a:xfrm>
            <a:off x="821531" y="3477890"/>
            <a:ext cx="75009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Piaci Konklúzió</a:t>
            </a:r>
            <a:endParaRPr lang="en-US" sz="1193" dirty="0"/>
          </a:p>
        </p:txBody>
      </p:sp>
      <p:sp>
        <p:nvSpPr>
          <p:cNvPr id="39" name="Text 26"/>
          <p:cNvSpPr/>
          <p:nvPr/>
        </p:nvSpPr>
        <p:spPr>
          <a:xfrm>
            <a:off x="1357313" y="3783285"/>
            <a:ext cx="6429375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</a:rPr>
              <a:t>A Tuya megkerülhetetlen szereplő a fogyasztói IoT piacon. Rendszerüzemeltetőként ideális választás gyors, költséghatékony megoldásokhoz, de kritikus infrastruktúrák esetén érdemes a helyi vezérlésű (pl. Zigbee + Home Assistant) integrációkat előnyben részesíteni.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2026-01-09T18:12:48Z</dcterms:created>
  <dcterms:modified xsi:type="dcterms:W3CDTF">2026-01-09T18:12:48Z</dcterms:modified>
</cp:coreProperties>
</file>