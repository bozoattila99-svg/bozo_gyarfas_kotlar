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9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665F6C-B4BD-4290-A698-5F3B56296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65E3389-D654-473D-B6BF-3E5A149E1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395C96F-464A-47E3-9FBC-1DA55824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B7A2BD-94C3-4640-A131-958F02C5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DB6D1B6-88C3-4D28-A583-6166FF20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576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36E08E-A500-47E6-AECF-2B6A323D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B4B9E9-6228-4D33-8183-C4B00C19B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FA36E21-3071-4B6C-BD73-3AA54C63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975A05D-BE21-4894-8BA0-150E2C40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92B779-B05E-449D-9102-D39819C1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83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98CE84-B73E-4464-BF75-AD7AD34E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8F5F70B-FBCC-4D18-BEC3-E0896608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0105AA1-7A38-47A6-BED3-68003BAC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AE7E1CB-5DF9-4FBC-ABB9-9829BD92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6119355-68FA-4633-968D-595B75DE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422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004858-67E0-4AB0-8375-94558D27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51814B-E092-4148-83D8-2AF1452DA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1913CE3-7100-4B88-A115-9C3368D21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7A75CBC-2602-4826-9C12-8462D490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A8A4BA8-8850-437A-A1F1-6A20AB9C7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41946CD-9040-4144-B4E9-9FB4273C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89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5FB23B-A1B6-4392-8B92-210935332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42CCAFF-4976-4510-8EBB-ED0090EEE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E1537E3-9A21-43CF-A33C-1CAD7A54A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5CCF6E6-0F6E-46C0-81BB-967828E46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D3BA919-3BB4-431F-AA02-A61BE32B4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E62E2E1-7D05-4B92-AC1E-766F60B5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BEC76B3-F29C-44D7-BC7A-32EF648D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6047383-E83A-4ECE-9962-9D057807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938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4179E7-0AA9-49DD-B44D-F4C8FB2E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805F974-025D-4319-AF0C-E5528196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DB9E490-4123-4181-BBA6-3AD8ED4A3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AACB20F-3C2D-433C-A2BD-0E6CCC95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886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D830CF3-D109-458E-88F2-20E00748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4546044-3DDF-4790-9F5B-8E55779C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76C5888-E6F3-43B5-89E0-956A6420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012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7CDA7A-0348-493F-B93C-2D6F0E173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72309C-F013-4024-B513-5D1AF6E17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308F1C7-CBE6-47D8-81CA-0F5C58AF8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4F215D4-6479-4746-B44B-D870232B9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CDB409B-C7AF-4E87-9E97-4D7B2FBC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9288026-B390-42E3-B268-78B52341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036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8C8C1D-EA04-4582-B582-5676F107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AC1C549-51AF-487C-BE6E-1B3AB2469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2C72467-9010-46E9-A59B-81BC471FF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BB57A66-3FA7-413C-A079-21A420FB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0736E11-2FE1-49D6-947D-76700483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5046061-1BA0-44D2-9521-7D0E22C7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4817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D15DE37-989E-4B8C-861C-16E00BAB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3EB126D-4DA2-4B5E-AF55-D18470222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2456A90-C597-4E00-B578-D55701E3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38883F5-18FA-42C5-9A92-4317DEED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7632B9C-D70A-44D5-8AC1-8850D1BA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2375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43C10E8-B581-4DF0-B698-0F364DCAB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4B842D7-77B9-4DEF-9896-B56B3FDCE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995001-A9C7-40A5-B532-12E0D72E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7EA94ED-3C2C-4307-8565-DB6F99A9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0EBF307-D063-42E3-8D2D-43248D3A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530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>
                <a:lumMod val="40000"/>
                <a:lumOff val="60000"/>
              </a:schemeClr>
            </a:gs>
            <a:gs pos="27000">
              <a:srgbClr val="7030A0"/>
            </a:gs>
            <a:gs pos="80000">
              <a:schemeClr val="accent5">
                <a:lumMod val="40000"/>
                <a:lumOff val="60000"/>
              </a:schemeClr>
            </a:gs>
            <a:gs pos="58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3A469D1-2B40-40A4-8961-C746F010E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660738D-1AC6-49CC-B7DE-FCCDA7768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6DBA3D-6F25-4836-8F1E-7F24D4100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A95E0-FF50-4B48-BCED-09A8B03971B1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3C95372-303E-4451-8D7A-93E139056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962D42E-DB1E-447C-9A15-3754C66E9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1D2B4-F329-4843-87A3-C33BA0177D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38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55285B-0051-4500-AEC2-98F6BE247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The role and advantages of Cisco switches in modern networks.”</a:t>
            </a:r>
            <a:endParaRPr lang="hu-HU" b="1" i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7DD09B2-5957-46B8-B771-B7F09A8BF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527300" y="6398419"/>
            <a:ext cx="9144000" cy="1655762"/>
          </a:xfrm>
        </p:spPr>
        <p:txBody>
          <a:bodyPr/>
          <a:lstStyle/>
          <a:p>
            <a:r>
              <a:rPr lang="hu-HU" dirty="0" err="1"/>
              <a:t>Prepared</a:t>
            </a:r>
            <a:r>
              <a:rPr lang="hu-HU" dirty="0"/>
              <a:t> </a:t>
            </a:r>
            <a:r>
              <a:rPr lang="hu-HU" dirty="0" err="1"/>
              <a:t>by:Gyárfás-Tót</a:t>
            </a:r>
            <a:r>
              <a:rPr lang="hu-HU" dirty="0"/>
              <a:t> Péter</a:t>
            </a:r>
          </a:p>
        </p:txBody>
      </p:sp>
    </p:spTree>
    <p:extLst>
      <p:ext uri="{BB962C8B-B14F-4D97-AF65-F5344CB8AC3E}">
        <p14:creationId xmlns:p14="http://schemas.microsoft.com/office/powerpoint/2010/main" val="38392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F842A6-0AC8-49D1-ACBE-E787DFC4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100" y="403225"/>
            <a:ext cx="8559800" cy="1222375"/>
          </a:xfrm>
        </p:spPr>
        <p:txBody>
          <a:bodyPr/>
          <a:lstStyle/>
          <a:p>
            <a:r>
              <a:rPr lang="en-US" b="1" u="sng" dirty="0"/>
              <a:t>Operating principles of a Cisco switch</a:t>
            </a:r>
            <a:endParaRPr lang="hu-HU" b="1" u="sng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D6EE58-9261-46DB-9A98-FA619E82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2676525"/>
            <a:ext cx="10515600" cy="2657475"/>
          </a:xfrm>
        </p:spPr>
        <p:txBody>
          <a:bodyPr/>
          <a:lstStyle/>
          <a:p>
            <a:r>
              <a:rPr lang="en-US" dirty="0"/>
              <a:t>Cisco switches operate at Layer 2 (Data Link layer) of the OSI model.</a:t>
            </a:r>
            <a:endParaRPr lang="hu-HU" dirty="0"/>
          </a:p>
          <a:p>
            <a:r>
              <a:rPr lang="en-US" dirty="0"/>
              <a:t>They identify devices connected to the network based on MAC addresses.</a:t>
            </a:r>
            <a:endParaRPr lang="hu-HU" dirty="0"/>
          </a:p>
          <a:p>
            <a:r>
              <a:rPr lang="en-US" dirty="0"/>
              <a:t>They dynamically build the MAC address table</a:t>
            </a:r>
            <a:r>
              <a:rPr lang="hu-HU" dirty="0"/>
              <a:t>.</a:t>
            </a:r>
          </a:p>
          <a:p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minimize</a:t>
            </a:r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</a:t>
            </a:r>
            <a:r>
              <a:rPr lang="hu-HU" dirty="0" err="1"/>
              <a:t>traffic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211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856B11-8A96-4916-B358-B91C89719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650" y="327025"/>
            <a:ext cx="5600700" cy="1171575"/>
          </a:xfrm>
        </p:spPr>
        <p:txBody>
          <a:bodyPr/>
          <a:lstStyle/>
          <a:p>
            <a:r>
              <a:rPr lang="hu-HU" b="1" u="sng" dirty="0" err="1"/>
              <a:t>Types</a:t>
            </a:r>
            <a:r>
              <a:rPr lang="hu-HU" b="1" u="sng" dirty="0"/>
              <a:t> of Cisco </a:t>
            </a:r>
            <a:r>
              <a:rPr lang="hu-HU" b="1" u="sng" dirty="0" err="1"/>
              <a:t>switches</a:t>
            </a:r>
            <a:endParaRPr lang="hu-HU" b="1" u="sng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17474EB-F1E8-409E-A271-A490201E2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70275"/>
          </a:xfrm>
        </p:spPr>
        <p:txBody>
          <a:bodyPr/>
          <a:lstStyle/>
          <a:p>
            <a:r>
              <a:rPr lang="en-US" dirty="0"/>
              <a:t>a) Access switches</a:t>
            </a:r>
            <a:br>
              <a:rPr lang="en-US" dirty="0"/>
            </a:br>
            <a:r>
              <a:rPr lang="en-US" dirty="0"/>
              <a:t>Used to connect network endpoints (e.g., computers, IP phones).</a:t>
            </a:r>
            <a:endParaRPr lang="hu-HU" dirty="0"/>
          </a:p>
          <a:p>
            <a:r>
              <a:rPr lang="en-US" dirty="0"/>
              <a:t>b) Distribution switches</a:t>
            </a:r>
            <a:br>
              <a:rPr lang="en-US" dirty="0"/>
            </a:br>
            <a:r>
              <a:rPr lang="en-US" dirty="0"/>
              <a:t>Aggregate the traffic of multiple access switches.</a:t>
            </a:r>
            <a:br>
              <a:rPr lang="en-US" dirty="0"/>
            </a:br>
            <a:r>
              <a:rPr lang="en-US" dirty="0"/>
              <a:t>Forward traffic toward the core switch.</a:t>
            </a:r>
            <a:endParaRPr lang="hu-HU" dirty="0"/>
          </a:p>
          <a:p>
            <a:r>
              <a:rPr lang="en-US" dirty="0"/>
              <a:t>c) Core switches</a:t>
            </a:r>
            <a:br>
              <a:rPr lang="en-US" dirty="0"/>
            </a:br>
            <a:r>
              <a:rPr lang="en-US" dirty="0"/>
              <a:t>Form the backbone of the network with high-speed connections.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62302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C5CBB7-F2E6-401C-8A4C-B917CBBA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0" y="301625"/>
            <a:ext cx="7289800" cy="1325563"/>
          </a:xfrm>
        </p:spPr>
        <p:txBody>
          <a:bodyPr/>
          <a:lstStyle/>
          <a:p>
            <a:r>
              <a:rPr lang="hu-HU" b="1" u="sng" dirty="0"/>
              <a:t>Main </a:t>
            </a:r>
            <a:r>
              <a:rPr lang="hu-HU" b="1" u="sng" dirty="0" err="1"/>
              <a:t>functions</a:t>
            </a:r>
            <a:r>
              <a:rPr lang="hu-HU" b="1" u="sng" dirty="0"/>
              <a:t> and </a:t>
            </a:r>
            <a:r>
              <a:rPr lang="hu-HU" b="1" u="sng" dirty="0" err="1"/>
              <a:t>capabilities</a:t>
            </a:r>
            <a:endParaRPr lang="hu-HU" b="1" u="sng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0C8082-E83F-46EF-9940-714B705FC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u="sng" dirty="0"/>
              <a:t>VLAN </a:t>
            </a:r>
            <a:r>
              <a:rPr lang="hu-HU" b="1" u="sng" dirty="0" err="1"/>
              <a:t>support</a:t>
            </a:r>
            <a:endParaRPr lang="hu-HU" b="1" u="sng" dirty="0"/>
          </a:p>
          <a:p>
            <a:r>
              <a:rPr lang="hu-HU" b="1" u="sng" dirty="0" err="1"/>
              <a:t>QoS</a:t>
            </a:r>
            <a:r>
              <a:rPr lang="hu-HU" b="1" u="sng" dirty="0"/>
              <a:t> (</a:t>
            </a:r>
            <a:r>
              <a:rPr lang="hu-HU" b="1" u="sng" dirty="0" err="1"/>
              <a:t>Quality</a:t>
            </a:r>
            <a:r>
              <a:rPr lang="hu-HU" b="1" u="sng" dirty="0"/>
              <a:t> of Service)</a:t>
            </a:r>
          </a:p>
          <a:p>
            <a:r>
              <a:rPr lang="hu-HU" b="1" u="sng" dirty="0" err="1"/>
              <a:t>PoE</a:t>
            </a:r>
            <a:r>
              <a:rPr lang="hu-HU" b="1" u="sng" dirty="0"/>
              <a:t> (</a:t>
            </a:r>
            <a:r>
              <a:rPr lang="hu-HU" b="1" u="sng" dirty="0" err="1"/>
              <a:t>Power</a:t>
            </a:r>
            <a:r>
              <a:rPr lang="hu-HU" b="1" u="sng" dirty="0"/>
              <a:t> over Ethernet)</a:t>
            </a:r>
          </a:p>
          <a:p>
            <a:r>
              <a:rPr lang="hu-HU" b="1" dirty="0"/>
              <a:t>STP (</a:t>
            </a:r>
            <a:r>
              <a:rPr lang="hu-HU" b="1" dirty="0" err="1"/>
              <a:t>Spanning</a:t>
            </a:r>
            <a:r>
              <a:rPr lang="hu-HU" b="1" dirty="0"/>
              <a:t> </a:t>
            </a:r>
            <a:r>
              <a:rPr lang="hu-HU" b="1" dirty="0" err="1"/>
              <a:t>Tree</a:t>
            </a:r>
            <a:r>
              <a:rPr lang="hu-HU" b="1" dirty="0"/>
              <a:t> </a:t>
            </a:r>
            <a:r>
              <a:rPr lang="hu-HU" b="1" dirty="0" err="1"/>
              <a:t>Protocol</a:t>
            </a:r>
            <a:r>
              <a:rPr lang="hu-HU" b="1" dirty="0"/>
              <a:t>)</a:t>
            </a:r>
          </a:p>
          <a:p>
            <a:r>
              <a:rPr lang="hu-HU" b="1" u="sng" dirty="0"/>
              <a:t>Port </a:t>
            </a:r>
            <a:r>
              <a:rPr lang="hu-HU" b="1" u="sng" dirty="0" err="1"/>
              <a:t>security</a:t>
            </a:r>
            <a:endParaRPr lang="hu-HU" b="1" u="sng" dirty="0"/>
          </a:p>
          <a:p>
            <a:r>
              <a:rPr lang="hu-HU" b="1" u="sng" dirty="0" err="1"/>
              <a:t>Remote</a:t>
            </a:r>
            <a:r>
              <a:rPr lang="hu-HU" b="1" u="sng" dirty="0"/>
              <a:t> management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344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C72E78-DB30-459E-B846-0D4EB210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The role and advantages of Cisco switches in modern networks</a:t>
            </a:r>
            <a:endParaRPr lang="hu-HU" b="1" u="sng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9BB370A-246B-4922-A7C3-EE4D33D29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Reliability and Stability</a:t>
            </a:r>
            <a:br>
              <a:rPr lang="en-US" dirty="0"/>
            </a:br>
            <a:r>
              <a:rPr lang="en-US" dirty="0"/>
              <a:t>Cisco devices are considered an industry standard – they offer long lifespans, continuous software updates, and mature technology.</a:t>
            </a:r>
            <a:endParaRPr lang="hu-HU" dirty="0"/>
          </a:p>
          <a:p>
            <a:r>
              <a:rPr lang="en-US" b="1" dirty="0"/>
              <a:t>2. Security</a:t>
            </a:r>
            <a:br>
              <a:rPr lang="en-US" dirty="0"/>
            </a:br>
            <a:r>
              <a:rPr lang="en-US" dirty="0"/>
              <a:t>Cisco switches include numerous built-in security features that support enterprise-level IT protection.</a:t>
            </a:r>
            <a:endParaRPr lang="hu-HU" dirty="0"/>
          </a:p>
          <a:p>
            <a:r>
              <a:rPr lang="en-US" b="1" dirty="0"/>
              <a:t>3. Scalability</a:t>
            </a:r>
            <a:br>
              <a:rPr lang="en-US" dirty="0"/>
            </a:br>
            <a:r>
              <a:rPr lang="en-US" dirty="0"/>
              <a:t>Cisco devices can scale from small networks to global infrastructures.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9488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055111-024F-471D-AA2A-7400D3C39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800" y="3040856"/>
            <a:ext cx="8280400" cy="776288"/>
          </a:xfrm>
        </p:spPr>
        <p:txBody>
          <a:bodyPr>
            <a:normAutofit/>
          </a:bodyPr>
          <a:lstStyle/>
          <a:p>
            <a:r>
              <a:rPr lang="en-US" sz="4400" u="sng" dirty="0"/>
              <a:t>Thank you for your attention</a:t>
            </a:r>
            <a:r>
              <a:rPr lang="hu-HU" sz="4400" u="sng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3812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Szélesvásznú</PresentationFormat>
  <Paragraphs>23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Office-téma</vt:lpstr>
      <vt:lpstr>The role and advantages of Cisco switches in modern networks.”</vt:lpstr>
      <vt:lpstr>Operating principles of a Cisco switch</vt:lpstr>
      <vt:lpstr>Types of Cisco switches</vt:lpstr>
      <vt:lpstr>Main functions and capabilities</vt:lpstr>
      <vt:lpstr>The role and advantages of Cisco switches in modern networks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and advantages of Cisco switches in modern networks.”</dc:title>
  <dc:creator>Gyárfás-Tót Péter</dc:creator>
  <cp:lastModifiedBy>Gyárfás-Tót Péter</cp:lastModifiedBy>
  <cp:revision>2</cp:revision>
  <dcterms:created xsi:type="dcterms:W3CDTF">2025-11-19T11:06:00Z</dcterms:created>
  <dcterms:modified xsi:type="dcterms:W3CDTF">2025-11-19T11:19:06Z</dcterms:modified>
</cp:coreProperties>
</file>